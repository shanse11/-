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3" r:id="rId7"/>
    <p:sldId id="264" r:id="rId8"/>
    <p:sldId id="266" r:id="rId9"/>
    <p:sldId id="265" r:id="rId10"/>
  </p:sldIdLst>
  <p:sldSz cx="12191365" cy="6858000"/>
  <p:notesSz cx="6858000" cy="12191365"/>
  <p:custDataLst>
    <p:tags r:id="rId15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4600" y="1554480"/>
            <a:ext cx="71323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2E44"/>
                </a:solidFill>
                <a:latin typeface="微软雅黑" panose="020B0503020204020204" charset="-122"/>
              </a:rPr>
              <a:t>【组会汇报】</a:t>
            </a:r>
            <a:endParaRPr sz="2800" b="1">
              <a:solidFill>
                <a:srgbClr val="1A2E4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0" y="2148840"/>
            <a:ext cx="6629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3366"/>
                </a:solidFill>
                <a:latin typeface="微软雅黑" panose="020B0503020204020204" charset="-122"/>
              </a:rPr>
              <a:t>Hybrid TEE-Rollup 论文修改与 MEV 启发</a:t>
            </a:r>
            <a:endParaRPr sz="24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0" y="53949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A2E44"/>
                </a:solidFill>
                <a:latin typeface="微软雅黑" panose="020B0503020204020204" charset="-122"/>
              </a:rPr>
              <a:t>汇报人：杨帆</a:t>
            </a:r>
            <a:endParaRPr sz="1400" b="0">
              <a:solidFill>
                <a:srgbClr val="1A2E44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80" y="56900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A6B7C"/>
                </a:solidFill>
                <a:latin typeface="微软雅黑" panose="020B0503020204020204" charset="-122"/>
              </a:rPr>
              <a:t>实验室组会 | 2026.06.10</a:t>
            </a:r>
            <a:endParaRPr sz="12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2E44"/>
                </a:solidFill>
                <a:latin typeface="微软雅黑" panose="020B0503020204020204" charset="-122"/>
              </a:rPr>
              <a:t>本周工作概览</a:t>
            </a:r>
            <a:endParaRPr sz="1800" b="1">
              <a:solidFill>
                <a:srgbClr val="1A2E44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80" y="658368"/>
            <a:ext cx="11841480" cy="0"/>
          </a:xfrm>
          <a:prstGeom prst="rect">
            <a:avLst/>
          </a:prstGeom>
          <a:noFill/>
          <a:ln w="1270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0000" y="1500000"/>
            <a:ext cx="2100000" cy="2100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0000" y="1580000"/>
            <a:ext cx="240000" cy="24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0000" y="1585000"/>
            <a:ext cx="2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0000" y="1590000"/>
            <a:ext cx="16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E44"/>
                </a:solidFill>
                <a:latin typeface="微软雅黑" panose="020B0503020204020204" charset="-122"/>
              </a:rPr>
              <a:t>结构重组</a:t>
            </a:r>
            <a:endParaRPr sz="1600" b="1">
              <a:solidFill>
                <a:srgbClr val="1A2E44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0000" y="1880000"/>
            <a:ext cx="1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微软雅黑" panose="020B0503020204020204" charset="-122"/>
              </a:rPr>
              <a:t>• 11章→8章</a:t>
            </a:r>
            <a:endParaRPr sz="12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0000" y="2160000"/>
            <a:ext cx="1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微软雅黑" panose="020B0503020204020204" charset="-122"/>
              </a:rPr>
              <a:t>• Motivation→引言</a:t>
            </a:r>
            <a:endParaRPr sz="12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0000" y="2440000"/>
            <a:ext cx="1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微软雅黑" panose="020B0503020204020204" charset="-122"/>
              </a:rPr>
              <a:t>• Related Work→讨论</a:t>
            </a:r>
            <a:endParaRPr sz="12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0000" y="2720000"/>
            <a:ext cx="1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微软雅黑" panose="020B0503020204020204" charset="-122"/>
              </a:rPr>
              <a:t>• Threat Model合并</a:t>
            </a:r>
            <a:endParaRPr sz="12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420000" y="1500000"/>
            <a:ext cx="2100000" cy="2100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00000" y="1580000"/>
            <a:ext cx="240000" cy="24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00000" y="1585000"/>
            <a:ext cx="2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70000" y="1590000"/>
            <a:ext cx="16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E44"/>
                </a:solidFill>
                <a:latin typeface="微软雅黑" panose="020B0503020204020204" charset="-122"/>
              </a:rPr>
              <a:t>实验补强</a:t>
            </a:r>
            <a:endParaRPr sz="1600" b="1">
              <a:solidFill>
                <a:srgbClr val="1A2E44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20000" y="1880000"/>
            <a:ext cx="1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微软雅黑" panose="020B0503020204020204" charset="-122"/>
              </a:rPr>
              <a:t>• no-recover 0%</a:t>
            </a:r>
            <a:endParaRPr sz="12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20000" y="2160000"/>
            <a:ext cx="1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微软雅黑" panose="020B0503020204020204" charset="-122"/>
              </a:rPr>
              <a:t>• →recover 100%</a:t>
            </a:r>
            <a:endParaRPr sz="12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20000" y="2440000"/>
            <a:ext cx="1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微软雅黑" panose="020B0503020204020204" charset="-122"/>
              </a:rPr>
              <a:t>• compact ~406B</a:t>
            </a:r>
            <a:endParaRPr sz="12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20000" y="2720000"/>
            <a:ext cx="1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微软雅黑" panose="020B0503020204020204" charset="-122"/>
              </a:rPr>
              <a:t>• 6类故障热力图</a:t>
            </a:r>
            <a:endParaRPr sz="12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00000" y="3800000"/>
            <a:ext cx="11700000" cy="900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0000" y="3900000"/>
            <a:ext cx="11000000" cy="721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3366"/>
                </a:solidFill>
                <a:latin typeface="微软雅黑" panose="020B0503020204020204" charset="-122"/>
              </a:rPr>
              <a:t>本周输出</a:t>
            </a:r>
            <a:endParaRPr sz="1500" b="1">
              <a:solidFill>
                <a:srgbClr val="003366"/>
              </a:solidFill>
              <a:latin typeface="微软雅黑" panose="020B0503020204020204" charset="-122"/>
            </a:endParaRPr>
          </a:p>
          <a:p>
            <a:r>
              <a:rPr sz="1300" b="0">
                <a:solidFill>
                  <a:srgbClr val="5A6B7C"/>
                </a:solidFill>
                <a:latin typeface="微软雅黑" panose="020B0503020204020204" charset="-122"/>
              </a:rPr>
              <a:t>核心工作覆盖54个正文段落的差异改写，涉及结构重组、实验增强、中文化、格式排版四大维度</a:t>
            </a:r>
            <a:endParaRPr sz="1300" b="0">
              <a:solidFill>
                <a:srgbClr val="5A6B7C"/>
              </a:solidFill>
              <a:latin typeface="微软雅黑" panose="020B0503020204020204" charset="-122"/>
            </a:endParaRPr>
          </a:p>
          <a:p>
            <a:endParaRPr sz="13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1567160" y="6355080"/>
            <a:ext cx="3200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9BAA"/>
                </a:solidFill>
                <a:latin typeface="Arial" panose="020B0604020202020204"/>
              </a:rPr>
              <a:t>2</a:t>
            </a:r>
            <a:endParaRPr sz="1000">
              <a:solidFill>
                <a:srgbClr val="8A9BAA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2E44"/>
                </a:solidFill>
                <a:latin typeface="微软雅黑" panose="020B0503020204020204" charset="-122"/>
              </a:rPr>
              <a:t>结构与叙事重构</a:t>
            </a:r>
            <a:endParaRPr sz="1800" b="1">
              <a:solidFill>
                <a:srgbClr val="1A2E44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80" y="658368"/>
            <a:ext cx="11841480" cy="0"/>
          </a:xfrm>
          <a:prstGeom prst="rect">
            <a:avLst/>
          </a:prstGeom>
          <a:noFill/>
          <a:ln w="1270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0000" y="1500000"/>
            <a:ext cx="5700000" cy="4200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0000" y="1550000"/>
            <a:ext cx="5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 panose="020B0503020204020204" charset="-122"/>
              </a:rPr>
              <a:t>章节合并（11章 → 8章）</a:t>
            </a:r>
            <a:endParaRPr sz="16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0000" y="1950000"/>
            <a:ext cx="53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微软雅黑" panose="020B0503020204020204" charset="-122"/>
              </a:rPr>
              <a:t>• 原 Motivation → 合并入引言</a:t>
            </a:r>
            <a:endParaRPr sz="13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0000" y="2300000"/>
            <a:ext cx="53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微软雅黑" panose="020B0503020204020204" charset="-122"/>
              </a:rPr>
              <a:t>• 原 Background+Threat Model → 合并</a:t>
            </a:r>
            <a:endParaRPr sz="13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0000" y="2650000"/>
            <a:ext cx="53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微软雅黑" panose="020B0503020204020204" charset="-122"/>
              </a:rPr>
              <a:t>• 原 System Design → 系统概览</a:t>
            </a:r>
            <a:endParaRPr sz="13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0000" y="3000000"/>
            <a:ext cx="53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微软雅黑" panose="020B0503020204020204" charset="-122"/>
              </a:rPr>
              <a:t>• 原 Threats+Related Work+Conclusion → 讨论</a:t>
            </a:r>
            <a:endParaRPr sz="13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0000" y="3350000"/>
            <a:ext cx="53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微软雅黑" panose="020B0503020204020204" charset="-122"/>
              </a:rPr>
              <a:t>• 形式化定义移入协议章节</a:t>
            </a:r>
            <a:endParaRPr sz="13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00000" y="4000000"/>
            <a:ext cx="5300000" cy="400000"/>
          </a:xfrm>
          <a:prstGeom prst="rect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4050000"/>
            <a:ext cx="51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微软雅黑" panose="020B0503020204020204" charset="-122"/>
              </a:rPr>
              <a:t>11章 → 8章，体系更紧凑，叙事更聚焦</a:t>
            </a:r>
            <a:endParaRPr sz="14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567160" y="6355080"/>
            <a:ext cx="3200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9BAA"/>
                </a:solidFill>
                <a:latin typeface="Arial" panose="020B0604020202020204"/>
              </a:rPr>
              <a:t>3</a:t>
            </a:r>
            <a:endParaRPr sz="1000">
              <a:solidFill>
                <a:srgbClr val="8A9BAA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2E44"/>
                </a:solidFill>
                <a:latin typeface="微软雅黑" panose="020B0503020204020204" charset="-122"/>
              </a:rPr>
              <a:t>实验评估补强</a:t>
            </a:r>
            <a:endParaRPr sz="1800" b="1">
              <a:solidFill>
                <a:srgbClr val="1A2E44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80" y="658368"/>
            <a:ext cx="11841480" cy="0"/>
          </a:xfrm>
          <a:prstGeom prst="rect">
            <a:avLst/>
          </a:prstGeom>
          <a:noFill/>
          <a:ln w="1270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E44"/>
                </a:solidFill>
                <a:latin typeface="微软雅黑" panose="020B0503020204020204" charset="-122"/>
              </a:rPr>
              <a:t>核心目标：新增对比实验，强化实验证据链</a:t>
            </a:r>
            <a:endParaRPr sz="2000" b="1">
              <a:solidFill>
                <a:srgbClr val="1A2E44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0000" y="1500000"/>
            <a:ext cx="5700000" cy="2300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0000" y="1550000"/>
            <a:ext cx="5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366"/>
                </a:solidFill>
                <a:latin typeface="微软雅黑" panose="020B0503020204020204" charset="-122"/>
              </a:rPr>
              <a:t>Recover vs No-Recover 对比</a:t>
            </a:r>
            <a:endParaRPr sz="15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0000" y="1950000"/>
            <a:ext cx="2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0000"/>
                </a:solidFill>
                <a:latin typeface="微软雅黑" panose="020B0503020204020204" charset="-122"/>
              </a:rPr>
              <a:t>No-Recover：
检测率100% · 挑战成功率 0%</a:t>
            </a:r>
            <a:endParaRPr sz="1300" b="0">
              <a:solidFill>
                <a:srgbClr val="CC000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205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3366"/>
                </a:solidFill>
                <a:latin typeface="微软雅黑" panose="020B0503020204020204" charset="-122"/>
              </a:rPr>
              <a:t>→</a:t>
            </a:r>
            <a:endParaRPr sz="20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000" y="195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3366"/>
                </a:solidFill>
                <a:latin typeface="微软雅黑" panose="020B0503020204020204" charset="-122"/>
              </a:rPr>
              <a:t>Recoverable：
检测率100% · 挑战成功率 100%</a:t>
            </a:r>
            <a:endParaRPr sz="1300" b="0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0000" y="2600000"/>
            <a:ext cx="5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微软雅黑" panose="020B0503020204020204" charset="-122"/>
              </a:rPr>
              <a:t>恢复改变挑战活性，不改争议事实。检测 ≠ 仲裁完成。</a:t>
            </a:r>
            <a:endParaRPr sz="12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00000" y="1500000"/>
            <a:ext cx="5700000" cy="2300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0" y="1550000"/>
            <a:ext cx="5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366"/>
                </a:solidFill>
                <a:latin typeface="微软雅黑" panose="020B0503020204020204" charset="-122"/>
              </a:rPr>
              <a:t>Compact Commit vs Full Payload</a:t>
            </a:r>
            <a:endParaRPr sz="15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50000" y="1950000"/>
            <a:ext cx="2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0000"/>
                </a:solidFill>
                <a:latin typeface="微软雅黑" panose="020B0503020204020204" charset="-122"/>
              </a:rPr>
              <a:t>Full Payload
~50,068 bytes</a:t>
            </a:r>
            <a:endParaRPr sz="1300" b="0">
              <a:solidFill>
                <a:srgbClr val="CC0000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00000" y="205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3366"/>
                </a:solidFill>
                <a:latin typeface="微软雅黑" panose="020B0503020204020204" charset="-122"/>
              </a:rPr>
              <a:t>→</a:t>
            </a:r>
            <a:endParaRPr sz="20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200000" y="195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3366"/>
                </a:solidFill>
                <a:latin typeface="微软雅黑" panose="020B0503020204020204" charset="-122"/>
              </a:rPr>
              <a:t>Compact Commit
~406 bytes（固定）</a:t>
            </a:r>
            <a:endParaRPr sz="1300" b="0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00000" y="4000000"/>
            <a:ext cx="5700000" cy="2200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000" y="4050000"/>
            <a:ext cx="5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366"/>
                </a:solidFill>
                <a:latin typeface="微软雅黑" panose="020B0503020204020204" charset="-122"/>
              </a:rPr>
              <a:t>6类故障分类</a:t>
            </a:r>
            <a:endParaRPr sz="15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0000" y="4400000"/>
            <a:ext cx="2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366"/>
                </a:solidFill>
                <a:latin typeface="微软雅黑" panose="020B0503020204020204" charset="-122"/>
              </a:rPr>
              <a:t>故障类型</a:t>
            </a:r>
            <a:endParaRPr sz="12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00000" y="4400000"/>
            <a:ext cx="2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366"/>
                </a:solidFill>
                <a:latin typeface="微软雅黑" panose="020B0503020204020204" charset="-122"/>
              </a:rPr>
              <a:t>检测  恢复  重放  罚没</a:t>
            </a:r>
            <a:endParaRPr sz="12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0000" y="4640000"/>
            <a:ext cx="2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微软雅黑" panose="020B0503020204020204" charset="-122"/>
              </a:rPr>
              <a:t>response tampering</a:t>
            </a:r>
            <a:endParaRPr sz="12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00000" y="4640000"/>
            <a:ext cx="2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微软雅黑" panose="020B0503020204020204" charset="-122"/>
              </a:rPr>
              <a:t>✓  —  ✓  ✓</a:t>
            </a:r>
            <a:endParaRPr sz="12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0000" y="4880000"/>
            <a:ext cx="2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微软雅黑" panose="020B0503020204020204" charset="-122"/>
              </a:rPr>
              <a:t>timeout(no rec)</a:t>
            </a:r>
            <a:endParaRPr sz="12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0000" y="4880000"/>
            <a:ext cx="2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微软雅黑" panose="020B0503020204020204" charset="-122"/>
              </a:rPr>
              <a:t>✓  —  ✗  ✗</a:t>
            </a:r>
            <a:endParaRPr sz="12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0000" y="5120000"/>
            <a:ext cx="2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微软雅黑" panose="020B0503020204020204" charset="-122"/>
              </a:rPr>
              <a:t>timeout(recover)</a:t>
            </a:r>
            <a:endParaRPr sz="12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00000" y="5120000"/>
            <a:ext cx="2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微软雅黑" panose="020B0503020204020204" charset="-122"/>
              </a:rPr>
              <a:t>✓  ✓  ✓  ✓</a:t>
            </a:r>
            <a:endParaRPr sz="12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0000" y="5360000"/>
            <a:ext cx="2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微软雅黑" panose="020B0503020204020204" charset="-122"/>
              </a:rPr>
              <a:t>DA unavailable</a:t>
            </a:r>
            <a:endParaRPr sz="12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00000" y="5360000"/>
            <a:ext cx="2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微软雅黑" panose="020B0503020204020204" charset="-122"/>
              </a:rPr>
              <a:t>✓  —  ✗  ✗</a:t>
            </a:r>
            <a:endParaRPr sz="12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0000" y="5600000"/>
            <a:ext cx="2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微软雅黑" panose="020B0503020204020204" charset="-122"/>
              </a:rPr>
              <a:t>trace mismatch</a:t>
            </a:r>
            <a:endParaRPr sz="12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00000" y="5600000"/>
            <a:ext cx="2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微软雅黑" panose="020B0503020204020204" charset="-122"/>
              </a:rPr>
              <a:t>✓  —  ✓  ✓</a:t>
            </a:r>
            <a:endParaRPr sz="12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200000" y="4000000"/>
            <a:ext cx="5700000" cy="2200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0000" y="4050000"/>
            <a:ext cx="5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366"/>
                </a:solidFill>
                <a:latin typeface="微软雅黑" panose="020B0503020204020204" charset="-122"/>
              </a:rPr>
              <a:t>4种DA路线权衡</a:t>
            </a:r>
            <a:endParaRPr sz="15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00000" y="4400000"/>
            <a:ext cx="5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微软雅黑" panose="020B0503020204020204" charset="-122"/>
              </a:rPr>
              <a:t>• full_onchain_calldata</a:t>
            </a:r>
            <a:endParaRPr sz="13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00000" y="4680000"/>
            <a:ext cx="5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微软雅黑" panose="020B0503020204020204" charset="-122"/>
              </a:rPr>
              <a:t>• compact_external_da</a:t>
            </a:r>
            <a:endParaRPr sz="13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500000" y="4960000"/>
            <a:ext cx="5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微软雅黑" panose="020B0503020204020204" charset="-122"/>
              </a:rPr>
              <a:t>• compact_eip4844_like</a:t>
            </a:r>
            <a:endParaRPr sz="13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00000" y="5240000"/>
            <a:ext cx="5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微软雅黑" panose="020B0503020204020204" charset="-122"/>
              </a:rPr>
              <a:t>• compact_modular_da_sampling</a:t>
            </a:r>
            <a:endParaRPr sz="1300" b="0">
              <a:solidFill>
                <a:srgbClr val="5A6B7C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350000" y="5700000"/>
            <a:ext cx="5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366"/>
                </a:solidFill>
                <a:latin typeface="微软雅黑" panose="020B0503020204020204" charset="-122"/>
              </a:rPr>
              <a:t>payload=8192, batch=1000 → modular DA 降本约 96.33%</a:t>
            </a:r>
            <a:endParaRPr sz="13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567160" y="6355080"/>
            <a:ext cx="3200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9BAA"/>
                </a:solidFill>
                <a:latin typeface="Arial" panose="020B0604020202020204"/>
              </a:rPr>
              <a:t>4</a:t>
            </a:r>
            <a:endParaRPr sz="1000">
              <a:solidFill>
                <a:srgbClr val="8A9BAA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2E44"/>
                </a:solidFill>
                <a:latin typeface="微软雅黑" panose="020B0503020204020204" charset="-122"/>
              </a:rPr>
              <a:t>MEV 阅读启发</a:t>
            </a:r>
            <a:endParaRPr sz="1800" b="1">
              <a:solidFill>
                <a:srgbClr val="1A2E44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80" y="658368"/>
            <a:ext cx="11841480" cy="0"/>
          </a:xfrm>
          <a:prstGeom prst="rect">
            <a:avLst/>
          </a:prstGeom>
          <a:noFill/>
          <a:ln w="1270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984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E44"/>
                </a:solidFill>
                <a:latin typeface="微软雅黑" panose="020B0503020204020204" charset="-122"/>
              </a:rPr>
              <a:t>《Rolling in the Shadows》对研究的启发</a:t>
            </a:r>
            <a:endParaRPr sz="2000" b="1">
              <a:solidFill>
                <a:srgbClr val="1A2E44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0000" y="2000000"/>
            <a:ext cx="5700000" cy="950000"/>
          </a:xfrm>
          <a:prstGeom prst="rect">
            <a:avLst/>
          </a:prstGeom>
          <a:solidFill>
            <a:srgbClr val="F7F9FC"/>
          </a:solidFill>
          <a:ln w="635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000" y="2080000"/>
            <a:ext cx="5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44"/>
                </a:solidFill>
                <a:latin typeface="微软雅黑" panose="020B0503020204020204" charset="-122"/>
              </a:rPr>
              <a:t>L2中MEV没有消失，暴露位置发生变化</a:t>
            </a:r>
            <a:endParaRPr sz="1300" b="1">
              <a:solidFill>
                <a:srgbClr val="1A2E44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00000" y="2000000"/>
            <a:ext cx="5700000" cy="950000"/>
          </a:xfrm>
          <a:prstGeom prst="rect">
            <a:avLst/>
          </a:prstGeom>
          <a:solidFill>
            <a:srgbClr val="FEF5F5"/>
          </a:solidFill>
          <a:ln w="635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0" y="2080000"/>
            <a:ext cx="5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0000"/>
                </a:solidFill>
                <a:latin typeface="微软雅黑" panose="020B0503020204020204" charset="-122"/>
              </a:rPr>
              <a:t>Hybrid TEE-Rollup不能只优化正常路径，还要关注异常路径的信息泄露</a:t>
            </a:r>
            <a:endParaRPr sz="1300" b="0">
              <a:solidFill>
                <a:srgbClr val="CC0000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0000" y="3050000"/>
            <a:ext cx="5700000" cy="950000"/>
          </a:xfrm>
          <a:prstGeom prst="rect">
            <a:avLst/>
          </a:prstGeom>
          <a:solidFill>
            <a:srgbClr val="F0F2F5"/>
          </a:solidFill>
          <a:ln w="635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000" y="3130000"/>
            <a:ext cx="5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44"/>
                </a:solidFill>
                <a:latin typeface="微软雅黑" panose="020B0503020204020204" charset="-122"/>
              </a:rPr>
              <a:t>Sequencer中心化=排序权本身是安全假设</a:t>
            </a:r>
            <a:endParaRPr sz="1300" b="1">
              <a:solidFill>
                <a:srgbClr val="1A2E44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00000" y="3050000"/>
            <a:ext cx="5700000" cy="950000"/>
          </a:xfrm>
          <a:prstGeom prst="rect">
            <a:avLst/>
          </a:prstGeom>
          <a:solidFill>
            <a:srgbClr val="FCEEEE"/>
          </a:solidFill>
          <a:ln w="635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0" y="3130000"/>
            <a:ext cx="5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0000"/>
                </a:solidFill>
                <a:latin typeface="微软雅黑" panose="020B0503020204020204" charset="-122"/>
              </a:rPr>
              <a:t>系统设计需补足“排序/挑战/仲裁”之间的可验证衔接</a:t>
            </a:r>
            <a:endParaRPr sz="1300" b="0">
              <a:solidFill>
                <a:srgbClr val="CC0000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00000" y="4100000"/>
            <a:ext cx="5700000" cy="950000"/>
          </a:xfrm>
          <a:prstGeom prst="rect">
            <a:avLst/>
          </a:prstGeom>
          <a:solidFill>
            <a:srgbClr val="F7F9FC"/>
          </a:solidFill>
          <a:ln w="635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000" y="4180000"/>
            <a:ext cx="5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44"/>
                </a:solidFill>
                <a:latin typeface="微软雅黑" panose="020B0503020204020204" charset="-122"/>
              </a:rPr>
              <a:t>无公开mempool，仍可能跨层排序利用</a:t>
            </a:r>
            <a:endParaRPr sz="1300" b="1">
              <a:solidFill>
                <a:srgbClr val="1A2E44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00000" y="4100000"/>
            <a:ext cx="5700000" cy="950000"/>
          </a:xfrm>
          <a:prstGeom prst="rect">
            <a:avLst/>
          </a:prstGeom>
          <a:solidFill>
            <a:srgbClr val="FEF5F5"/>
          </a:solidFill>
          <a:ln w="635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0" y="4180000"/>
            <a:ext cx="5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0000"/>
                </a:solidFill>
                <a:latin typeface="微软雅黑" panose="020B0503020204020204" charset="-122"/>
              </a:rPr>
              <a:t>挑战协议需考虑跨层消息时序和异常延迟对公平性的影响</a:t>
            </a:r>
            <a:endParaRPr sz="1300" b="0">
              <a:solidFill>
                <a:srgbClr val="CC0000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00000" y="5150000"/>
            <a:ext cx="5700000" cy="950000"/>
          </a:xfrm>
          <a:prstGeom prst="rect">
            <a:avLst/>
          </a:prstGeom>
          <a:solidFill>
            <a:srgbClr val="F0F2F5"/>
          </a:solidFill>
          <a:ln w="635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000" y="5230000"/>
            <a:ext cx="5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44"/>
                </a:solidFill>
                <a:latin typeface="微软雅黑" panose="020B0503020204020204" charset="-122"/>
              </a:rPr>
              <a:t>Rollup研究已从扩容走向执行与排序协同安全</a:t>
            </a:r>
            <a:endParaRPr sz="1300" b="1">
              <a:solidFill>
                <a:srgbClr val="1A2E44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00000" y="5150000"/>
            <a:ext cx="5700000" cy="950000"/>
          </a:xfrm>
          <a:prstGeom prst="rect">
            <a:avLst/>
          </a:prstGeom>
          <a:solidFill>
            <a:srgbClr val="FCEEEE"/>
          </a:solidFill>
          <a:ln w="635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000" y="5230000"/>
            <a:ext cx="5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0000"/>
                </a:solidFill>
                <a:latin typeface="微软雅黑" panose="020B0503020204020204" charset="-122"/>
              </a:rPr>
              <a:t>Hybrid TEE-Rollup可定位为高频场景下补强异常仲裁活性</a:t>
            </a:r>
            <a:endParaRPr sz="1300" b="0">
              <a:solidFill>
                <a:srgbClr val="CC0000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567160" y="6355080"/>
            <a:ext cx="3200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9BAA"/>
                </a:solidFill>
                <a:latin typeface="Arial" panose="020B0604020202020204"/>
              </a:rPr>
              <a:t>8</a:t>
            </a:r>
            <a:endParaRPr sz="1000">
              <a:solidFill>
                <a:srgbClr val="8A9BAA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3245" y="368173"/>
            <a:ext cx="42062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800" b="1">
                <a:solidFill>
                  <a:srgbClr val="1A2E44"/>
                </a:solidFill>
                <a:latin typeface="微软雅黑" panose="020B0503020204020204" charset="-122"/>
              </a:rPr>
              <a:t>本周学习</a:t>
            </a:r>
            <a:r>
              <a:rPr lang="zh-CN" sz="1800" b="1">
                <a:solidFill>
                  <a:srgbClr val="1A2E44"/>
                </a:solidFill>
                <a:latin typeface="微软雅黑" panose="020B0503020204020204" charset="-122"/>
              </a:rPr>
              <a:t>体会</a:t>
            </a:r>
            <a:endParaRPr lang="zh-CN" sz="1800" b="1">
              <a:solidFill>
                <a:srgbClr val="1A2E44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80" y="658368"/>
            <a:ext cx="11841480" cy="0"/>
          </a:xfrm>
          <a:prstGeom prst="rect">
            <a:avLst/>
          </a:prstGeom>
          <a:noFill/>
          <a:ln w="1270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6299"/>
            <a:ext cx="1069848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000" b="1">
                <a:solidFill>
                  <a:srgbClr val="1A2E44"/>
                </a:solidFill>
                <a:latin typeface="微软雅黑" panose="020B0503020204020204" charset="-122"/>
              </a:rPr>
              <a:t>1 </a:t>
            </a:r>
            <a:r>
              <a:rPr lang="zh-CN" sz="2000" b="1">
                <a:solidFill>
                  <a:srgbClr val="1A2E44"/>
                </a:solidFill>
                <a:latin typeface="微软雅黑" panose="020B0503020204020204" charset="-122"/>
              </a:rPr>
              <a:t>对比实验比单组实验更有说服力</a:t>
            </a:r>
            <a:endParaRPr lang="zh-CN" sz="2000" b="1">
              <a:solidFill>
                <a:srgbClr val="1A2E44"/>
              </a:solidFill>
              <a:latin typeface="微软雅黑" panose="020B0503020204020204" charset="-122"/>
            </a:endParaRPr>
          </a:p>
          <a:p>
            <a:pPr algn="l"/>
            <a:endParaRPr lang="en-US" altLang="zh-CN" sz="2000" b="1">
              <a:solidFill>
                <a:srgbClr val="1A2E44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2000" b="1">
                <a:solidFill>
                  <a:srgbClr val="1A2E44"/>
                </a:solidFill>
                <a:latin typeface="微软雅黑" panose="020B0503020204020204" charset="-122"/>
              </a:rPr>
              <a:t>2 挑战协议不仅要考虑活性恢复，还需关注跨层时序带来的信息暴露风险</a:t>
            </a:r>
            <a:endParaRPr lang="en-US" altLang="zh-CN" sz="2000" b="1">
              <a:solidFill>
                <a:srgbClr val="1A2E44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567160" y="6355080"/>
            <a:ext cx="3200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9BAA"/>
                </a:solidFill>
                <a:latin typeface="Arial" panose="020B0604020202020204"/>
              </a:rPr>
              <a:t>9</a:t>
            </a:r>
            <a:endParaRPr sz="1000">
              <a:solidFill>
                <a:srgbClr val="8A9BAA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3245" y="368173"/>
            <a:ext cx="42062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2E44"/>
                </a:solidFill>
                <a:latin typeface="微软雅黑" panose="020B0503020204020204" charset="-122"/>
              </a:rPr>
              <a:t>下周计划</a:t>
            </a:r>
            <a:endParaRPr sz="1800" b="1">
              <a:solidFill>
                <a:srgbClr val="1A2E44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80" y="658368"/>
            <a:ext cx="11841480" cy="0"/>
          </a:xfrm>
          <a:prstGeom prst="rect">
            <a:avLst/>
          </a:prstGeom>
          <a:noFill/>
          <a:ln w="1270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6299"/>
            <a:ext cx="1069848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000" b="1">
                <a:solidFill>
                  <a:srgbClr val="1A2E44"/>
                </a:solidFill>
                <a:latin typeface="微软雅黑" panose="020B0503020204020204" charset="-122"/>
              </a:rPr>
              <a:t>1 </a:t>
            </a:r>
            <a:r>
              <a:rPr lang="zh-CN" sz="2000" b="1">
                <a:solidFill>
                  <a:srgbClr val="1A2E44"/>
                </a:solidFill>
                <a:latin typeface="微软雅黑" panose="020B0503020204020204" charset="-122"/>
              </a:rPr>
              <a:t>继续修改</a:t>
            </a:r>
            <a:r>
              <a:rPr lang="zh-CN" sz="2000" b="1">
                <a:solidFill>
                  <a:srgbClr val="1A2E44"/>
                </a:solidFill>
                <a:latin typeface="微软雅黑" panose="020B0503020204020204" charset="-122"/>
              </a:rPr>
              <a:t>论文</a:t>
            </a:r>
            <a:endParaRPr lang="zh-CN" sz="2000" b="1">
              <a:solidFill>
                <a:srgbClr val="1A2E44"/>
              </a:solidFill>
              <a:latin typeface="微软雅黑" panose="020B0503020204020204" charset="-122"/>
            </a:endParaRPr>
          </a:p>
          <a:p>
            <a:pPr algn="l"/>
            <a:endParaRPr lang="zh-CN" sz="2000" b="1">
              <a:solidFill>
                <a:srgbClr val="1A2E44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2000" b="1">
                <a:solidFill>
                  <a:srgbClr val="1A2E44"/>
                </a:solidFill>
                <a:latin typeface="微软雅黑" panose="020B0503020204020204" charset="-122"/>
              </a:rPr>
              <a:t>2 探索跨层 MEV 与可验证仲裁的联系</a:t>
            </a:r>
            <a:endParaRPr lang="en-US" altLang="zh-CN" sz="2000" b="1">
              <a:solidFill>
                <a:srgbClr val="1A2E44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567160" y="6355080"/>
            <a:ext cx="3200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9BAA"/>
                </a:solidFill>
                <a:latin typeface="Arial" panose="020B0604020202020204"/>
              </a:rPr>
              <a:t>9</a:t>
            </a:r>
            <a:endParaRPr sz="1000">
              <a:solidFill>
                <a:srgbClr val="8A9BAA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0" y="2000000"/>
            <a:ext cx="8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3366"/>
                </a:solidFill>
                <a:latin typeface="微软雅黑" panose="020B0503020204020204" charset="-122"/>
              </a:rPr>
              <a:t>谢谢，敬请批评指正！</a:t>
            </a:r>
            <a:endParaRPr sz="32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86200" y="2800000"/>
            <a:ext cx="4389120" cy="0"/>
          </a:xfrm>
          <a:prstGeom prst="rect">
            <a:avLst/>
          </a:prstGeom>
          <a:noFill/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00000" y="3000000"/>
            <a:ext cx="8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2E44"/>
                </a:solidFill>
                <a:latin typeface="微软雅黑" panose="020B0503020204020204" charset="-122"/>
              </a:rPr>
              <a:t>Q &amp; A</a:t>
            </a:r>
            <a:endParaRPr sz="2400" b="1">
              <a:solidFill>
                <a:srgbClr val="1A2E44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67160" y="6355080"/>
            <a:ext cx="3200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9BAA"/>
                </a:solidFill>
                <a:latin typeface="Arial" panose="020B0604020202020204"/>
              </a:rPr>
              <a:t>10</a:t>
            </a:r>
            <a:endParaRPr sz="1000">
              <a:solidFill>
                <a:srgbClr val="8A9BAA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DBiNGRhMTNkYjFhZGQwOGU5YjQ2ZDZmYjhiNTAxNzc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1289</Words>
  <Application>WPS 演示</Application>
  <PresentationFormat>On-screen Show (16:9)</PresentationFormat>
  <Paragraphs>164</Paragraphs>
  <Slides>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Arial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Data Science and Engineering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26春0603第十四周进度汇报-杨帆</dc:title>
  <dc:creator>杨帆</dc:creator>
  <dc:subject>Hybrid TEE-Rollup 可恢复挑战协议</dc:subject>
  <cp:lastModifiedBy>7fs4ffuy</cp:lastModifiedBy>
  <cp:revision>10</cp:revision>
  <dcterms:created xsi:type="dcterms:W3CDTF">2026-06-02T14:29:00Z</dcterms:created>
  <dcterms:modified xsi:type="dcterms:W3CDTF">2026-06-09T16:45:16Z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A2B676667B604F8099AE6A212150FB17</vt:lpwstr>
  </property>
  <property fmtid="{D5CDD505-2E9C-101B-9397-08002B2CF9AE}" pid="3" name="KSOProductBuildVer">
    <vt:lpwstr>2052-11.1.0.13703</vt:lpwstr>
  </property>
</Properties>
</file>