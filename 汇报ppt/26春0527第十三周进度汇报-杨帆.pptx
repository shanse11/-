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78" r:id="rId3"/>
  </p:sldMasterIdLst>
  <p:notesMasterIdLst>
    <p:notesMasterId r:id="rId5"/>
  </p:notesMasterIdLst>
  <p:handoutMasterIdLst>
    <p:handoutMasterId r:id="rId13"/>
  </p:handoutMasterIdLst>
  <p:sldIdLst>
    <p:sldId id="4114" r:id="rId4"/>
    <p:sldId id="6327" r:id="rId6"/>
    <p:sldId id="6396" r:id="rId7"/>
    <p:sldId id="6412" r:id="rId8"/>
    <p:sldId id="6417" r:id="rId9"/>
    <p:sldId id="6413" r:id="rId10"/>
    <p:sldId id="6410" r:id="rId11"/>
    <p:sldId id="6419" r:id="rId12"/>
  </p:sldIdLst>
  <p:sldSz cx="12192000" cy="6858000"/>
  <p:notesSz cx="6797675" cy="9928225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072" userDrawn="1">
          <p15:clr>
            <a:srgbClr val="A4A3A4"/>
          </p15:clr>
        </p15:guide>
        <p15:guide id="3" orient="horz" pos="22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ngxy" initials="w" lastIdx="4" clrIdx="0"/>
  <p:cmAuthor id="1" name="Juli May" initials="JM" lastIdx="10" clrIdx="0"/>
  <p:cmAuthor id="2" name="Georgi Meyer" initials="GM" lastIdx="10" clrIdx="1"/>
  <p:cmAuthor id="3" name="Alan Deeth" initials="AD" lastIdx="74" clrIdx="2"/>
  <p:cmAuthor id="4" name="David Jeppesen" initials="DJ" lastIdx="83" clrIdx="3"/>
  <p:cmAuthor id="5" name="John Karwoski" initials="JK" lastIdx="50" clrIdx="4"/>
  <p:cmAuthor id="6" name="zhao" initials="" lastIdx="10" clrIdx="5"/>
  <p:cmAuthor id="7" name="Joe Staples" initials="JS" lastIdx="3" clrIdx="6"/>
  <p:cmAuthor id="8" name="Simon Johnson" initials="SJ" lastIdx="6" clrIdx="7"/>
  <p:cmAuthor id="10" name="jinch" initials="j" lastIdx="1" clrIdx="9"/>
  <p:cmAuthor id="11" name="Microsoft Office User" initials="MOU" lastIdx="1" clrIdx="10"/>
  <p:cmAuthor id="12" name="tanghaibo" initials="t" lastIdx="1" clrIdx="1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F4BBBB"/>
    <a:srgbClr val="818181"/>
    <a:srgbClr val="A36B44"/>
    <a:srgbClr val="5882AA"/>
    <a:srgbClr val="71905D"/>
    <a:srgbClr val="7FB541"/>
    <a:srgbClr val="8FAADC"/>
    <a:srgbClr val="DC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2128" autoAdjust="0"/>
  </p:normalViewPr>
  <p:slideViewPr>
    <p:cSldViewPr showGuides="1">
      <p:cViewPr varScale="1">
        <p:scale>
          <a:sx n="54" d="100"/>
          <a:sy n="54" d="100"/>
        </p:scale>
        <p:origin x="956" y="48"/>
      </p:cViewPr>
      <p:guideLst>
        <p:guide pos="4072"/>
        <p:guide orient="horz" pos="2274"/>
      </p:guideLst>
    </p:cSldViewPr>
  </p:slideViewPr>
  <p:outlineViewPr>
    <p:cViewPr>
      <p:scale>
        <a:sx n="33" d="100"/>
        <a:sy n="33" d="100"/>
      </p:scale>
      <p:origin x="0" y="-15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5" d="100"/>
        <a:sy n="45" d="100"/>
      </p:scale>
      <p:origin x="0" y="0"/>
    </p:cViewPr>
  </p:sorterViewPr>
  <p:gridSpacing cx="90001" cy="90001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265B4-CD0D-4543-8E9E-6FB20443F5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1394" y="1241425"/>
            <a:ext cx="5954889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7B04E-F35F-411E-907F-A64B4026CB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从数据管理的角度看技术的演化，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以数据库为例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这里讲技术一开始只是在“可信”环境即失败停的假设下开展，逐渐发展到“不可信”即拜占庭环境的假设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从数据管理的角度看技术的演化，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以数据库为例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这里讲技术一开始只是在“可信”环境即失败停的假设下开展，逐渐发展到“不可信”即拜占庭环境的假设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从数据管理的角度看技术的演化，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以数据库为例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这里讲技术一开始只是在“可信”环境即失败停的假设下开展，逐渐发展到“不可信”即拜占庭环境的假设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从数据管理的角度看技术的演化，</a:t>
            </a:r>
            <a:r>
              <a:rPr lang="zh-CN" altLang="en-US" dirty="0"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以数据库为例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这里讲技术一开始只是在“可信”环境即失败停的假设下开展，逐渐发展到“不可信”即拜占庭环境的假设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94D467-3326-49CD-82F2-206809211F7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94D467-3326-49CD-82F2-206809211F7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" y="-12947"/>
            <a:ext cx="5446133" cy="6870947"/>
          </a:xfrm>
          <a:custGeom>
            <a:avLst/>
            <a:gdLst>
              <a:gd name="connsiteX0" fmla="*/ 0 w 5446133"/>
              <a:gd name="connsiteY0" fmla="*/ 0 h 6870947"/>
              <a:gd name="connsiteX1" fmla="*/ 5446133 w 5446133"/>
              <a:gd name="connsiteY1" fmla="*/ 0 h 6870947"/>
              <a:gd name="connsiteX2" fmla="*/ 5446133 w 5446133"/>
              <a:gd name="connsiteY2" fmla="*/ 6870947 h 6870947"/>
              <a:gd name="connsiteX3" fmla="*/ 0 w 5446133"/>
              <a:gd name="connsiteY3" fmla="*/ 6870947 h 687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6133" h="6870947">
                <a:moveTo>
                  <a:pt x="0" y="0"/>
                </a:moveTo>
                <a:lnTo>
                  <a:pt x="5446133" y="0"/>
                </a:lnTo>
                <a:lnTo>
                  <a:pt x="5446133" y="6870947"/>
                </a:lnTo>
                <a:lnTo>
                  <a:pt x="0" y="687094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17074"/>
          </a:xfrm>
          <a:custGeom>
            <a:avLst/>
            <a:gdLst>
              <a:gd name="connsiteX0" fmla="*/ 0 w 12192000"/>
              <a:gd name="connsiteY0" fmla="*/ 0 h 2717074"/>
              <a:gd name="connsiteX1" fmla="*/ 12192000 w 12192000"/>
              <a:gd name="connsiteY1" fmla="*/ 0 h 2717074"/>
              <a:gd name="connsiteX2" fmla="*/ 12192000 w 12192000"/>
              <a:gd name="connsiteY2" fmla="*/ 2717074 h 2717074"/>
              <a:gd name="connsiteX3" fmla="*/ 0 w 12192000"/>
              <a:gd name="connsiteY3" fmla="*/ 2717074 h 2717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717074">
                <a:moveTo>
                  <a:pt x="0" y="0"/>
                </a:moveTo>
                <a:lnTo>
                  <a:pt x="12192000" y="0"/>
                </a:lnTo>
                <a:lnTo>
                  <a:pt x="12192000" y="2717074"/>
                </a:lnTo>
                <a:lnTo>
                  <a:pt x="0" y="27170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697951" y="0"/>
            <a:ext cx="3494049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94892" cy="6858000"/>
          </a:xfrm>
          <a:custGeom>
            <a:avLst/>
            <a:gdLst>
              <a:gd name="connsiteX0" fmla="*/ 0 w 3194892"/>
              <a:gd name="connsiteY0" fmla="*/ 0 h 6858000"/>
              <a:gd name="connsiteX1" fmla="*/ 3194892 w 3194892"/>
              <a:gd name="connsiteY1" fmla="*/ 0 h 6858000"/>
              <a:gd name="connsiteX2" fmla="*/ 3194892 w 3194892"/>
              <a:gd name="connsiteY2" fmla="*/ 6858000 h 6858000"/>
              <a:gd name="connsiteX3" fmla="*/ 0 w 31948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4892" h="6858000">
                <a:moveTo>
                  <a:pt x="0" y="0"/>
                </a:moveTo>
                <a:lnTo>
                  <a:pt x="3194892" y="0"/>
                </a:lnTo>
                <a:lnTo>
                  <a:pt x="31948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740435" y="0"/>
            <a:ext cx="5451567" cy="6858000"/>
          </a:xfrm>
          <a:custGeom>
            <a:avLst/>
            <a:gdLst>
              <a:gd name="connsiteX0" fmla="*/ 0 w 5451566"/>
              <a:gd name="connsiteY0" fmla="*/ 0 h 6858000"/>
              <a:gd name="connsiteX1" fmla="*/ 5451566 w 5451566"/>
              <a:gd name="connsiteY1" fmla="*/ 0 h 6858000"/>
              <a:gd name="connsiteX2" fmla="*/ 5451566 w 5451566"/>
              <a:gd name="connsiteY2" fmla="*/ 6858000 h 6858000"/>
              <a:gd name="connsiteX3" fmla="*/ 0 w 54515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1566" h="6858000">
                <a:moveTo>
                  <a:pt x="0" y="0"/>
                </a:moveTo>
                <a:lnTo>
                  <a:pt x="5451566" y="0"/>
                </a:lnTo>
                <a:lnTo>
                  <a:pt x="545156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2"/>
            <a:ext cx="12192000" cy="6047117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0" cy="2486722"/>
          </a:xfrm>
          <a:custGeom>
            <a:avLst/>
            <a:gdLst>
              <a:gd name="connsiteX0" fmla="*/ 0 w 12192000"/>
              <a:gd name="connsiteY0" fmla="*/ 0 h 2486722"/>
              <a:gd name="connsiteX1" fmla="*/ 12192000 w 12192000"/>
              <a:gd name="connsiteY1" fmla="*/ 0 h 2486722"/>
              <a:gd name="connsiteX2" fmla="*/ 12192000 w 12192000"/>
              <a:gd name="connsiteY2" fmla="*/ 2486722 h 2486722"/>
              <a:gd name="connsiteX3" fmla="*/ 0 w 12192000"/>
              <a:gd name="connsiteY3" fmla="*/ 2486722 h 248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486722">
                <a:moveTo>
                  <a:pt x="0" y="0"/>
                </a:moveTo>
                <a:lnTo>
                  <a:pt x="12192000" y="0"/>
                </a:lnTo>
                <a:lnTo>
                  <a:pt x="12192000" y="2486722"/>
                </a:lnTo>
                <a:lnTo>
                  <a:pt x="0" y="248672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3176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图片占位符 9"/>
          <p:cNvSpPr>
            <a:spLocks noGrp="1"/>
          </p:cNvSpPr>
          <p:nvPr>
            <p:ph type="pic" sz="quarter" idx="11"/>
          </p:nvPr>
        </p:nvSpPr>
        <p:spPr>
          <a:xfrm>
            <a:off x="4831275" y="1344821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5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344925" y="1333500"/>
            <a:ext cx="2528888" cy="1503363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016227" y="2773142"/>
            <a:ext cx="4972049" cy="2952750"/>
          </a:xfrm>
          <a:custGeom>
            <a:avLst/>
            <a:gdLst>
              <a:gd name="connsiteX0" fmla="*/ 0 w 4972049"/>
              <a:gd name="connsiteY0" fmla="*/ 0 h 2952750"/>
              <a:gd name="connsiteX1" fmla="*/ 4972049 w 4972049"/>
              <a:gd name="connsiteY1" fmla="*/ 0 h 2952750"/>
              <a:gd name="connsiteX2" fmla="*/ 4972049 w 4972049"/>
              <a:gd name="connsiteY2" fmla="*/ 2952750 h 2952750"/>
              <a:gd name="connsiteX3" fmla="*/ 0 w 4972049"/>
              <a:gd name="connsiteY3" fmla="*/ 2952750 h 295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2049" h="2952750">
                <a:moveTo>
                  <a:pt x="0" y="0"/>
                </a:moveTo>
                <a:lnTo>
                  <a:pt x="4972049" y="0"/>
                </a:lnTo>
                <a:lnTo>
                  <a:pt x="4972049" y="2952750"/>
                </a:lnTo>
                <a:lnTo>
                  <a:pt x="0" y="29527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5829300" y="1159833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4962525" y="2955295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2"/>
          </p:nvPr>
        </p:nvSpPr>
        <p:spPr>
          <a:xfrm>
            <a:off x="5829300" y="4750758"/>
            <a:ext cx="1524000" cy="15240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0"/>
          </p:nvPr>
        </p:nvSpPr>
        <p:spPr>
          <a:xfrm>
            <a:off x="800100" y="1562099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6391273" y="1562098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2"/>
          </p:nvPr>
        </p:nvSpPr>
        <p:spPr>
          <a:xfrm>
            <a:off x="800099" y="3990806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391272" y="3990805"/>
            <a:ext cx="1552576" cy="1552576"/>
          </a:xfrm>
          <a:custGeom>
            <a:avLst/>
            <a:gdLst>
              <a:gd name="connsiteX0" fmla="*/ 776288 w 1552576"/>
              <a:gd name="connsiteY0" fmla="*/ 0 h 1552576"/>
              <a:gd name="connsiteX1" fmla="*/ 1552576 w 1552576"/>
              <a:gd name="connsiteY1" fmla="*/ 776288 h 1552576"/>
              <a:gd name="connsiteX2" fmla="*/ 776288 w 1552576"/>
              <a:gd name="connsiteY2" fmla="*/ 1552576 h 1552576"/>
              <a:gd name="connsiteX3" fmla="*/ 0 w 1552576"/>
              <a:gd name="connsiteY3" fmla="*/ 776288 h 1552576"/>
              <a:gd name="connsiteX4" fmla="*/ 776288 w 1552576"/>
              <a:gd name="connsiteY4" fmla="*/ 0 h 15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576" h="1552576">
                <a:moveTo>
                  <a:pt x="776288" y="0"/>
                </a:moveTo>
                <a:cubicBezTo>
                  <a:pt x="1205020" y="0"/>
                  <a:pt x="1552576" y="347556"/>
                  <a:pt x="1552576" y="776288"/>
                </a:cubicBezTo>
                <a:cubicBezTo>
                  <a:pt x="1552576" y="1205020"/>
                  <a:pt x="1205020" y="1552576"/>
                  <a:pt x="776288" y="1552576"/>
                </a:cubicBezTo>
                <a:cubicBezTo>
                  <a:pt x="347556" y="1552576"/>
                  <a:pt x="0" y="1205020"/>
                  <a:pt x="0" y="776288"/>
                </a:cubicBezTo>
                <a:cubicBezTo>
                  <a:pt x="0" y="347556"/>
                  <a:pt x="347556" y="0"/>
                  <a:pt x="77628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93345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9" name="图片占位符 18"/>
          <p:cNvSpPr>
            <a:spLocks noGrp="1"/>
          </p:cNvSpPr>
          <p:nvPr>
            <p:ph type="pic" sz="quarter" idx="11"/>
          </p:nvPr>
        </p:nvSpPr>
        <p:spPr>
          <a:xfrm>
            <a:off x="303133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0" name="图片占位符 19"/>
          <p:cNvSpPr>
            <a:spLocks noGrp="1"/>
          </p:cNvSpPr>
          <p:nvPr>
            <p:ph type="pic" sz="quarter" idx="12"/>
          </p:nvPr>
        </p:nvSpPr>
        <p:spPr>
          <a:xfrm>
            <a:off x="5129211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7227093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2" name="图片占位符 21"/>
          <p:cNvSpPr>
            <a:spLocks noGrp="1"/>
          </p:cNvSpPr>
          <p:nvPr>
            <p:ph type="pic" sz="quarter" idx="14"/>
          </p:nvPr>
        </p:nvSpPr>
        <p:spPr>
          <a:xfrm>
            <a:off x="9324975" y="1933575"/>
            <a:ext cx="1933575" cy="1162050"/>
          </a:xfrm>
          <a:custGeom>
            <a:avLst/>
            <a:gdLst>
              <a:gd name="connsiteX0" fmla="*/ 0 w 1933575"/>
              <a:gd name="connsiteY0" fmla="*/ 0 h 1162050"/>
              <a:gd name="connsiteX1" fmla="*/ 1933575 w 1933575"/>
              <a:gd name="connsiteY1" fmla="*/ 0 h 1162050"/>
              <a:gd name="connsiteX2" fmla="*/ 1933575 w 1933575"/>
              <a:gd name="connsiteY2" fmla="*/ 1162050 h 1162050"/>
              <a:gd name="connsiteX3" fmla="*/ 0 w 1933575"/>
              <a:gd name="connsiteY3" fmla="*/ 1162050 h 116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3575" h="1162050">
                <a:moveTo>
                  <a:pt x="0" y="0"/>
                </a:moveTo>
                <a:lnTo>
                  <a:pt x="1933575" y="0"/>
                </a:lnTo>
                <a:lnTo>
                  <a:pt x="1933575" y="1162050"/>
                </a:lnTo>
                <a:lnTo>
                  <a:pt x="0" y="116205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8353425" y="1152525"/>
            <a:ext cx="2638425" cy="2419350"/>
          </a:xfrm>
          <a:custGeom>
            <a:avLst/>
            <a:gdLst>
              <a:gd name="connsiteX0" fmla="*/ 2638425 w 2638425"/>
              <a:gd name="connsiteY0" fmla="*/ 0 h 2419350"/>
              <a:gd name="connsiteX1" fmla="*/ 2486025 w 2638425"/>
              <a:gd name="connsiteY1" fmla="*/ 2228850 h 2419350"/>
              <a:gd name="connsiteX2" fmla="*/ 0 w 2638425"/>
              <a:gd name="connsiteY2" fmla="*/ 2419350 h 2419350"/>
              <a:gd name="connsiteX3" fmla="*/ 171450 w 2638425"/>
              <a:gd name="connsiteY3" fmla="*/ 695325 h 241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8425" h="2419350">
                <a:moveTo>
                  <a:pt x="2638425" y="0"/>
                </a:moveTo>
                <a:lnTo>
                  <a:pt x="2486025" y="2228850"/>
                </a:lnTo>
                <a:lnTo>
                  <a:pt x="0" y="2419350"/>
                </a:lnTo>
                <a:lnTo>
                  <a:pt x="171450" y="69532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590551" y="1437117"/>
            <a:ext cx="5505451" cy="3392058"/>
          </a:xfrm>
          <a:custGeom>
            <a:avLst/>
            <a:gdLst>
              <a:gd name="connsiteX0" fmla="*/ 0 w 5505450"/>
              <a:gd name="connsiteY0" fmla="*/ 0 h 3392058"/>
              <a:gd name="connsiteX1" fmla="*/ 5505450 w 5505450"/>
              <a:gd name="connsiteY1" fmla="*/ 0 h 3392058"/>
              <a:gd name="connsiteX2" fmla="*/ 5505450 w 5505450"/>
              <a:gd name="connsiteY2" fmla="*/ 3392058 h 3392058"/>
              <a:gd name="connsiteX3" fmla="*/ 0 w 5505450"/>
              <a:gd name="connsiteY3" fmla="*/ 3392058 h 3392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5450" h="3392058">
                <a:moveTo>
                  <a:pt x="0" y="0"/>
                </a:moveTo>
                <a:lnTo>
                  <a:pt x="5505450" y="0"/>
                </a:lnTo>
                <a:lnTo>
                  <a:pt x="5505450" y="3392058"/>
                </a:lnTo>
                <a:lnTo>
                  <a:pt x="0" y="33920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810883"/>
            <a:ext cx="12192000" cy="5745192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KSO_Shape"/>
          <p:cNvSpPr/>
          <p:nvPr userDrawn="1"/>
        </p:nvSpPr>
        <p:spPr bwMode="auto">
          <a:xfrm>
            <a:off x="11453567" y="91345"/>
            <a:ext cx="395925" cy="460377"/>
          </a:xfrm>
          <a:custGeom>
            <a:avLst/>
            <a:gdLst>
              <a:gd name="T0" fmla="*/ 2147483646 w 5822"/>
              <a:gd name="T1" fmla="*/ 2147483646 h 6759"/>
              <a:gd name="T2" fmla="*/ 2147483646 w 5822"/>
              <a:gd name="T3" fmla="*/ 2147483646 h 6759"/>
              <a:gd name="T4" fmla="*/ 2147483646 w 5822"/>
              <a:gd name="T5" fmla="*/ 2147483646 h 6759"/>
              <a:gd name="T6" fmla="*/ 2147483646 w 5822"/>
              <a:gd name="T7" fmla="*/ 2147483646 h 6759"/>
              <a:gd name="T8" fmla="*/ 2147483646 w 5822"/>
              <a:gd name="T9" fmla="*/ 2147483646 h 6759"/>
              <a:gd name="T10" fmla="*/ 2147483646 w 5822"/>
              <a:gd name="T11" fmla="*/ 1253760573 h 6759"/>
              <a:gd name="T12" fmla="*/ 2147483646 w 5822"/>
              <a:gd name="T13" fmla="*/ 2147483646 h 6759"/>
              <a:gd name="T14" fmla="*/ 2147483646 w 5822"/>
              <a:gd name="T15" fmla="*/ 2147483646 h 6759"/>
              <a:gd name="T16" fmla="*/ 2147483646 w 5822"/>
              <a:gd name="T17" fmla="*/ 2147483646 h 6759"/>
              <a:gd name="T18" fmla="*/ 2147483646 w 5822"/>
              <a:gd name="T19" fmla="*/ 2147483646 h 6759"/>
              <a:gd name="T20" fmla="*/ 2147483646 w 5822"/>
              <a:gd name="T21" fmla="*/ 2147483646 h 6759"/>
              <a:gd name="T22" fmla="*/ 2147483646 w 5822"/>
              <a:gd name="T23" fmla="*/ 2147483646 h 6759"/>
              <a:gd name="T24" fmla="*/ 2147483646 w 5822"/>
              <a:gd name="T25" fmla="*/ 2147483646 h 6759"/>
              <a:gd name="T26" fmla="*/ 2147483646 w 5822"/>
              <a:gd name="T27" fmla="*/ 2147483646 h 6759"/>
              <a:gd name="T28" fmla="*/ 2147483646 w 5822"/>
              <a:gd name="T29" fmla="*/ 2147483646 h 6759"/>
              <a:gd name="T30" fmla="*/ 2147483646 w 5822"/>
              <a:gd name="T31" fmla="*/ 2147483646 h 6759"/>
              <a:gd name="T32" fmla="*/ 2147483646 w 5822"/>
              <a:gd name="T33" fmla="*/ 2147483646 h 6759"/>
              <a:gd name="T34" fmla="*/ 2147483646 w 5822"/>
              <a:gd name="T35" fmla="*/ 2147483646 h 6759"/>
              <a:gd name="T36" fmla="*/ 2147483646 w 5822"/>
              <a:gd name="T37" fmla="*/ 2147483646 h 6759"/>
              <a:gd name="T38" fmla="*/ 2147483646 w 5822"/>
              <a:gd name="T39" fmla="*/ 2147483646 h 6759"/>
              <a:gd name="T40" fmla="*/ 0 w 5822"/>
              <a:gd name="T41" fmla="*/ 2147483646 h 6759"/>
              <a:gd name="T42" fmla="*/ 2147483646 w 5822"/>
              <a:gd name="T43" fmla="*/ 2147483646 h 6759"/>
              <a:gd name="T44" fmla="*/ 2147483646 w 5822"/>
              <a:gd name="T45" fmla="*/ 2147483646 h 6759"/>
              <a:gd name="T46" fmla="*/ 2147483646 w 5822"/>
              <a:gd name="T47" fmla="*/ 2147483646 h 6759"/>
              <a:gd name="T48" fmla="*/ 2147483646 w 5822"/>
              <a:gd name="T49" fmla="*/ 2147483646 h 6759"/>
              <a:gd name="T50" fmla="*/ 2147483646 w 5822"/>
              <a:gd name="T51" fmla="*/ 2147483646 h 6759"/>
              <a:gd name="T52" fmla="*/ 2147483646 w 5822"/>
              <a:gd name="T53" fmla="*/ 2147483646 h 6759"/>
              <a:gd name="T54" fmla="*/ 2147483646 w 5822"/>
              <a:gd name="T55" fmla="*/ 2147483646 h 6759"/>
              <a:gd name="T56" fmla="*/ 2147483646 w 5822"/>
              <a:gd name="T57" fmla="*/ 2147483646 h 6759"/>
              <a:gd name="T58" fmla="*/ 2147483646 w 5822"/>
              <a:gd name="T59" fmla="*/ 2147483646 h 6759"/>
              <a:gd name="T60" fmla="*/ 2147483646 w 5822"/>
              <a:gd name="T61" fmla="*/ 2147483646 h 6759"/>
              <a:gd name="T62" fmla="*/ 2147483646 w 5822"/>
              <a:gd name="T63" fmla="*/ 2147483646 h 6759"/>
              <a:gd name="T64" fmla="*/ 2147483646 w 5822"/>
              <a:gd name="T65" fmla="*/ 2147483646 h 6759"/>
              <a:gd name="T66" fmla="*/ 2147483646 w 5822"/>
              <a:gd name="T67" fmla="*/ 2147483646 h 6759"/>
              <a:gd name="T68" fmla="*/ 2147483646 w 5822"/>
              <a:gd name="T69" fmla="*/ 2147483646 h 6759"/>
              <a:gd name="T70" fmla="*/ 2147483646 w 5822"/>
              <a:gd name="T71" fmla="*/ 2147483646 h 6759"/>
              <a:gd name="T72" fmla="*/ 2147483646 w 5822"/>
              <a:gd name="T73" fmla="*/ 2147483646 h 6759"/>
              <a:gd name="T74" fmla="*/ 2147483646 w 5822"/>
              <a:gd name="T75" fmla="*/ 2147483646 h 6759"/>
              <a:gd name="T76" fmla="*/ 2147483646 w 5822"/>
              <a:gd name="T77" fmla="*/ 2147483646 h 6759"/>
              <a:gd name="T78" fmla="*/ 2147483646 w 5822"/>
              <a:gd name="T79" fmla="*/ 2147483646 h 6759"/>
              <a:gd name="T80" fmla="*/ 2147483646 w 5822"/>
              <a:gd name="T81" fmla="*/ 2147483646 h 6759"/>
              <a:gd name="T82" fmla="*/ 2147483646 w 5822"/>
              <a:gd name="T83" fmla="*/ 2147483646 h 6759"/>
              <a:gd name="T84" fmla="*/ 2147483646 w 5822"/>
              <a:gd name="T85" fmla="*/ 2147483646 h 6759"/>
              <a:gd name="T86" fmla="*/ 2147483646 w 5822"/>
              <a:gd name="T87" fmla="*/ 2147483646 h 6759"/>
              <a:gd name="T88" fmla="*/ 2147483646 w 5822"/>
              <a:gd name="T89" fmla="*/ 2147483646 h 6759"/>
              <a:gd name="T90" fmla="*/ 2147483646 w 5822"/>
              <a:gd name="T91" fmla="*/ 2147483646 h 6759"/>
              <a:gd name="T92" fmla="*/ 2147483646 w 5822"/>
              <a:gd name="T93" fmla="*/ 2147483646 h 6759"/>
              <a:gd name="T94" fmla="*/ 2147483646 w 5822"/>
              <a:gd name="T95" fmla="*/ 2147483646 h 6759"/>
              <a:gd name="T96" fmla="*/ 2147483646 w 5822"/>
              <a:gd name="T97" fmla="*/ 2147483646 h 675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822" h="6759">
                <a:moveTo>
                  <a:pt x="0" y="6351"/>
                </a:moveTo>
                <a:lnTo>
                  <a:pt x="129" y="6351"/>
                </a:lnTo>
                <a:lnTo>
                  <a:pt x="129" y="3057"/>
                </a:lnTo>
                <a:lnTo>
                  <a:pt x="129" y="2914"/>
                </a:lnTo>
                <a:lnTo>
                  <a:pt x="266" y="2865"/>
                </a:lnTo>
                <a:lnTo>
                  <a:pt x="1775" y="2337"/>
                </a:lnTo>
                <a:lnTo>
                  <a:pt x="1775" y="1515"/>
                </a:lnTo>
                <a:lnTo>
                  <a:pt x="1775" y="1386"/>
                </a:lnTo>
                <a:lnTo>
                  <a:pt x="1892" y="1331"/>
                </a:lnTo>
                <a:lnTo>
                  <a:pt x="4422" y="137"/>
                </a:lnTo>
                <a:lnTo>
                  <a:pt x="4714" y="0"/>
                </a:lnTo>
                <a:lnTo>
                  <a:pt x="4714" y="56"/>
                </a:lnTo>
                <a:lnTo>
                  <a:pt x="5511" y="532"/>
                </a:lnTo>
                <a:lnTo>
                  <a:pt x="5511" y="6326"/>
                </a:lnTo>
                <a:lnTo>
                  <a:pt x="5822" y="6326"/>
                </a:lnTo>
                <a:lnTo>
                  <a:pt x="5822" y="6734"/>
                </a:lnTo>
                <a:lnTo>
                  <a:pt x="4510" y="6734"/>
                </a:lnTo>
                <a:lnTo>
                  <a:pt x="4305" y="6734"/>
                </a:lnTo>
                <a:lnTo>
                  <a:pt x="4305" y="6529"/>
                </a:lnTo>
                <a:lnTo>
                  <a:pt x="4305" y="643"/>
                </a:lnTo>
                <a:lnTo>
                  <a:pt x="2183" y="1644"/>
                </a:lnTo>
                <a:lnTo>
                  <a:pt x="2183" y="2194"/>
                </a:lnTo>
                <a:lnTo>
                  <a:pt x="2798" y="1979"/>
                </a:lnTo>
                <a:lnTo>
                  <a:pt x="3035" y="1895"/>
                </a:lnTo>
                <a:lnTo>
                  <a:pt x="3035" y="1889"/>
                </a:lnTo>
                <a:lnTo>
                  <a:pt x="3042" y="1892"/>
                </a:lnTo>
                <a:lnTo>
                  <a:pt x="3068" y="1884"/>
                </a:lnTo>
                <a:lnTo>
                  <a:pt x="3068" y="1909"/>
                </a:lnTo>
                <a:lnTo>
                  <a:pt x="3862" y="2381"/>
                </a:lnTo>
                <a:lnTo>
                  <a:pt x="3862" y="6313"/>
                </a:lnTo>
                <a:lnTo>
                  <a:pt x="4177" y="6313"/>
                </a:lnTo>
                <a:lnTo>
                  <a:pt x="4177" y="6722"/>
                </a:lnTo>
                <a:lnTo>
                  <a:pt x="2865" y="6722"/>
                </a:lnTo>
                <a:lnTo>
                  <a:pt x="2661" y="6722"/>
                </a:lnTo>
                <a:lnTo>
                  <a:pt x="2661" y="6517"/>
                </a:lnTo>
                <a:lnTo>
                  <a:pt x="2661" y="2458"/>
                </a:lnTo>
                <a:lnTo>
                  <a:pt x="538" y="3202"/>
                </a:lnTo>
                <a:lnTo>
                  <a:pt x="538" y="6556"/>
                </a:lnTo>
                <a:lnTo>
                  <a:pt x="538" y="6759"/>
                </a:lnTo>
                <a:lnTo>
                  <a:pt x="334" y="6759"/>
                </a:lnTo>
                <a:lnTo>
                  <a:pt x="0" y="6759"/>
                </a:lnTo>
                <a:lnTo>
                  <a:pt x="0" y="6351"/>
                </a:lnTo>
                <a:close/>
                <a:moveTo>
                  <a:pt x="776" y="6707"/>
                </a:moveTo>
                <a:lnTo>
                  <a:pt x="776" y="6707"/>
                </a:lnTo>
                <a:lnTo>
                  <a:pt x="1501" y="6707"/>
                </a:lnTo>
                <a:lnTo>
                  <a:pt x="2348" y="6707"/>
                </a:lnTo>
                <a:lnTo>
                  <a:pt x="2348" y="5989"/>
                </a:lnTo>
                <a:lnTo>
                  <a:pt x="1501" y="6044"/>
                </a:lnTo>
                <a:lnTo>
                  <a:pt x="776" y="6092"/>
                </a:lnTo>
                <a:lnTo>
                  <a:pt x="776" y="6707"/>
                </a:lnTo>
                <a:close/>
                <a:moveTo>
                  <a:pt x="776" y="4048"/>
                </a:moveTo>
                <a:lnTo>
                  <a:pt x="776" y="4048"/>
                </a:lnTo>
                <a:lnTo>
                  <a:pt x="1501" y="3842"/>
                </a:lnTo>
                <a:lnTo>
                  <a:pt x="2348" y="3604"/>
                </a:lnTo>
                <a:lnTo>
                  <a:pt x="2348" y="2883"/>
                </a:lnTo>
                <a:lnTo>
                  <a:pt x="1501" y="3178"/>
                </a:lnTo>
                <a:lnTo>
                  <a:pt x="776" y="3431"/>
                </a:lnTo>
                <a:lnTo>
                  <a:pt x="776" y="4048"/>
                </a:lnTo>
                <a:close/>
                <a:moveTo>
                  <a:pt x="776" y="4926"/>
                </a:moveTo>
                <a:lnTo>
                  <a:pt x="776" y="4926"/>
                </a:lnTo>
                <a:lnTo>
                  <a:pt x="1501" y="4788"/>
                </a:lnTo>
                <a:lnTo>
                  <a:pt x="2348" y="4628"/>
                </a:lnTo>
                <a:lnTo>
                  <a:pt x="2348" y="3909"/>
                </a:lnTo>
                <a:lnTo>
                  <a:pt x="1501" y="4124"/>
                </a:lnTo>
                <a:lnTo>
                  <a:pt x="776" y="4310"/>
                </a:lnTo>
                <a:lnTo>
                  <a:pt x="776" y="4926"/>
                </a:lnTo>
                <a:close/>
                <a:moveTo>
                  <a:pt x="776" y="5811"/>
                </a:moveTo>
                <a:lnTo>
                  <a:pt x="776" y="5811"/>
                </a:lnTo>
                <a:lnTo>
                  <a:pt x="1501" y="5741"/>
                </a:lnTo>
                <a:lnTo>
                  <a:pt x="2348" y="5661"/>
                </a:lnTo>
                <a:lnTo>
                  <a:pt x="2348" y="4942"/>
                </a:lnTo>
                <a:lnTo>
                  <a:pt x="1501" y="5078"/>
                </a:lnTo>
                <a:lnTo>
                  <a:pt x="776" y="5194"/>
                </a:lnTo>
                <a:lnTo>
                  <a:pt x="776" y="58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347983" y="520944"/>
            <a:ext cx="6007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3"/>
                </a:solidFill>
              </a:rPr>
              <a:t>LOGO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P2P网络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 dirty="0">
                <a:latin typeface="Arial" panose="020B0604020202020204" pitchFamily="34" charset="0"/>
              </a:rPr>
              <a:t>CCF@U第1244场，西北大学，2025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8048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1017588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965593-6650-4D71-86DF-9257E339D58B}" type="slidenum"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 panose="020B0602020104020603" charset="0"/>
                <a:ea typeface="宋体" panose="02010600030101010101" pitchFamily="2" charset="-122"/>
                <a:cs typeface="+mn-cs"/>
                <a:sym typeface="Tw Cen MT" panose="020B0602020104020603" charset="0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Tw Cen MT" panose="020B0602020104020603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918316"/>
          </a:xfrm>
          <a:custGeom>
            <a:avLst/>
            <a:gdLst>
              <a:gd name="connsiteX0" fmla="*/ 0 w 12192000"/>
              <a:gd name="connsiteY0" fmla="*/ 0 h 6918316"/>
              <a:gd name="connsiteX1" fmla="*/ 12192000 w 12192000"/>
              <a:gd name="connsiteY1" fmla="*/ 0 h 6918316"/>
              <a:gd name="connsiteX2" fmla="*/ 12192000 w 12192000"/>
              <a:gd name="connsiteY2" fmla="*/ 6918316 h 6918316"/>
              <a:gd name="connsiteX3" fmla="*/ 0 w 12192000"/>
              <a:gd name="connsiteY3" fmla="*/ 3651480 h 691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918316">
                <a:moveTo>
                  <a:pt x="0" y="0"/>
                </a:moveTo>
                <a:lnTo>
                  <a:pt x="12192000" y="0"/>
                </a:lnTo>
                <a:lnTo>
                  <a:pt x="12192000" y="6918316"/>
                </a:lnTo>
                <a:lnTo>
                  <a:pt x="0" y="365148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7694-2F36-4FB5-961F-11CEBD01EE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3BFE9-63B0-47AD-8FED-3BB7AC6D20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7F253-21D0-41DB-95DA-8502F5E07C8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CCF@U第1244场，西北大学，2025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85F87-1A61-411E-8250-BBEAA6605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762000" y="3937000"/>
            <a:ext cx="254000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60400" y="990600"/>
            <a:ext cx="0" cy="396240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16000" y="1117600"/>
            <a:ext cx="7620000" cy="359073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【5/20 - 5/26】</a:t>
            </a:r>
            <a:r>
              <a:rPr lang="zh-CN" altLang="en-US" sz="20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进展汇报</a:t>
            </a:r>
            <a:endParaRPr lang="zh-CN" altLang="en-US" sz="20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000" y="2082800"/>
            <a:ext cx="8636000" cy="109773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3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Hybrid TEE-Rollup</a:t>
            </a:r>
            <a:endParaRPr lang="en-US" altLang="zh-CN" sz="3400" b="1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3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可恢复挑战协议</a:t>
            </a:r>
            <a:endParaRPr lang="zh-CN" altLang="en-US" sz="3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41400" y="4318000"/>
            <a:ext cx="3302000" cy="29751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600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汇报人：杨帆</a:t>
            </a:r>
            <a:endParaRPr lang="zh-CN" altLang="en-US" sz="1600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499600" y="2070100"/>
            <a:ext cx="1270000" cy="1270000"/>
          </a:xfrm>
          <a:prstGeom prst="ellipse">
            <a:avLst/>
          </a:prstGeom>
          <a:solidFill>
            <a:srgbClr val="FFFFFF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主要任务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主要任务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限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页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zh-CN" altLang="en-US" sz="26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89000" y="1625600"/>
            <a:ext cx="4953000" cy="1333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89000" y="1625600"/>
            <a:ext cx="63500" cy="1333500"/>
          </a:xfrm>
          <a:prstGeom prst="rect">
            <a:avLst/>
          </a:prstGeom>
          <a:solidFill>
            <a:srgbClr val="2563EB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92200" y="1778000"/>
            <a:ext cx="4597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中长期目标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" y="2133600"/>
            <a:ext cx="4597400" cy="48133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研究如何在保证去中心化安全性的前提下，提高高频 </a:t>
            </a:r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DApp </a:t>
            </a:r>
            <a:r>
              <a:rPr lang="zh-CN" altLang="en-US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场景下链下执行与链上可验证之间的协同效率。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89000" y="3276600"/>
            <a:ext cx="4953000" cy="24130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89000" y="3276600"/>
            <a:ext cx="63500" cy="2413000"/>
          </a:xfrm>
          <a:prstGeom prst="rect">
            <a:avLst/>
          </a:prstGeom>
          <a:solidFill>
            <a:srgbClr val="059669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092200" y="3429000"/>
            <a:ext cx="4597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本周完成的任务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92200" y="3784600"/>
            <a:ext cx="4597400" cy="91307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1 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将论文核心问题明确为可恢复挑战与仲裁活性；</a:t>
            </a:r>
            <a:endParaRPr lang="zh-CN" altLang="en-US" sz="140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2 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强化状态机、可恢复性、安全性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/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活性、证据一致性与数据可用性绑定；</a:t>
            </a:r>
            <a:endParaRPr lang="zh-CN" altLang="en-US" sz="140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3 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保留实验结果，但重新解释为可恢复挑战的证据链。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350000" y="1625600"/>
            <a:ext cx="4953000" cy="40640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6350000" y="1625600"/>
            <a:ext cx="63500" cy="4064000"/>
          </a:xfrm>
          <a:prstGeom prst="rect">
            <a:avLst/>
          </a:prstGeom>
          <a:solidFill>
            <a:srgbClr val="0891B2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6553200" y="1778000"/>
            <a:ext cx="4597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本周产出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553200" y="2133600"/>
            <a:ext cx="4597400" cy="48133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论文中文初稿</a:t>
            </a:r>
            <a:endParaRPr lang="zh-CN" altLang="en-US" sz="140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贡献点与创新定位重写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科研工作进展情况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从“多创新点并列”收束到可恢复挑战主线</a:t>
            </a:r>
            <a:endParaRPr lang="zh-CN" altLang="en-US" sz="26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863600" y="1778000"/>
            <a:ext cx="4572000" cy="3111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63600" y="1778000"/>
            <a:ext cx="63500" cy="3111500"/>
          </a:xfrm>
          <a:prstGeom prst="rect">
            <a:avLst/>
          </a:prstGeom>
          <a:solidFill>
            <a:srgbClr val="DC2626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1066800" y="1930400"/>
            <a:ext cx="4216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修改前：多个点平铺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66800" y="2286000"/>
            <a:ext cx="4216400" cy="69762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可恢复挑战、紧凑提交、数据可用性感知成本模型、故障分类、本地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EVM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Sepolia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部署并列展开，容易显得创新点分散。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6794500" y="1778000"/>
            <a:ext cx="4572000" cy="3111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794500" y="1778000"/>
            <a:ext cx="63500" cy="3111500"/>
          </a:xfrm>
          <a:prstGeom prst="rect">
            <a:avLst/>
          </a:prstGeom>
          <a:solidFill>
            <a:srgbClr val="059669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6997700" y="1930400"/>
            <a:ext cx="4216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修改后：一条主线组织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97700" y="2286000"/>
            <a:ext cx="4216400" cy="482183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以可恢复挑战为主创新，紧凑提交和数据可用性绑定作为支撑机制，本地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EVM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Sepolia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作为证据链。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5689600" y="3302000"/>
            <a:ext cx="850900" cy="0"/>
          </a:xfrm>
          <a:prstGeom prst="line">
            <a:avLst/>
          </a:prstGeom>
          <a:ln w="31750">
            <a:solidFill>
              <a:srgbClr val="D9770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科研工作进展情况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将可恢复挑战表达为状态机与协议性质</a:t>
            </a:r>
            <a:endParaRPr lang="zh-CN" altLang="en-US" sz="26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584200" y="2235200"/>
            <a:ext cx="15240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35000" y="2400300"/>
            <a:ext cx="1422400" cy="29751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打开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514600" y="2235200"/>
            <a:ext cx="17780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565400" y="2400300"/>
            <a:ext cx="1676400" cy="29751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已响应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876800" y="2235200"/>
            <a:ext cx="16510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4927600" y="2400300"/>
            <a:ext cx="1549400" cy="29751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二分定位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7112000" y="2235200"/>
            <a:ext cx="16510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7162800" y="2400300"/>
            <a:ext cx="1549400" cy="29751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已超时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7239000" y="3886200"/>
            <a:ext cx="15240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7289800" y="40386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已恢复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4953000" y="3886200"/>
            <a:ext cx="15240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5003800" y="40386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待重放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36600" y="3886200"/>
            <a:ext cx="1905000" cy="58420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D7DEE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787400" y="4038600"/>
            <a:ext cx="1803400" cy="27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059669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已结算 </a:t>
            </a:r>
            <a:r>
              <a:rPr lang="en-US" altLang="zh-CN" sz="1500" b="1">
                <a:solidFill>
                  <a:srgbClr val="059669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059669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已罚没</a:t>
            </a:r>
            <a:endParaRPr lang="zh-CN" altLang="en-US" sz="1500" b="1" dirty="0">
              <a:solidFill>
                <a:srgbClr val="059669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9144000" y="1841500"/>
            <a:ext cx="2667000" cy="9906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9144000" y="1841500"/>
            <a:ext cx="63500" cy="990600"/>
          </a:xfrm>
          <a:prstGeom prst="rect">
            <a:avLst/>
          </a:prstGeom>
          <a:solidFill>
            <a:srgbClr val="DC2626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9347200" y="1993900"/>
            <a:ext cx="22606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安全性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347200" y="2324100"/>
            <a:ext cx="22606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无效证据不能最终确认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9144000" y="3175000"/>
            <a:ext cx="2667000" cy="9906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9144000" y="3175000"/>
            <a:ext cx="63500" cy="990600"/>
          </a:xfrm>
          <a:prstGeom prst="rect">
            <a:avLst/>
          </a:prstGeom>
          <a:solidFill>
            <a:srgbClr val="059669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9347200" y="3327400"/>
            <a:ext cx="22606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活性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9347200" y="3657600"/>
            <a:ext cx="22606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恢复后继续推进仲裁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1" name="矩形: 圆角 70"/>
          <p:cNvSpPr/>
          <p:nvPr/>
        </p:nvSpPr>
        <p:spPr>
          <a:xfrm>
            <a:off x="9144000" y="4508500"/>
            <a:ext cx="2667000" cy="9906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9144000" y="4508500"/>
            <a:ext cx="63500" cy="990600"/>
          </a:xfrm>
          <a:prstGeom prst="rect">
            <a:avLst/>
          </a:prstGeom>
          <a:solidFill>
            <a:srgbClr val="2563EB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9347200" y="4660900"/>
            <a:ext cx="22606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可恢复性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347200" y="4991100"/>
            <a:ext cx="22606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只恢复会话进度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89000" y="5969000"/>
            <a:ext cx="1041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理论强化的重点：恢复不是改写争议事实，而是恢复会话推进能力；最终裁决仍由重放结果与证据一致性决定。</a:t>
            </a:r>
            <a:endParaRPr lang="zh-CN" altLang="en-US" sz="1400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022600" y="3886200"/>
            <a:ext cx="1422400" cy="5842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CBD5E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73400" y="4038600"/>
            <a:ext cx="132080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2563EB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已重放</a:t>
            </a:r>
            <a:endParaRPr lang="zh-CN" altLang="en-US" sz="1600" b="1" dirty="0">
              <a:solidFill>
                <a:srgbClr val="2563EB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108200" y="2527300"/>
            <a:ext cx="406400" cy="0"/>
          </a:xfrm>
          <a:prstGeom prst="straightConnector1">
            <a:avLst/>
          </a:prstGeom>
          <a:ln w="22225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4292600" y="2527300"/>
            <a:ext cx="584200" cy="0"/>
          </a:xfrm>
          <a:prstGeom prst="straightConnector1">
            <a:avLst/>
          </a:prstGeom>
          <a:ln w="22225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6527800" y="2527300"/>
            <a:ext cx="584200" cy="0"/>
          </a:xfrm>
          <a:prstGeom prst="straightConnector1">
            <a:avLst/>
          </a:prstGeom>
          <a:ln w="22225">
            <a:solidFill>
              <a:srgbClr val="EA58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7937500" y="2819400"/>
            <a:ext cx="0" cy="1066800"/>
          </a:xfrm>
          <a:prstGeom prst="straightConnector1">
            <a:avLst/>
          </a:prstGeom>
          <a:ln w="22225">
            <a:solidFill>
              <a:srgbClr val="EA580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477000" y="4178300"/>
            <a:ext cx="762000" cy="0"/>
          </a:xfrm>
          <a:prstGeom prst="straightConnector1">
            <a:avLst/>
          </a:prstGeom>
          <a:ln w="22225">
            <a:solidFill>
              <a:srgbClr val="0596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4445000" y="4178300"/>
            <a:ext cx="508000" cy="0"/>
          </a:xfrm>
          <a:prstGeom prst="straightConnector1">
            <a:avLst/>
          </a:prstGeom>
          <a:ln w="22225">
            <a:solidFill>
              <a:srgbClr val="0596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2641600" y="4178300"/>
            <a:ext cx="381000" cy="0"/>
          </a:xfrm>
          <a:prstGeom prst="straightConnector1">
            <a:avLst/>
          </a:prstGeom>
          <a:ln w="22225">
            <a:solidFill>
              <a:srgbClr val="0596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科研工作进展情况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本周论文理论闭环补强：从机制描述到协议论证</a:t>
            </a:r>
            <a:endParaRPr lang="zh-CN" altLang="en-US" sz="26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143000" y="1841500"/>
            <a:ext cx="4318000" cy="1333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143000" y="1841500"/>
            <a:ext cx="63500" cy="1333500"/>
          </a:xfrm>
          <a:prstGeom prst="rect">
            <a:avLst/>
          </a:prstGeom>
          <a:solidFill>
            <a:srgbClr val="2563EB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397000" y="1993900"/>
            <a:ext cx="38100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1  </a:t>
            </a:r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研究问题收束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97000" y="2374900"/>
            <a:ext cx="3810000" cy="482183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聚焦“可恢复挑战如何保证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Hybrid TEE-Rollup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异常路径中的仲裁活性”。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6477000" y="1841500"/>
            <a:ext cx="4318000" cy="1333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6477000" y="1841500"/>
            <a:ext cx="63500" cy="1333500"/>
          </a:xfrm>
          <a:prstGeom prst="rect">
            <a:avLst/>
          </a:prstGeom>
          <a:solidFill>
            <a:srgbClr val="059669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6731000" y="1993900"/>
            <a:ext cx="38100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2  </a:t>
            </a:r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协议抽象增强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31000" y="2374900"/>
            <a:ext cx="3810000" cy="482183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将挑战会话表达为状态机，而不是停留在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open / recover / replay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的函数描述。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143000" y="3746500"/>
            <a:ext cx="4318000" cy="1333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1143000" y="3746500"/>
            <a:ext cx="63500" cy="1333500"/>
          </a:xfrm>
          <a:prstGeom prst="rect">
            <a:avLst/>
          </a:prstGeom>
          <a:solidFill>
            <a:srgbClr val="D97706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1397000" y="3898900"/>
            <a:ext cx="38100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3  </a:t>
            </a:r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性质与不变量补齐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397000" y="4279900"/>
            <a:ext cx="3810000" cy="482183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补充安全性、活性、可恢复性、证据一致性和数据可用性绑定。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/>
        </p:nvSpPr>
        <p:spPr>
          <a:xfrm>
            <a:off x="6477000" y="3746500"/>
            <a:ext cx="4318000" cy="1333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6477000" y="3746500"/>
            <a:ext cx="63500" cy="1333500"/>
          </a:xfrm>
          <a:prstGeom prst="rect">
            <a:avLst/>
          </a:prstGeom>
          <a:solidFill>
            <a:srgbClr val="DC2626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>
            <a:off x="6731000" y="3898900"/>
            <a:ext cx="3810000" cy="282129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4  </a:t>
            </a:r>
            <a:r>
              <a:rPr lang="zh-CN" altLang="en-US" sz="15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实验解释与边界说明</a:t>
            </a:r>
            <a:endParaRPr lang="zh-CN" altLang="en-US" sz="15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731000" y="4279900"/>
            <a:ext cx="3810000" cy="482183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把实验结果解释为协议证据链，并明确模拟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TEE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、模拟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DA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、成本模型与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Sepolia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边界。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论文阅读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论文阅读：</a:t>
            </a:r>
            <a:r>
              <a:rPr lang="en-US" altLang="zh-CN" sz="2600" b="1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Dynamic Fraud Proof</a:t>
            </a:r>
            <a:endParaRPr lang="zh-CN" altLang="en-US" sz="2600" b="1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16000" y="1625600"/>
            <a:ext cx="9906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it-IT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Gabriele Picco, Andrea Fortugno, arXiv:2502.10321, 2025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762000" y="2260600"/>
            <a:ext cx="3302000" cy="1714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62000" y="2260600"/>
            <a:ext cx="63500" cy="1714500"/>
          </a:xfrm>
          <a:prstGeom prst="rect">
            <a:avLst/>
          </a:prstGeom>
          <a:solidFill>
            <a:srgbClr val="2563EB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965200" y="2413000"/>
            <a:ext cx="2946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论文问题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200" y="2768600"/>
            <a:ext cx="2946400" cy="91307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传统乐观 </a:t>
            </a:r>
            <a:r>
              <a:rPr lang="en-US" altLang="zh-CN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Rollup </a:t>
            </a:r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通常采用固定挑战窗口。该论文研究如何在低风险情形下缩短最终确认时间，并在检测到欺诈或争议未解决时动态延迟结算。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445000" y="2260600"/>
            <a:ext cx="3302000" cy="1714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4445000" y="2260600"/>
            <a:ext cx="63500" cy="1714500"/>
          </a:xfrm>
          <a:prstGeom prst="rect">
            <a:avLst/>
          </a:prstGeom>
          <a:solidFill>
            <a:srgbClr val="059669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648200" y="2413000"/>
            <a:ext cx="2946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核心机制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648200" y="2768600"/>
            <a:ext cx="2946400" cy="91307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提出动态欺诈证明：动态调整挑战期，并随机选择验证节点。若验证条件不满足，则暂停最终确认，并调整通过标准。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128000" y="2260600"/>
            <a:ext cx="3302000" cy="17145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8128000" y="2260600"/>
            <a:ext cx="63500" cy="1714500"/>
          </a:xfrm>
          <a:prstGeom prst="rect">
            <a:avLst/>
          </a:prstGeom>
          <a:solidFill>
            <a:srgbClr val="D97706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8331200" y="2413000"/>
            <a:ext cx="2946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安全逻辑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331200" y="2768600"/>
            <a:ext cx="2946400" cy="697627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讨论单诚实节点假设、审查攻击、保证金、激励与罚没，以及快速结算和安全性之间的权衡。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90600" y="4572000"/>
            <a:ext cx="10033000" cy="11938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990600" y="4572000"/>
            <a:ext cx="63500" cy="1193800"/>
          </a:xfrm>
          <a:prstGeom prst="rect">
            <a:avLst/>
          </a:prstGeom>
          <a:solidFill>
            <a:srgbClr val="0891B2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1193800" y="4724400"/>
            <a:ext cx="9677400" cy="266065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与本项目的关系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93800" y="5080000"/>
            <a:ext cx="9677400" cy="48133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这篇论文关注挑战窗口和最终性的动态调整；我的项目更关注挑战已经进入异常路径后，超时、轨迹不一致或证据异常是否还能恢复推进并完成仲裁。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90600" y="5969000"/>
            <a:ext cx="10033000" cy="5842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7DEE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990600" y="5969000"/>
            <a:ext cx="63500" cy="584200"/>
          </a:xfrm>
          <a:prstGeom prst="rect">
            <a:avLst/>
          </a:prstGeom>
          <a:solidFill>
            <a:srgbClr val="2563EB"/>
          </a:solidFill>
          <a:ln w="15875" cap="flat" cmpd="sng" algn="ctr">
            <a:noFill/>
            <a:prstDash val="sysDash"/>
            <a:miter lim="800000"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0000"/>
                </a:solidFill>
                <a:prstDash val="sysDash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1130300" y="5949315"/>
            <a:ext cx="9677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可借鉴点</a:t>
            </a:r>
            <a:endParaRPr lang="zh-CN" altLang="en-US" sz="14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55370" y="6219190"/>
            <a:ext cx="96774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>
                <a:solidFill>
                  <a:srgbClr val="4B5563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可借鉴的是：将挑战窗口、恢复路径与最终确认条件放在同一套协议逻辑中讨论。</a:t>
            </a:r>
            <a:endParaRPr lang="zh-CN" altLang="en-US" sz="1400" dirty="0">
              <a:solidFill>
                <a:srgbClr val="4B5563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本周学习体会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本周学习体会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限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页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zh-CN" altLang="en-US" sz="26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000" y="1676400"/>
            <a:ext cx="9779000" cy="1774845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1 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论文价值不等于功能数量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前几周已经有较多机制和实验，但如果没有中心问题，容易显得创新点分散。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2 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检测不等于解决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安全协议不能只说明能检测异常，还要说明检测后能否恢复、重放并完成仲裁。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3 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证据类型要分清楚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Python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原型、本地 </a:t>
            </a:r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EVM gas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Sepolia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部署和成本模型的证明力不同，不能互相替代。</a:t>
            </a:r>
            <a:endParaRPr lang="zh-CN" altLang="en-US" sz="1400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508000" y="889000"/>
            <a:ext cx="11176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08000" y="330200"/>
            <a:ext cx="27940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zh-CN" altLang="en-US" sz="1400" b="1">
                <a:solidFill>
                  <a:srgbClr val="2563E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下周科研计划</a:t>
            </a:r>
            <a:endParaRPr lang="zh-CN" altLang="en-US" sz="1400" b="1" dirty="0">
              <a:solidFill>
                <a:srgbClr val="2563E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117600"/>
            <a:ext cx="12192000" cy="4514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下周科研计划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限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页</a:t>
            </a:r>
            <a:r>
              <a:rPr lang="en-US" altLang="zh-CN" sz="2600" b="1">
                <a:solidFill>
                  <a:srgbClr val="11182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zh-CN" altLang="en-US" sz="2600" b="1" dirty="0">
              <a:solidFill>
                <a:srgbClr val="111827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33200" y="6527800"/>
            <a:ext cx="304800" cy="266740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pPr algn="ctr"/>
            <a:r>
              <a:rPr lang="en-US" altLang="zh-CN" sz="1400">
                <a:solidFill>
                  <a:srgbClr val="4B556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r>
            <a:endParaRPr lang="zh-CN" altLang="en-US" sz="1400" dirty="0">
              <a:solidFill>
                <a:srgbClr val="4B5563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43000" y="1676400"/>
            <a:ext cx="9779000" cy="1343025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25400" rIns="38100" bIns="25400" rtlCol="0">
            <a:spAutoFit/>
          </a:bodyPr>
          <a:lstStyle/>
          <a:p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完成论文中文稿一致性检查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统一术语、图注、贡献点和实验解释，避免中英文混杂。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2.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继续打磨理论表达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压缩状态机、可恢复性、安全性 </a:t>
            </a:r>
            <a:r>
              <a:rPr lang="en-US" altLang="zh-CN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11827"/>
                </a:solidFill>
                <a:latin typeface="Aptos" panose="020B0004020202020204" pitchFamily="34" charset="0"/>
                <a:ea typeface="微软雅黑" panose="020B0503020204020204" pitchFamily="34" charset="-122"/>
              </a:rPr>
              <a:t>活性和数据可用性绑定的表述。</a:t>
            </a:r>
            <a:endParaRPr lang="zh-CN" altLang="en-US" sz="140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  <a:p>
            <a:endParaRPr lang="zh-CN" altLang="en-US" sz="1400" dirty="0">
              <a:solidFill>
                <a:srgbClr val="111827"/>
              </a:solidFill>
              <a:latin typeface="Aptos" panose="020B00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OWQwNjAyOTQzMjQxNmRjY2MyZmZjMTE0MzdhNDFlNGMifQ=="/>
  <p:tag name="RESOURCE_RECORD_KEY" val="{&quot;70&quot;:[3314408,3312407]}"/>
</p:tagLst>
</file>

<file path=ppt/theme/theme1.xml><?xml version="1.0" encoding="utf-8"?>
<a:theme xmlns:a="http://schemas.openxmlformats.org/drawingml/2006/main" name="主题1">
  <a:themeElements>
    <a:clrScheme name="自定义 1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6362"/>
      </a:accent1>
      <a:accent2>
        <a:srgbClr val="B64645"/>
      </a:accent2>
      <a:accent3>
        <a:srgbClr val="414A59"/>
      </a:accent3>
      <a:accent4>
        <a:srgbClr val="7FB541"/>
      </a:accent4>
      <a:accent5>
        <a:srgbClr val="4472C4"/>
      </a:accent5>
      <a:accent6>
        <a:srgbClr val="244956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5875">
          <a:solidFill>
            <a:srgbClr val="FF0000"/>
          </a:solidFill>
          <a:prstDash val="sysDash"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square" rtlCol="0">
        <a:spAutoFit/>
      </a:bodyPr>
      <a:lstStyle>
        <a:defPPr algn="ctr">
          <a:defRPr sz="17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WPS 演示</Application>
  <PresentationFormat>宽屏</PresentationFormat>
  <Paragraphs>156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Tw Cen MT</vt:lpstr>
      <vt:lpstr>Microsoft YaHei UI</vt:lpstr>
      <vt:lpstr>Aptos</vt:lpstr>
      <vt:lpstr>Segoe Print</vt:lpstr>
      <vt:lpstr>微软雅黑</vt:lpstr>
      <vt:lpstr>Arial Unicode MS</vt:lpstr>
      <vt:lpstr>Calibri Light</vt:lpstr>
      <vt:lpstr>主题1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杨帆</cp:lastModifiedBy>
  <cp:revision>2931</cp:revision>
  <cp:lastPrinted>2024-11-14T07:01:00Z</cp:lastPrinted>
  <dcterms:created xsi:type="dcterms:W3CDTF">2024-11-14T07:01:00Z</dcterms:created>
  <dcterms:modified xsi:type="dcterms:W3CDTF">2026-05-26T13:58:02Z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5C2196EAA6CA4D34B4158B203B9F6D3F</vt:lpwstr>
  </property>
</Properties>
</file>