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5" r:id="rId9"/>
    <p:sldId id="266" r:id="rId10"/>
  </p:sldIdLst>
  <p:sldSz cx="1218946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" y="9000"/>
            <a:ext cx="12171600" cy="702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" y="6219000"/>
            <a:ext cx="12171600" cy="621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" y="729000"/>
            <a:ext cx="162000" cy="5499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第十九周组会汇报</a:t>
            </a:r>
            <a:endParaRPr sz="3400"/>
          </a:p>
        </p:txBody>
      </p:sp>
      <p:sp>
        <p:nvSpPr>
          <p:cNvPr id="8" name="TextBox 7"/>
          <p:cNvSpPr txBox="1"/>
          <p:nvPr/>
        </p:nvSpPr>
        <p:spPr>
          <a:xfrm>
            <a:off x="540000" y="2880000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/>
              <a:t>汇报人：杨帆</a:t>
            </a: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40000" y="3311999"/>
            <a:ext cx="54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/>
              <a:t>日期：2026.07.10</a:t>
            </a: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实验室组会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2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500"/>
              <a:t>主要任务【限 1 页】</a:t>
            </a:r>
            <a:endParaRPr sz="35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400" b="1">
                <a:solidFill>
                  <a:srgbClr val="FFFFFF"/>
                </a:solidFill>
              </a:rPr>
              <a:t>中长期目标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1584000"/>
            <a:ext cx="10440000" cy="576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/>
              <a:t>围绕 L2 Rollup 跨层 MEV 防御，研究如何在无需可信第三方的前提下，</a:t>
            </a:r>
            <a:endParaRPr sz="2200"/>
          </a:p>
          <a:p>
            <a:r>
              <a:rPr sz="2200"/>
              <a:t>通过密码学机制限制 Sequencer 的排序操纵。</a:t>
            </a:r>
            <a:endParaRPr sz="2200"/>
          </a:p>
        </p:txBody>
      </p:sp>
      <p:sp>
        <p:nvSpPr>
          <p:cNvPr id="7" name="Rectangle 6"/>
          <p:cNvSpPr/>
          <p:nvPr/>
        </p:nvSpPr>
        <p:spPr>
          <a:xfrm>
            <a:off x="720000" y="2321975"/>
            <a:ext cx="10440000" cy="30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400" b="1">
                <a:solidFill>
                  <a:srgbClr val="FFFFFF"/>
                </a:solidFill>
              </a:rPr>
              <a:t>本周完成的任务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2628000"/>
            <a:ext cx="10440000" cy="144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900"/>
              <a:t>1. 读两篇与当前研究最相关的重点论文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900"/>
              <a:t>   `Arbitrum_Timeboost_Empirical_Analysis`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900"/>
              <a:t>   `MEV_Mitigation_Ethereum_L2_Survey`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900"/>
              <a:t>2. 梳理现有 MEV 防御路径在 L2 单 Sequencer 场景中的适用性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900"/>
              <a:t>3. 进一步确认研究方向</a:t>
            </a:r>
            <a:endParaRPr sz="1900"/>
          </a:p>
          <a:p>
            <a:pPr>
              <a:lnSpc>
                <a:spcPct val="110000"/>
              </a:lnSpc>
              <a:spcAft>
                <a:spcPts val="300"/>
              </a:spcAft>
            </a:pP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4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本周重点阅读：2篇论文 · 2类作用</a:t>
            </a:r>
            <a:endParaRPr sz="34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152000"/>
            <a:ext cx="10440000" cy="2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900"/>
              <a:t>本周不再扩展文献数量，而是聚焦两篇关键论文</a:t>
            </a:r>
            <a:endParaRPr sz="1900"/>
          </a:p>
        </p:txBody>
      </p:sp>
      <p:sp>
        <p:nvSpPr>
          <p:cNvPr id="6" name="Rectangle 5"/>
          <p:cNvSpPr/>
          <p:nvPr/>
        </p:nvSpPr>
        <p:spPr>
          <a:xfrm>
            <a:off x="576000" y="1548000"/>
            <a:ext cx="2700000" cy="2700000"/>
          </a:xfrm>
          <a:prstGeom prst="rect">
            <a:avLst/>
          </a:prstGeom>
          <a:solidFill>
            <a:srgbClr val="F4D9D9"/>
          </a:solidFill>
          <a:ln w="1524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548000"/>
            <a:ext cx="2700000" cy="396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>
                <a:solidFill>
                  <a:srgbClr val="FFFFFF"/>
                </a:solidFill>
              </a:rPr>
              <a:t>🟠  Timeboost（1篇）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/>
              <a:t>Arbitrum_Timeboost_Empirical_Analysis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/>
              <a:t>作用：理解 auction-based sequencing</a:t>
            </a:r>
            <a:endParaRPr sz="18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800"/>
              <a:t>为什么不能根本解决 L2 排序操纵</a:t>
            </a:r>
            <a:endParaRPr sz="1800"/>
          </a:p>
        </p:txBody>
      </p:sp>
      <p:sp>
        <p:nvSpPr>
          <p:cNvPr id="9" name="Rectangle 8"/>
          <p:cNvSpPr/>
          <p:nvPr/>
        </p:nvSpPr>
        <p:spPr>
          <a:xfrm>
            <a:off x="3456000" y="1548000"/>
            <a:ext cx="2700000" cy="2700000"/>
          </a:xfrm>
          <a:prstGeom prst="rect">
            <a:avLst/>
          </a:prstGeom>
          <a:solidFill>
            <a:srgbClr val="F8ECD7"/>
          </a:solidFill>
          <a:ln w="15240">
            <a:solidFill>
              <a:srgbClr val="A8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000" y="1548000"/>
            <a:ext cx="2700000" cy="396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>
                <a:solidFill>
                  <a:srgbClr val="FFFFFF"/>
                </a:solidFill>
              </a:rPr>
              <a:t>🟡  Survey（1篇）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7999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MEV_Mitigation_Ethereum_L2_Survey</a:t>
            </a:r>
            <a:endParaRPr sz="1800"/>
          </a:p>
          <a:p>
            <a:endParaRPr sz="1800"/>
          </a:p>
          <a:p>
            <a:r>
              <a:rPr sz="1800"/>
              <a:t>作用：整理已有防御路径</a:t>
            </a:r>
            <a:endParaRPr sz="1800"/>
          </a:p>
          <a:p>
            <a:r>
              <a:rPr sz="1800"/>
              <a:t>帮助定位题目边界</a:t>
            </a:r>
            <a:endParaRPr sz="1800"/>
          </a:p>
        </p:txBody>
      </p:sp>
      <p:sp>
        <p:nvSpPr>
          <p:cNvPr id="12" name="Rectangle 11"/>
          <p:cNvSpPr/>
          <p:nvPr/>
        </p:nvSpPr>
        <p:spPr>
          <a:xfrm>
            <a:off x="6336000" y="1548000"/>
            <a:ext cx="2700000" cy="2700000"/>
          </a:xfrm>
          <a:prstGeom prst="rect">
            <a:avLst/>
          </a:prstGeom>
          <a:solidFill>
            <a:srgbClr val="FBF3D0"/>
          </a:solidFill>
          <a:ln w="15240">
            <a:solidFill>
              <a:srgbClr val="C0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000" y="1548000"/>
            <a:ext cx="2700000" cy="396000"/>
          </a:xfrm>
          <a:prstGeom prst="rect">
            <a:avLst/>
          </a:prstGeom>
          <a:solidFill>
            <a:srgbClr val="C0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1800" b="1">
                <a:solidFill>
                  <a:srgbClr val="FFFFFF"/>
                </a:solidFill>
              </a:rPr>
              <a:t>🔵  本周新增认识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8000" y="2015999"/>
            <a:ext cx="2556000" cy="20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经济激励路径不足</a:t>
            </a:r>
            <a:endParaRPr sz="1800"/>
          </a:p>
          <a:p>
            <a:r>
              <a:rPr sz="1800"/>
              <a:t>公平排序路径不完全适配</a:t>
            </a:r>
            <a:endParaRPr sz="1800"/>
          </a:p>
          <a:p>
            <a:r>
              <a:rPr sz="1800"/>
              <a:t>密码学限制可见性更值得继续推进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5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300"/>
              <a:t>论文一：Timeboost 的关键启发</a:t>
            </a:r>
            <a:endParaRPr sz="33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88000"/>
            <a:ext cx="10080000" cy="28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/>
              <a:t>重点不是协议细节，而是它对排序机制的实证评价框架：</a:t>
            </a:r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20000" y="1548000"/>
            <a:ext cx="4320000" cy="684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它看什么（机制目标）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0000" y="1548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000"/>
              <a:t>排序权是否更公平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720000" y="2411999"/>
            <a:ext cx="4320000" cy="684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它怎么评价（指标）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0000" y="2411999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集中度 / 交易质量 / revert / 使用行为</a:t>
            </a:r>
            <a:endParaRPr sz="1800"/>
          </a:p>
        </p:txBody>
      </p:sp>
      <p:sp>
        <p:nvSpPr>
          <p:cNvPr id="10" name="Rectangle 9"/>
          <p:cNvSpPr/>
          <p:nvPr/>
        </p:nvSpPr>
        <p:spPr>
          <a:xfrm>
            <a:off x="720000" y="3276000"/>
            <a:ext cx="4320000" cy="684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它发现了什么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20000" y="3276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控制权集中，优先排序不等于高质量执行</a:t>
            </a:r>
            <a:endParaRPr sz="1800"/>
          </a:p>
        </p:txBody>
      </p:sp>
      <p:sp>
        <p:nvSpPr>
          <p:cNvPr id="12" name="Rectangle 11"/>
          <p:cNvSpPr/>
          <p:nvPr/>
        </p:nvSpPr>
        <p:spPr>
          <a:xfrm>
            <a:off x="720000" y="4140000"/>
            <a:ext cx="4320000" cy="684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对我有什么启发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000" y="4140000"/>
            <a:ext cx="5760000" cy="684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/>
              <a:t>仅靠经济拍卖重新分配排序权，不能根本消除 MEV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6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100"/>
              <a:t>重点论文二：Mitigation Survey 给出的防御版图</a:t>
            </a:r>
            <a:endParaRPr sz="31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98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协议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80000" y="1224000"/>
            <a:ext cx="360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假设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0000" y="1224000"/>
            <a:ext cx="198000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适用 L2 单 Sequencer</a:t>
            </a:r>
            <a:endParaRPr sz="13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40000" y="1224000"/>
            <a:ext cx="3060000" cy="306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核心限制</a:t>
            </a:r>
            <a:endParaRPr sz="1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0000" y="1584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620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1"/>
              <a:t>路径</a:t>
            </a:r>
            <a:endParaRPr sz="1400" b="1"/>
          </a:p>
        </p:txBody>
      </p:sp>
      <p:sp>
        <p:nvSpPr>
          <p:cNvPr id="11" name="Rectangle 10"/>
          <p:cNvSpPr/>
          <p:nvPr/>
        </p:nvSpPr>
        <p:spPr>
          <a:xfrm>
            <a:off x="2880000" y="1584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000" y="1620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1"/>
              <a:t>核心思路</a:t>
            </a:r>
            <a:endParaRPr sz="1400" b="1"/>
          </a:p>
        </p:txBody>
      </p:sp>
      <p:sp>
        <p:nvSpPr>
          <p:cNvPr id="13" name="Rectangle 12"/>
          <p:cNvSpPr/>
          <p:nvPr/>
        </p:nvSpPr>
        <p:spPr>
          <a:xfrm>
            <a:off x="6660000" y="1584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6000" y="1620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/>
              <a:t>适用单 Sequencer</a:t>
            </a:r>
            <a:endParaRPr sz="1300" b="1"/>
          </a:p>
        </p:txBody>
      </p:sp>
      <p:sp>
        <p:nvSpPr>
          <p:cNvPr id="15" name="Rectangle 14"/>
          <p:cNvSpPr/>
          <p:nvPr/>
        </p:nvSpPr>
        <p:spPr>
          <a:xfrm>
            <a:off x="8640000" y="1584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6000" y="1620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1"/>
              <a:t>对当前题目的意义</a:t>
            </a:r>
            <a:endParaRPr sz="1400" b="1"/>
          </a:p>
        </p:txBody>
      </p:sp>
      <p:sp>
        <p:nvSpPr>
          <p:cNvPr id="17" name="Rectangle 16"/>
          <p:cNvSpPr/>
          <p:nvPr/>
        </p:nvSpPr>
        <p:spPr>
          <a:xfrm>
            <a:off x="720000" y="2160000"/>
            <a:ext cx="198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2196000"/>
            <a:ext cx="190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公平排序</a:t>
            </a:r>
            <a:endParaRPr sz="1300"/>
          </a:p>
        </p:txBody>
      </p:sp>
      <p:sp>
        <p:nvSpPr>
          <p:cNvPr id="19" name="Rectangle 18"/>
          <p:cNvSpPr/>
          <p:nvPr/>
        </p:nvSpPr>
        <p:spPr>
          <a:xfrm>
            <a:off x="2880000" y="2160000"/>
            <a:ext cx="360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6000" y="2196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排序规则 / 多方协调</a:t>
            </a:r>
            <a:endParaRPr sz="1300"/>
          </a:p>
        </p:txBody>
      </p:sp>
      <p:sp>
        <p:nvSpPr>
          <p:cNvPr id="21" name="Rectangle 20"/>
          <p:cNvSpPr/>
          <p:nvPr/>
        </p:nvSpPr>
        <p:spPr>
          <a:xfrm>
            <a:off x="6660000" y="2160000"/>
            <a:ext cx="198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6000" y="2196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弱</a:t>
            </a:r>
            <a:endParaRPr sz="1300"/>
          </a:p>
        </p:txBody>
      </p:sp>
      <p:sp>
        <p:nvSpPr>
          <p:cNvPr id="23" name="Rectangle 22"/>
          <p:cNvSpPr/>
          <p:nvPr/>
        </p:nvSpPr>
        <p:spPr>
          <a:xfrm>
            <a:off x="8640000" y="2160000"/>
            <a:ext cx="306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6000" y="2196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提供公平性参照，但不完全适配</a:t>
            </a:r>
            <a:endParaRPr sz="1300"/>
          </a:p>
        </p:txBody>
      </p:sp>
      <p:sp>
        <p:nvSpPr>
          <p:cNvPr id="25" name="Rectangle 24"/>
          <p:cNvSpPr/>
          <p:nvPr/>
        </p:nvSpPr>
        <p:spPr>
          <a:xfrm>
            <a:off x="720000" y="2736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2772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隐私 / 加密路径</a:t>
            </a:r>
            <a:endParaRPr sz="1300"/>
          </a:p>
        </p:txBody>
      </p:sp>
      <p:sp>
        <p:nvSpPr>
          <p:cNvPr id="27" name="Rectangle 26"/>
          <p:cNvSpPr/>
          <p:nvPr/>
        </p:nvSpPr>
        <p:spPr>
          <a:xfrm>
            <a:off x="2880000" y="2736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6000" y="2772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限制排序者可见性</a:t>
            </a:r>
            <a:endParaRPr sz="1300"/>
          </a:p>
        </p:txBody>
      </p:sp>
      <p:sp>
        <p:nvSpPr>
          <p:cNvPr id="29" name="Rectangle 28"/>
          <p:cNvSpPr/>
          <p:nvPr/>
        </p:nvSpPr>
        <p:spPr>
          <a:xfrm>
            <a:off x="6660000" y="2736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6000" y="2772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较强</a:t>
            </a:r>
            <a:endParaRPr sz="1300"/>
          </a:p>
        </p:txBody>
      </p:sp>
      <p:sp>
        <p:nvSpPr>
          <p:cNvPr id="31" name="Rectangle 30"/>
          <p:cNvSpPr/>
          <p:nvPr/>
        </p:nvSpPr>
        <p:spPr>
          <a:xfrm>
            <a:off x="8640000" y="2736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76000" y="2772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最可能支撑后续主线</a:t>
            </a:r>
            <a:endParaRPr sz="1300"/>
          </a:p>
        </p:txBody>
      </p:sp>
      <p:sp>
        <p:nvSpPr>
          <p:cNvPr id="33" name="Rectangle 32"/>
          <p:cNvSpPr/>
          <p:nvPr/>
        </p:nvSpPr>
        <p:spPr>
          <a:xfrm>
            <a:off x="720000" y="3312000"/>
            <a:ext cx="198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000" y="3348000"/>
            <a:ext cx="190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合约层保护</a:t>
            </a:r>
            <a:endParaRPr sz="1300"/>
          </a:p>
        </p:txBody>
      </p:sp>
      <p:sp>
        <p:nvSpPr>
          <p:cNvPr id="35" name="Rectangle 34"/>
          <p:cNvSpPr/>
          <p:nvPr/>
        </p:nvSpPr>
        <p:spPr>
          <a:xfrm>
            <a:off x="2880000" y="3312000"/>
            <a:ext cx="360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6000" y="3348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应用层减少前跑空间</a:t>
            </a:r>
            <a:endParaRPr sz="1300"/>
          </a:p>
        </p:txBody>
      </p:sp>
      <p:sp>
        <p:nvSpPr>
          <p:cNvPr id="37" name="Rectangle 36"/>
          <p:cNvSpPr/>
          <p:nvPr/>
        </p:nvSpPr>
        <p:spPr>
          <a:xfrm>
            <a:off x="6660000" y="3312000"/>
            <a:ext cx="198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6000" y="3348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部分</a:t>
            </a:r>
            <a:endParaRPr sz="1300"/>
          </a:p>
        </p:txBody>
      </p:sp>
      <p:sp>
        <p:nvSpPr>
          <p:cNvPr id="39" name="Rectangle 38"/>
          <p:cNvSpPr/>
          <p:nvPr/>
        </p:nvSpPr>
        <p:spPr>
          <a:xfrm>
            <a:off x="8640000" y="3312000"/>
            <a:ext cx="3060000" cy="52200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6000" y="3348000"/>
            <a:ext cx="2988000" cy="4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可参考，但不是主切口</a:t>
            </a:r>
            <a:endParaRPr sz="1300"/>
          </a:p>
        </p:txBody>
      </p:sp>
      <p:sp>
        <p:nvSpPr>
          <p:cNvPr id="41" name="Rectangle 40"/>
          <p:cNvSpPr/>
          <p:nvPr/>
        </p:nvSpPr>
        <p:spPr>
          <a:xfrm>
            <a:off x="720000" y="3888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000" y="3924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PBS / 排序权重构</a:t>
            </a:r>
            <a:endParaRPr sz="1300"/>
          </a:p>
        </p:txBody>
      </p:sp>
      <p:sp>
        <p:nvSpPr>
          <p:cNvPr id="43" name="Rectangle 42"/>
          <p:cNvSpPr/>
          <p:nvPr/>
        </p:nvSpPr>
        <p:spPr>
          <a:xfrm>
            <a:off x="2880000" y="3888000"/>
            <a:ext cx="360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16000" y="3924000"/>
            <a:ext cx="352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重构排序权分配</a:t>
            </a:r>
            <a:endParaRPr sz="1300"/>
          </a:p>
        </p:txBody>
      </p:sp>
      <p:sp>
        <p:nvSpPr>
          <p:cNvPr id="45" name="Rectangle 44"/>
          <p:cNvSpPr/>
          <p:nvPr/>
        </p:nvSpPr>
        <p:spPr>
          <a:xfrm>
            <a:off x="6660000" y="3888000"/>
            <a:ext cx="198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6000" y="3924000"/>
            <a:ext cx="190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部分</a:t>
            </a:r>
            <a:endParaRPr sz="1300"/>
          </a:p>
        </p:txBody>
      </p:sp>
      <p:sp>
        <p:nvSpPr>
          <p:cNvPr id="47" name="Rectangle 46"/>
          <p:cNvSpPr/>
          <p:nvPr/>
        </p:nvSpPr>
        <p:spPr>
          <a:xfrm>
            <a:off x="8640000" y="3888000"/>
            <a:ext cx="3060000" cy="522000"/>
          </a:xfrm>
          <a:prstGeom prst="rect">
            <a:avLst/>
          </a:prstGeom>
          <a:solidFill>
            <a:srgbClr val="F4D9D9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76000" y="3924000"/>
            <a:ext cx="2988000" cy="43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/>
              <a:t>提供系统思路，但不直接处理跨层窗口</a:t>
            </a:r>
            <a:endParaRPr sz="1300"/>
          </a:p>
        </p:txBody>
      </p:sp>
      <p:sp>
        <p:nvSpPr>
          <p:cNvPr id="49" name="Rectangle 48"/>
          <p:cNvSpPr/>
          <p:nvPr/>
        </p:nvSpPr>
        <p:spPr>
          <a:xfrm>
            <a:off x="720000" y="4608000"/>
            <a:ext cx="10620000" cy="576000"/>
          </a:xfrm>
          <a:prstGeom prst="rect">
            <a:avLst/>
          </a:prstGeom>
          <a:solidFill>
            <a:srgbClr val="D6E8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999" y="4644000"/>
            <a:ext cx="10440000" cy="5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1"/>
              <a:t>本周结论：现有方法很多，</a:t>
            </a:r>
            <a:r>
              <a:rPr lang="zh-CN" sz="1400" b="1"/>
              <a:t>我的研究方向</a:t>
            </a:r>
            <a:r>
              <a:rPr sz="1400" b="1"/>
              <a:t>更</a:t>
            </a:r>
            <a:r>
              <a:rPr lang="zh-CN" sz="1400" b="1"/>
              <a:t>偏向</a:t>
            </a:r>
            <a:r>
              <a:rPr sz="1400" b="1"/>
              <a:t>位于 “L2 单 Sequencer + 跨层窗口 + 无可信第三方” 的交叉空白上。</a:t>
            </a:r>
            <a:endParaRPr sz="1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7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300"/>
              <a:t>研究方向进一步确认</a:t>
            </a:r>
            <a:endParaRPr sz="33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872000"/>
            <a:ext cx="3420000" cy="360000"/>
          </a:xfrm>
          <a:prstGeom prst="rect">
            <a:avLst/>
          </a:prstGeom>
          <a:solidFill>
            <a:srgbClr val="9A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研究方向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900"/>
              <a:t>L2 Rollup 场景下的</a:t>
            </a:r>
            <a:endParaRPr sz="1900"/>
          </a:p>
          <a:p>
            <a:r>
              <a:rPr sz="1900"/>
              <a:t>跨层 MEV 防御</a:t>
            </a:r>
            <a:endParaRPr sz="1900"/>
          </a:p>
        </p:txBody>
      </p:sp>
      <p:sp>
        <p:nvSpPr>
          <p:cNvPr id="8" name="Rectangle 7"/>
          <p:cNvSpPr/>
          <p:nvPr/>
        </p:nvSpPr>
        <p:spPr>
          <a:xfrm>
            <a:off x="4500000" y="1872000"/>
            <a:ext cx="3420000" cy="360000"/>
          </a:xfrm>
          <a:prstGeom prst="rect">
            <a:avLst/>
          </a:prstGeom>
          <a:solidFill>
            <a:srgbClr val="A85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题目候选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/>
              <a:t>Blind Commit-Reveal</a:t>
            </a:r>
            <a:endParaRPr sz="1600"/>
          </a:p>
          <a:p>
            <a:r>
              <a:rPr sz="1600"/>
              <a:t>Mitigating Cross-Layer MEV</a:t>
            </a:r>
            <a:endParaRPr sz="1600"/>
          </a:p>
          <a:p>
            <a:r>
              <a:rPr sz="1600"/>
              <a:t>in L2 Rollup Sequencing</a:t>
            </a:r>
            <a:endParaRPr sz="1600"/>
          </a:p>
          <a:p>
            <a:r>
              <a:rPr lang="zh-CN" altLang="en-US" sz="1600"/>
              <a:t>盲提交揭示协议：面向 </a:t>
            </a:r>
            <a:r>
              <a:rPr lang="en-US" altLang="zh-CN" sz="1600"/>
              <a:t>L2 Rollup </a:t>
            </a:r>
            <a:r>
              <a:rPr lang="zh-CN" altLang="en-US" sz="1600"/>
              <a:t>跨层 </a:t>
            </a:r>
            <a:r>
              <a:rPr lang="en-US" altLang="zh-CN" sz="1600"/>
              <a:t>MEV </a:t>
            </a:r>
            <a:r>
              <a:rPr lang="zh-CN" altLang="en-US" sz="1600"/>
              <a:t>的密码学缓解机制</a:t>
            </a:r>
            <a:endParaRPr lang="zh-CN" altLang="en-US" sz="1600"/>
          </a:p>
        </p:txBody>
      </p:sp>
      <p:sp>
        <p:nvSpPr>
          <p:cNvPr id="10" name="Rectangle 9"/>
          <p:cNvSpPr/>
          <p:nvPr/>
        </p:nvSpPr>
        <p:spPr>
          <a:xfrm>
            <a:off x="8280000" y="1872000"/>
            <a:ext cx="3420000" cy="360000"/>
          </a:xfrm>
          <a:prstGeom prst="rect">
            <a:avLst/>
          </a:prstGeom>
          <a:solidFill>
            <a:srgbClr val="5A3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确认依据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80000" y="2268000"/>
            <a:ext cx="3420000" cy="136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700"/>
              <a:t>量化研究充足</a:t>
            </a:r>
            <a:endParaRPr sz="1700"/>
          </a:p>
          <a:p>
            <a:r>
              <a:rPr sz="1700"/>
              <a:t>公平排序不完全适配</a:t>
            </a:r>
            <a:endParaRPr sz="1700"/>
          </a:p>
          <a:p>
            <a:r>
              <a:rPr sz="1700"/>
              <a:t>经济路径不足</a:t>
            </a:r>
            <a:endParaRPr sz="1700"/>
          </a:p>
          <a:p>
            <a:r>
              <a:rPr sz="1700"/>
              <a:t>密码学路径更值得推进</a:t>
            </a:r>
            <a:endParaRPr sz="1700"/>
          </a:p>
        </p:txBody>
      </p:sp>
      <p:sp>
        <p:nvSpPr>
          <p:cNvPr id="12" name="Rectangle 11"/>
          <p:cNvSpPr/>
          <p:nvPr/>
        </p:nvSpPr>
        <p:spPr>
          <a:xfrm>
            <a:off x="720000" y="3960000"/>
            <a:ext cx="10620000" cy="720000"/>
          </a:xfrm>
          <a:prstGeom prst="rect">
            <a:avLst/>
          </a:prstGeom>
          <a:solidFill>
            <a:srgbClr val="F4D9D9"/>
          </a:solidFill>
          <a:ln w="19050">
            <a:solidFill>
              <a:srgbClr val="9A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3996000"/>
            <a:ext cx="10440000" cy="648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1"/>
              <a:t>当前收敛结果：题目已基本明确，方向聚焦于跨层 MEV 的密码学缓解路径。</a:t>
            </a:r>
            <a:endParaRPr sz="1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5200" y="255600"/>
            <a:ext cx="687600" cy="20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第 10 页</a:t>
            </a:r>
            <a:endParaRPr sz="1000" b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5200" y="475200"/>
            <a:ext cx="10515600" cy="52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400"/>
              <a:t>本周学习体会 + 下周科研计划【限 1 页】</a:t>
            </a:r>
            <a:endParaRPr sz="3400"/>
          </a:p>
        </p:txBody>
      </p:sp>
      <p:sp>
        <p:nvSpPr>
          <p:cNvPr id="4" name="Rectangle 3"/>
          <p:cNvSpPr/>
          <p:nvPr/>
        </p:nvSpPr>
        <p:spPr>
          <a:xfrm>
            <a:off x="565200" y="1026000"/>
            <a:ext cx="10515600" cy="18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0000" y="1224000"/>
            <a:ext cx="10440000" cy="306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400" b="1">
                <a:solidFill>
                  <a:srgbClr val="FFFFFF"/>
                </a:solidFill>
              </a:rPr>
              <a:t>本周学习体会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000" y="1536192"/>
            <a:ext cx="10440000" cy="2148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Aft>
                <a:spcPts val="300"/>
              </a:spcAft>
            </a:pP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1800"/>
              <a:t>1 </a:t>
            </a:r>
            <a:r>
              <a:rPr sz="1800"/>
              <a:t> 一篇好的相关论文，不只是提供结论，更重要的是提供问题框架和判断标准。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1800"/>
              <a:t>2</a:t>
            </a:r>
            <a:r>
              <a:rPr sz="1800"/>
              <a:t>. 题目确认不能只看新颖性，还要看它是否真正落在现有工作的空白交叉处。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1800"/>
              <a:t>3</a:t>
            </a:r>
            <a:r>
              <a:rPr sz="1800"/>
              <a:t>. 当前阶段最重要的研究方向</a:t>
            </a:r>
            <a:r>
              <a:rPr lang="zh-CN" sz="1800"/>
              <a:t>弄</a:t>
            </a:r>
            <a:r>
              <a:rPr sz="1800"/>
              <a:t>清楚，而不是过早进入实现细节。</a:t>
            </a:r>
            <a:endParaRPr sz="1800"/>
          </a:p>
        </p:txBody>
      </p:sp>
      <p:sp>
        <p:nvSpPr>
          <p:cNvPr id="7" name="Rectangle 6"/>
          <p:cNvSpPr/>
          <p:nvPr/>
        </p:nvSpPr>
        <p:spPr>
          <a:xfrm>
            <a:off x="720000" y="3931920"/>
            <a:ext cx="10440000" cy="3060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sz="2400" b="1">
                <a:solidFill>
                  <a:srgbClr val="FFFFFF"/>
                </a:solidFill>
              </a:rPr>
              <a:t>下周科研计划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0000" y="4297680"/>
            <a:ext cx="104400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800"/>
              <a:t>1. 继续完善题目对应的问题定义与系统假设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1800"/>
              <a:t>2</a:t>
            </a:r>
            <a:r>
              <a:rPr sz="1800"/>
              <a:t>. 进一步</a:t>
            </a:r>
            <a:r>
              <a:rPr lang="zh-CN" sz="1800"/>
              <a:t>细化</a:t>
            </a:r>
            <a:r>
              <a:rPr sz="1800"/>
              <a:t>研究问题、威胁模型和预期贡献</a:t>
            </a:r>
            <a:endParaRPr sz="1800"/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lang="en-US" sz="1800"/>
              <a:t>3</a:t>
            </a:r>
            <a:r>
              <a:rPr sz="1800"/>
              <a:t>考虑后续实现与验证路线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00" y="9000"/>
            <a:ext cx="12171600" cy="702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0" y="6219000"/>
            <a:ext cx="12171600" cy="621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" y="729000"/>
            <a:ext cx="162000" cy="5499000"/>
          </a:xfrm>
          <a:prstGeom prst="rect">
            <a:avLst/>
          </a:prstGeom>
          <a:solidFill>
            <a:srgbClr val="1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"/>
            <a:ext cx="72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实验室组会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000"/>
              <a:t>谢谢，敬请批评指正！</a:t>
            </a:r>
            <a:endParaRPr sz="3000"/>
          </a:p>
        </p:txBody>
      </p:sp>
      <p:sp>
        <p:nvSpPr>
          <p:cNvPr id="7" name="TextBox 6"/>
          <p:cNvSpPr txBox="1"/>
          <p:nvPr/>
        </p:nvSpPr>
        <p:spPr>
          <a:xfrm>
            <a:off x="540000" y="3168000"/>
            <a:ext cx="108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00">
                <a:solidFill>
                  <a:srgbClr val="2E6DB4"/>
                </a:solidFill>
              </a:rPr>
              <a:t>Q &amp; A</a:t>
            </a:r>
            <a:endParaRPr sz="2800">
              <a:solidFill>
                <a:srgbClr val="2E6DB4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80000" y="4031999"/>
            <a:ext cx="6120000" cy="28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4248000"/>
            <a:ext cx="10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>
                <a:solidFill>
                  <a:srgbClr val="666666"/>
                </a:solidFill>
              </a:rPr>
              <a:t>汇报人：杨帆  ·  2026.07.10</a:t>
            </a:r>
            <a:endParaRPr sz="1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</Words>
  <Application>WPS 文字</Application>
  <PresentationFormat>On-screen Show (4:3)</PresentationFormat>
  <Paragraphs>176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杨帆</cp:lastModifiedBy>
  <cp:revision>9</cp:revision>
  <dcterms:created xsi:type="dcterms:W3CDTF">2026-07-09T11:26:14Z</dcterms:created>
  <dcterms:modified xsi:type="dcterms:W3CDTF">2026-07-09T11:26:14Z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C8D8FA6056141780E649466A721128A9_42</vt:lpwstr>
  </property>
</Properties>
</file>