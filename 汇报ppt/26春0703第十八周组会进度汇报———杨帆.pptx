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218946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" y="9000"/>
            <a:ext cx="12171600" cy="702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" y="6219000"/>
            <a:ext cx="12171600" cy="621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" y="729000"/>
            <a:ext cx="162000" cy="5499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111111"/>
                </a:solidFill>
                <a:latin typeface="微软雅黑"/>
              </a:rPr>
              <a:t>第十八周组会汇报</a:t>
            </a:r>
            <a:endParaRPr sz="4400" b="1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0000" y="2880000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0">
                <a:solidFill>
                  <a:srgbClr val="111111"/>
                </a:solidFill>
                <a:latin typeface="微软雅黑"/>
              </a:rPr>
              <a:t>汇报人：杨帆</a:t>
            </a:r>
            <a:endParaRPr sz="2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000" y="3311999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500" b="0">
                <a:solidFill>
                  <a:srgbClr val="111111"/>
                </a:solidFill>
                <a:latin typeface="微软雅黑"/>
              </a:rPr>
              <a:t>日期：2026.07.0</a:t>
            </a:r>
            <a:r>
              <a:rPr lang="en-US" sz="2500" b="0">
                <a:solidFill>
                  <a:srgbClr val="111111"/>
                </a:solidFill>
                <a:latin typeface="微软雅黑"/>
              </a:rPr>
              <a:t>3</a:t>
            </a:r>
            <a:endParaRPr lang="en-US" sz="2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实验室组会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2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主要任务【限 1 页】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224000"/>
            <a:ext cx="10440000" cy="306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中长期目标</a:t>
            </a:r>
            <a:endParaRPr sz="2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1584000"/>
            <a:ext cx="1044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111111"/>
                </a:solidFill>
                <a:latin typeface="微软雅黑"/>
              </a:rPr>
              <a:t>围绕 L2 Rollup 跨层 MEV 防御，研究如何在无需可信第三方的前提下，
通过密码学机制保护用户交易免受 Sequencer 的排序操纵。</a:t>
            </a:r>
            <a:endParaRPr sz="24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2321975"/>
            <a:ext cx="10440000" cy="306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本周完成的任务</a:t>
            </a:r>
            <a:endParaRPr sz="2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2628000"/>
            <a:ext cx="10440000" cy="1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111111"/>
                </a:solidFill>
                <a:latin typeface="微软雅黑"/>
              </a:rPr>
              <a:t>1. 开启新研究方向探索
2. 围绕 MEV 防御主题，收集并分类整理 20 篇相关文献
   （涵盖 MEV量化 / 跨域MEV / 公平排序协议 / 防御机制 四个方向）
3. 基于文献分类与摘要概览，</a:t>
            </a:r>
            <a:r>
              <a:rPr lang="zh-CN" sz="2400" b="0">
                <a:solidFill>
                  <a:srgbClr val="111111"/>
                </a:solidFill>
                <a:latin typeface="微软雅黑"/>
              </a:rPr>
              <a:t>得到目前研究的空白</a:t>
            </a:r>
            <a:r>
              <a:rPr sz="2400" b="0">
                <a:solidFill>
                  <a:srgbClr val="111111"/>
                </a:solidFill>
                <a:latin typeface="微软雅黑"/>
              </a:rPr>
              <a:t>
</a:t>
            </a:r>
            <a:endParaRPr sz="2400" b="0">
              <a:solidFill>
                <a:srgbClr val="11111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3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研究方向转型背景：从论文阅读到研究切入点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152000"/>
            <a:ext cx="10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666666"/>
                </a:solidFill>
                <a:latin typeface="微软雅黑"/>
              </a:rPr>
              <a:t>前几周持续阅读 MEV 相关论文，发现一个共同规律：</a:t>
            </a:r>
            <a:endParaRPr sz="2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512000"/>
            <a:ext cx="3420000" cy="251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第15周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000" y="1835999"/>
            <a:ext cx="34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6B"/>
                </a:solidFill>
                <a:latin typeface="微软雅黑"/>
              </a:rPr>
              <a:t>Rolling in the Shadows</a:t>
            </a:r>
            <a:endParaRPr sz="1800" b="1">
              <a:solidFill>
                <a:srgbClr val="1B3A6B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2160000"/>
            <a:ext cx="342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11111"/>
                </a:solidFill>
                <a:latin typeface="微软雅黑"/>
              </a:rPr>
              <a:t>L2 中 MEV 没有消失
暴露位置发生变化</a:t>
            </a:r>
            <a:endParaRPr sz="20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00000" y="1512000"/>
            <a:ext cx="3420000" cy="251999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第16周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0000" y="1835999"/>
            <a:ext cx="34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E6DB4"/>
                </a:solidFill>
                <a:latin typeface="微软雅黑"/>
              </a:rPr>
              <a:t>Flash Boys 2.0</a:t>
            </a:r>
            <a:endParaRPr sz="1800" b="1">
              <a:solidFill>
                <a:srgbClr val="2E6DB4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00000" y="2160000"/>
            <a:ext cx="342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11111"/>
                </a:solidFill>
                <a:latin typeface="微软雅黑"/>
              </a:rPr>
              <a:t>MEV 是排序权的经济化
影响共识安全</a:t>
            </a:r>
            <a:endParaRPr sz="20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80000" y="1512000"/>
            <a:ext cx="3420000" cy="251999"/>
          </a:xfrm>
          <a:prstGeom prst="rect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第17周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80000" y="1835999"/>
            <a:ext cx="34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A90C4"/>
                </a:solidFill>
                <a:latin typeface="微软雅黑"/>
              </a:rPr>
              <a:t>BEV 量化论文</a:t>
            </a:r>
            <a:endParaRPr sz="1800" b="1">
              <a:solidFill>
                <a:srgbClr val="4A90C4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0000" y="2160000"/>
            <a:ext cx="342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11111"/>
                </a:solidFill>
                <a:latin typeface="微软雅黑"/>
              </a:rPr>
              <a:t>32个月损失 5.4亿 USD
大规模可量化现象</a:t>
            </a:r>
            <a:endParaRPr sz="20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20000" y="2988000"/>
            <a:ext cx="28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666666"/>
                </a:solidFill>
                <a:latin typeface="微软雅黑"/>
              </a:rPr>
              <a:t>↓  共同发现</a:t>
            </a:r>
            <a:endParaRPr sz="2200" b="1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80000" y="3348000"/>
            <a:ext cx="9720000" cy="1005840"/>
          </a:xfrm>
          <a:prstGeom prst="rect">
            <a:avLst/>
          </a:prstGeom>
          <a:solidFill>
            <a:srgbClr val="D6E4F0"/>
          </a:solidFill>
          <a:ln w="19050">
            <a:solidFill>
              <a:srgbClr val="1F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000" y="3420000"/>
            <a:ext cx="9540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B3A6B"/>
                </a:solidFill>
                <a:latin typeface="微软雅黑"/>
              </a:rPr>
              <a:t>这些论文系统量化了 MEV 的规模与危害，但均未给出有效的防御方案</a:t>
            </a:r>
            <a:endParaRPr sz="1700" b="1">
              <a:solidFill>
                <a:srgbClr val="1B3A6B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8000" y="3858768"/>
            <a:ext cx="95400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微软雅黑"/>
              </a:rPr>
              <a:t>「研究空白」就是切入点 →  MEV 防御机制，尤其是 L2 跨层场景</a:t>
            </a:r>
            <a:endParaRPr sz="1500" b="0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4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文献调研概览：20篇论文 · 4个方向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152000"/>
            <a:ext cx="104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666666"/>
                </a:solidFill>
                <a:latin typeface="微软雅黑"/>
              </a:rPr>
              <a:t>围绕 MEV 防御主题，系统收集并分类整理 20 篇相关文献</a:t>
            </a:r>
            <a:endParaRPr sz="2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00" y="1548000"/>
            <a:ext cx="2700000" cy="2700000"/>
          </a:xfrm>
          <a:prstGeom prst="rect">
            <a:avLst/>
          </a:prstGeom>
          <a:solidFill>
            <a:srgbClr val="F4D9D9"/>
          </a:solidFill>
          <a:ln w="15240">
            <a:solidFill>
              <a:srgbClr val="9A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548000"/>
            <a:ext cx="2700000" cy="396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🔴  MEV 基础量化（5篇）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Flash Boys 2.0 / BEV量化 / Clockwork Finance
Theory MEV I &amp; II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56000" y="1548000"/>
            <a:ext cx="2700000" cy="2700000"/>
          </a:xfrm>
          <a:prstGeom prst="rect">
            <a:avLst/>
          </a:prstGeom>
          <a:solidFill>
            <a:srgbClr val="F8ECD7"/>
          </a:solidFill>
          <a:ln w="15240">
            <a:solidFill>
              <a:srgbClr val="A8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000" y="1548000"/>
            <a:ext cx="2700000" cy="396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🟠  跨域 MEV 与防御（5篇）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7999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SoK Evolution（2026最新）/ Arbitrum Timeboost
DTSS / MEV缓解综述 / 网络公平性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36000" y="1548000"/>
            <a:ext cx="2700000" cy="2700000"/>
          </a:xfrm>
          <a:prstGeom prst="rect">
            <a:avLst/>
          </a:prstGeom>
          <a:solidFill>
            <a:srgbClr val="FBF3D0"/>
          </a:solidFill>
          <a:ln w="15240">
            <a:solidFill>
              <a:srgbClr val="C0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000" y="1548000"/>
            <a:ext cx="2700000" cy="396000"/>
          </a:xfrm>
          <a:prstGeom prst="rect">
            <a:avLst/>
          </a:prstGeom>
          <a:solidFill>
            <a:srgbClr val="C0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🟡  公平排序协议（5篇）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Aequitas / QOF / Wendy
SoK Fair Ordering / QOF实现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216000" y="1548000"/>
            <a:ext cx="2700000" cy="2700000"/>
          </a:xfrm>
          <a:prstGeom prst="rect">
            <a:avLst/>
          </a:prstGeom>
          <a:solidFill>
            <a:srgbClr val="D9EADD"/>
          </a:solidFill>
          <a:ln w="1524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16000" y="1548000"/>
            <a:ext cx="2700000" cy="396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🟢  最新进展（5篇）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8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Tilikum / FairDAG / Herring（均2025年）
SoK DeFi / AMM套利理论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5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文献关键发现一：现有研究只量化，不防御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88000"/>
            <a:ext cx="100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666666"/>
                </a:solidFill>
                <a:latin typeface="微软雅黑"/>
              </a:rPr>
              <a:t>20篇量化/理论论文的共同局限：</a:t>
            </a:r>
            <a:endParaRPr sz="2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548000"/>
            <a:ext cx="4320000" cy="684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Flash Boys 2.0（2019）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0000" y="1548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明确写道"有效缓解措施尚未出现"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0000" y="2411999"/>
            <a:ext cx="4320000" cy="684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BEV 量化论文（2021）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20000" y="2411999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分析了 Relay 危害，但未给出替代方案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000" y="3276000"/>
            <a:ext cx="4320000" cy="684000"/>
          </a:xfrm>
          <a:prstGeom prst="rect">
            <a:avLst/>
          </a:prstGeom>
          <a:solidFill>
            <a:srgbClr val="5A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Clockwork Finance（2023）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20000" y="3276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纯分析工具，完全不涉及防御设计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0000" y="4140000"/>
            <a:ext cx="4320000" cy="684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Theory MEV I / II（2022/23）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0000" y="4140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聚焦攻击最优化，明确不涉及防御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6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文献关键发现二：公平排序协议对 L2 无效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224000"/>
            <a:ext cx="1980000" cy="30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协议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80000" y="1224000"/>
            <a:ext cx="3600000" cy="30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假设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60000" y="1224000"/>
            <a:ext cx="19800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适用 L2 单 Sequencer</a:t>
            </a:r>
            <a:endParaRPr sz="13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40000" y="1224000"/>
            <a:ext cx="3060000" cy="30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核心限制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0000" y="1584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620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Aequitas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80000" y="1584000"/>
            <a:ext cx="360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000" y="1620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n 个独立节点投票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60000" y="1584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6000" y="1620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9A2E2E"/>
                </a:solidFill>
                <a:latin typeface="微软雅黑"/>
              </a:rPr>
              <a:t>❌</a:t>
            </a:r>
            <a:endParaRPr sz="1900" b="0">
              <a:solidFill>
                <a:srgbClr val="9A2E2E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40000" y="1584000"/>
            <a:ext cx="306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6000" y="1620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O(n⁴) 通信复杂度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0000" y="2160000"/>
            <a:ext cx="198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2196000"/>
            <a:ext cx="190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微软雅黑"/>
              </a:rPr>
              <a:t>Quick Order Fairness</a:t>
            </a:r>
            <a:endParaRPr sz="13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80000" y="2160000"/>
            <a:ext cx="360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000" y="2196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n 个独立节点投票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0000" y="2160000"/>
            <a:ext cx="198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6000" y="2196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9A2E2E"/>
                </a:solidFill>
                <a:latin typeface="微软雅黑"/>
              </a:rPr>
              <a:t>❌</a:t>
            </a:r>
            <a:endParaRPr sz="1900" b="0">
              <a:solidFill>
                <a:srgbClr val="9A2E2E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40000" y="2160000"/>
            <a:ext cx="306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6000" y="2196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与并行执行不兼容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0000" y="2736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2772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Wendy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80000" y="2736000"/>
            <a:ext cx="360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6000" y="2772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n 个独立节点投票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660000" y="2736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6000" y="2772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9A2E2E"/>
                </a:solidFill>
                <a:latin typeface="微软雅黑"/>
              </a:rPr>
              <a:t>❌</a:t>
            </a:r>
            <a:endParaRPr sz="1900" b="0">
              <a:solidFill>
                <a:srgbClr val="9A2E2E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40000" y="2736000"/>
            <a:ext cx="306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76000" y="2772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随机委员会集成未解决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0000" y="3312000"/>
            <a:ext cx="198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000" y="3348000"/>
            <a:ext cx="190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微软雅黑"/>
              </a:rPr>
              <a:t>SoK Fair Ordering</a:t>
            </a:r>
            <a:endParaRPr sz="13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000" y="3312000"/>
            <a:ext cx="360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6000" y="3348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多节点 BFT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60000" y="3312000"/>
            <a:ext cx="198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6000" y="334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9A2E2E"/>
                </a:solidFill>
                <a:latin typeface="微软雅黑"/>
              </a:rPr>
              <a:t>❌</a:t>
            </a:r>
            <a:endParaRPr sz="1900" b="0">
              <a:solidFill>
                <a:srgbClr val="9A2E2E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640000" y="3312000"/>
            <a:ext cx="306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76000" y="3348000"/>
            <a:ext cx="2988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微软雅黑"/>
              </a:rPr>
              <a:t>明确排除 L2 单 Sequencer</a:t>
            </a:r>
            <a:endParaRPr sz="13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20000" y="3888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000" y="3924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QOF 实现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80000" y="3888000"/>
            <a:ext cx="360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16000" y="3924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已知验证者集合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60000" y="3888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6000" y="3924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9A2E2E"/>
                </a:solidFill>
                <a:latin typeface="微软雅黑"/>
              </a:rPr>
              <a:t>❌</a:t>
            </a:r>
            <a:endParaRPr sz="1900" b="0">
              <a:solidFill>
                <a:srgbClr val="9A2E2E"/>
              </a:solidFill>
              <a:latin typeface="微软雅黑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640000" y="3888000"/>
            <a:ext cx="306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76000" y="3924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111111"/>
                </a:solidFill>
                <a:latin typeface="微软雅黑"/>
              </a:rPr>
              <a:t>网络延迟敏感</a:t>
            </a:r>
            <a:endParaRPr sz="19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20000" y="4608000"/>
            <a:ext cx="10620000" cy="576000"/>
          </a:xfrm>
          <a:prstGeom prst="rect">
            <a:avLst/>
          </a:prstGeom>
          <a:solidFill>
            <a:srgbClr val="D6E8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999" y="4644000"/>
            <a:ext cx="104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B3A6B"/>
                </a:solidFill>
                <a:latin typeface="微软雅黑"/>
              </a:rPr>
              <a:t>根本原因：单一 Sequencer 是“信任问题”，不是“协调问题”
公平排序协议解决多方协调，对中心化 Sequencer 完全失效</a:t>
            </a:r>
            <a:endParaRPr sz="1400" b="1">
              <a:solidFill>
                <a:srgbClr val="1B3A6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7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文献关键发现三：经济激励方案已被实证证明失败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88000"/>
            <a:ext cx="1044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666666"/>
                </a:solidFill>
                <a:latin typeface="微软雅黑"/>
              </a:rPr>
              <a:t>Arbitrum Timeboost（2025年9月，arXiv:2509.22143）
覆盖 1,160万条交易 + 15万次拍卖的全量实证研究</a:t>
            </a:r>
            <a:endParaRPr sz="2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872000"/>
            <a:ext cx="3420000" cy="360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市场垄断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Selini Capital 59.92%
Wintermute    32.10%
→ 两家机构垄断 &gt; 90%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00000" y="1872000"/>
            <a:ext cx="3420000" cy="360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交易质量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21.75% 的交易最终 revert
归一化位置中位数 45.7%
（并非头部，设计失效）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80000" y="1872000"/>
            <a:ext cx="3420000" cy="360000"/>
          </a:xfrm>
          <a:prstGeom prst="rect">
            <a:avLst/>
          </a:prstGeom>
          <a:solidFill>
            <a:srgbClr val="5A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MEV 结果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8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~94% 排序权用于 CEX-DEX 套利
MEV 没有减少
只是换了受益人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0000" y="3960000"/>
            <a:ext cx="10620000" cy="720000"/>
          </a:xfrm>
          <a:prstGeom prst="rect">
            <a:avLst/>
          </a:prstGeom>
          <a:solidFill>
            <a:srgbClr val="F4D9D9"/>
          </a:solidFill>
          <a:ln w="19050">
            <a:solidFill>
              <a:srgbClr val="9A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3996000"/>
            <a:ext cx="1044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300" b="1">
                <a:solidFill>
                  <a:srgbClr val="9A2E2E"/>
                </a:solidFill>
                <a:latin typeface="微软雅黑"/>
              </a:rPr>
              <a:t>结论：用经济拍卖分配排序权，只是把 MEV 换了受益人
→ 经济路径已证行不通，必须走密码学路径</a:t>
            </a:r>
            <a:endParaRPr sz="2300" b="1">
              <a:solidFill>
                <a:srgbClr val="9A2E2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10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500" b="0">
                <a:solidFill>
                  <a:srgbClr val="111111"/>
                </a:solidFill>
                <a:latin typeface="微软雅黑"/>
              </a:rPr>
              <a:t>本周学习体会 + 下周科研计划【限 1 页】</a:t>
            </a:r>
            <a:endParaRPr sz="35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224000"/>
            <a:ext cx="10440000" cy="306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本周学习体会</a:t>
            </a:r>
            <a:endParaRPr sz="2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1536192"/>
            <a:ext cx="10440000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2100" b="0">
                <a:solidFill>
                  <a:srgbClr val="111111"/>
                </a:solidFill>
                <a:latin typeface="微软雅黑"/>
              </a:rPr>
              <a:t>通过整理 2相关论文，我逐渐看清了该方向的研究脉络：</a:t>
            </a:r>
            <a:endParaRPr lang="zh-CN" altLang="en-US" sz="2100" b="0">
              <a:solidFill>
                <a:srgbClr val="111111"/>
              </a:solidFill>
              <a:latin typeface="微软雅黑"/>
            </a:endParaRPr>
          </a:p>
          <a:p>
            <a:pPr algn="l"/>
            <a:r>
              <a:rPr lang="zh-CN" altLang="en-US" sz="2100" b="0">
                <a:solidFill>
                  <a:srgbClr val="111111"/>
                </a:solidFill>
                <a:latin typeface="微软雅黑"/>
              </a:rPr>
              <a:t>已有工作主要集中在 </a:t>
            </a:r>
            <a:r>
              <a:rPr lang="en-US" altLang="zh-CN" sz="2100" b="0">
                <a:solidFill>
                  <a:srgbClr val="111111"/>
                </a:solidFill>
                <a:latin typeface="微软雅黑"/>
              </a:rPr>
              <a:t>MEV </a:t>
            </a:r>
            <a:r>
              <a:rPr lang="zh-CN" altLang="en-US" sz="2100" b="0">
                <a:solidFill>
                  <a:srgbClr val="111111"/>
                </a:solidFill>
                <a:latin typeface="微软雅黑"/>
              </a:rPr>
              <a:t>量化、公平排序和经济激励机制上，而针对 </a:t>
            </a:r>
            <a:r>
              <a:rPr lang="en-US" altLang="zh-CN" sz="2100" b="0">
                <a:solidFill>
                  <a:srgbClr val="111111"/>
                </a:solidFill>
                <a:latin typeface="微软雅黑"/>
              </a:rPr>
              <a:t>L2 </a:t>
            </a:r>
            <a:r>
              <a:rPr lang="zh-CN" altLang="en-US" sz="2100" b="0">
                <a:solidFill>
                  <a:srgbClr val="111111"/>
                </a:solidFill>
                <a:latin typeface="微软雅黑"/>
              </a:rPr>
              <a:t>单 </a:t>
            </a:r>
            <a:r>
              <a:rPr lang="en-US" altLang="zh-CN" sz="2100" b="0">
                <a:solidFill>
                  <a:srgbClr val="111111"/>
                </a:solidFill>
                <a:latin typeface="微软雅黑"/>
              </a:rPr>
              <a:t>Sequencer </a:t>
            </a:r>
            <a:r>
              <a:rPr lang="zh-CN" altLang="en-US" sz="2100" b="0">
                <a:solidFill>
                  <a:srgbClr val="111111"/>
                </a:solidFill>
                <a:latin typeface="微软雅黑"/>
              </a:rPr>
              <a:t>的跨层 </a:t>
            </a:r>
            <a:r>
              <a:rPr lang="en-US" altLang="zh-CN" sz="2100" b="0">
                <a:solidFill>
                  <a:srgbClr val="111111"/>
                </a:solidFill>
                <a:latin typeface="微软雅黑"/>
              </a:rPr>
              <a:t>MEV </a:t>
            </a:r>
            <a:r>
              <a:rPr lang="zh-CN" altLang="en-US" sz="2100" b="0">
                <a:solidFill>
                  <a:srgbClr val="111111"/>
                </a:solidFill>
                <a:latin typeface="微软雅黑"/>
              </a:rPr>
              <a:t>防御仍然不足。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3931920"/>
            <a:ext cx="10440000" cy="306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下周科研计划</a:t>
            </a:r>
            <a:endParaRPr sz="2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4297680"/>
            <a:ext cx="10440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0">
                <a:solidFill>
                  <a:srgbClr val="111111"/>
                </a:solidFill>
                <a:latin typeface="微软雅黑"/>
              </a:rPr>
              <a:t>1. </a:t>
            </a:r>
            <a:r>
              <a:rPr lang="zh-CN" sz="2100" b="0">
                <a:solidFill>
                  <a:srgbClr val="111111"/>
                </a:solidFill>
                <a:latin typeface="微软雅黑"/>
              </a:rPr>
              <a:t>确认具体</a:t>
            </a:r>
            <a:r>
              <a:rPr lang="zh-CN" sz="2100" b="0">
                <a:solidFill>
                  <a:srgbClr val="111111"/>
                </a:solidFill>
                <a:latin typeface="微软雅黑"/>
              </a:rPr>
              <a:t>的研究方向</a:t>
            </a:r>
            <a:r>
              <a:rPr sz="2100" b="0">
                <a:solidFill>
                  <a:srgbClr val="111111"/>
                </a:solidFill>
                <a:latin typeface="微软雅黑"/>
              </a:rPr>
              <a:t>
2. 精读重点论文（2 篇）
   • 07_Arbitrum_Timeboost：参考实验设计
   • 14_MEV_Mitigation_Survey：参考 Related Work 框架</a:t>
            </a:r>
            <a:endParaRPr sz="2100" b="0">
              <a:solidFill>
                <a:srgbClr val="11111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" y="9000"/>
            <a:ext cx="12171600" cy="702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" y="6219000"/>
            <a:ext cx="12171600" cy="621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" y="729000"/>
            <a:ext cx="162000" cy="5499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实验室组会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0000" y="216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111111"/>
                </a:solidFill>
                <a:latin typeface="微软雅黑"/>
              </a:rPr>
              <a:t>谢谢，敬请批评指正！</a:t>
            </a:r>
            <a:endParaRPr sz="4400" b="1">
              <a:solidFill>
                <a:srgbClr val="111111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000" y="3168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0">
                <a:solidFill>
                  <a:srgbClr val="1F5B99"/>
                </a:solidFill>
                <a:latin typeface="微软雅黑"/>
              </a:rPr>
              <a:t>Q &amp; A</a:t>
            </a:r>
            <a:endParaRPr sz="4000" b="0">
              <a:solidFill>
                <a:srgbClr val="1F5B99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80000" y="4031999"/>
            <a:ext cx="6120000" cy="28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4248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666666"/>
                </a:solidFill>
                <a:latin typeface="微软雅黑"/>
              </a:rPr>
              <a:t>汇报人：杨帆  ·  2026.07.0</a:t>
            </a:r>
            <a:r>
              <a:rPr lang="en-US" sz="2000" b="0">
                <a:solidFill>
                  <a:srgbClr val="666666"/>
                </a:solidFill>
                <a:latin typeface="微软雅黑"/>
              </a:rPr>
              <a:t>3</a:t>
            </a:r>
            <a:endParaRPr lang="en-US" sz="2000" b="0">
              <a:solidFill>
                <a:srgbClr val="666666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1882</Words>
  <Application>WPS 演示</Application>
  <PresentationFormat>On-screen Show (4:3)</PresentationFormat>
  <Paragraphs>189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杨帆</cp:lastModifiedBy>
  <cp:revision>4</cp:revision>
  <dcterms:created xsi:type="dcterms:W3CDTF">2026-07-02T11:44:23Z</dcterms:created>
  <dcterms:modified xsi:type="dcterms:W3CDTF">2026-07-02T11:44:23Z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C8D8FA6056141780E649466A721128A9_42</vt:lpwstr>
  </property>
</Properties>
</file>