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</p:sldIdLst>
  <p:sldSz cx="12192000" cy="6858000"/>
  <p:notesSz cx="6858000" cy="9144000"/>
  <p:custDataLst>
    <p:tags r:id="rId15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38200" y="8763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【第十六周组会汇报】</a:t>
            </a:r>
            <a:endParaRPr sz="2250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17145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Hybrid TEE-Rollup 论文终版实现</a:t>
            </a:r>
            <a:endParaRPr sz="345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34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345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417195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汇报人：杨帆</a:t>
            </a:r>
            <a:endParaRPr sz="1650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2026.06.16</a:t>
            </a:r>
            <a:endParaRPr sz="1650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686800" y="381000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MEV 阅读</a:t>
            </a:r>
            <a:endParaRPr sz="11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266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主要任务</a:t>
            </a:r>
            <a:endParaRPr sz="1875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80975" y="666750"/>
            <a:ext cx="118300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0960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668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主要任务【限 1 页】</a:t>
            </a:r>
            <a:endParaRPr sz="225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1695450"/>
            <a:ext cx="10287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1695450"/>
            <a:ext cx="57150" cy="9144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186690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中长期目标</a:t>
            </a:r>
            <a:endParaRPr sz="1575" b="1" i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247900"/>
            <a:ext cx="9848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围绕高频 DApp 场景，研究如何在低链上开销下保持异常路径可验证、可恢复、可仲裁。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81050" y="297180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304800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09800" y="2914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论文终稿实现</a:t>
            </a:r>
            <a:endParaRPr sz="1650" b="1" i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05300" y="29337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完成英文摘要、章节合并、引用位置、参考文献格式和预告语删除。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81050" y="371475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12B3C7"/>
          </a:solidFill>
          <a:ln w="9525">
            <a:solidFill>
              <a:srgbClr val="12B3C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95350" y="379095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09800" y="3657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2B3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12B3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前后版本收束</a:t>
            </a:r>
            <a:endParaRPr sz="1650" b="1" i="0">
              <a:solidFill>
                <a:srgbClr val="12B3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05300" y="36766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10 页旧版压缩到 8 页终版，结构更紧，贡献和边界表达更集中。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81050" y="445770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95350" y="453390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209800" y="44005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投稿级格式检查</a:t>
            </a:r>
            <a:endParaRPr sz="1650" b="1" i="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305300" y="44196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 / 图 2 高清重绘，双栏节控制，参考文献连续编号，无批注和修订痕迹。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81050" y="520065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95350" y="527685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209800" y="5143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论文阅读</a:t>
            </a:r>
            <a:endParaRPr sz="165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305300" y="51625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 Flash Boys 2.0。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266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科研工作进展情况</a:t>
            </a:r>
            <a:endParaRPr sz="1875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80975" y="666750"/>
            <a:ext cx="118300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0960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6680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论文前后版本对比：从“修改稿”到“终版”</a:t>
            </a:r>
            <a:endParaRPr sz="225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695450"/>
            <a:ext cx="48768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8F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2000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上周版本</a:t>
            </a:r>
            <a:endParaRPr sz="1800" b="1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2571750"/>
            <a:ext cx="3238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页</a:t>
            </a:r>
            <a:endParaRPr sz="240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40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结构较分散</a:t>
            </a:r>
            <a:endParaRPr sz="240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40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图表和引用仍需整理</a:t>
            </a:r>
            <a:endParaRPr sz="240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39433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已有可恢复挑战、紧凑提交和 DA 成本模型，但还带有较多过程性叙述。</a:t>
            </a:r>
            <a:endParaRPr sz="1350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629400" y="1695450"/>
            <a:ext cx="4876800" cy="3143250"/>
          </a:xfrm>
          <a:prstGeom prst="roundRect">
            <a:avLst>
              <a:gd name="adj" fmla="val 2424"/>
            </a:avLst>
          </a:prstGeom>
          <a:solidFill>
            <a:srgbClr val="EBF5FF"/>
          </a:solidFill>
          <a:ln w="9525">
            <a:solidFill>
              <a:srgbClr val="BBD2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934200" y="2000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本周终版</a:t>
            </a:r>
            <a:endParaRPr sz="1800" b="1" i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67550" y="2571750"/>
            <a:ext cx="3238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页</a:t>
            </a:r>
            <a:endParaRPr sz="2400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40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结构收束</a:t>
            </a:r>
            <a:endParaRPr sz="2400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40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投稿形态完成</a:t>
            </a:r>
            <a:endParaRPr sz="2400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10400" y="39433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摘要压缩、章节重组、参考文献精简到 12 篇。</a:t>
            </a:r>
            <a:endParaRPr sz="1350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34050" y="2914650"/>
            <a:ext cx="66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9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266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科研工作进展情况</a:t>
            </a:r>
            <a:endParaRPr sz="1875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80975" y="666750"/>
            <a:ext cx="118300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0960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38200" y="1676400"/>
            <a:ext cx="1981200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CFE0F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18192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英文摘要</a:t>
            </a:r>
            <a:endParaRPr sz="1650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200400" y="177165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对照批注意见，删除冗长过程语句，保留三项机制和实验边界。</a:t>
            </a:r>
            <a:endParaRPr sz="1575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552700"/>
            <a:ext cx="1981200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CFE0F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6955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章节结构</a:t>
            </a:r>
            <a:endParaRPr sz="1650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00400" y="264795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将原 4 / 5 / 6 章合并为第 4 章“核心机制与成本评估”。</a:t>
            </a:r>
            <a:endParaRPr sz="1575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38200" y="3429000"/>
            <a:ext cx="1981200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CFE0F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5718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引用位置</a:t>
            </a:r>
            <a:endParaRPr sz="1650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00400" y="352425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在正文中补齐合适引用位置，参考文献由 19 篇收束为 12 篇核心文献。</a:t>
            </a:r>
            <a:endParaRPr sz="1575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8200" y="4305300"/>
            <a:ext cx="1981200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CFE0F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44481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行文习惯</a:t>
            </a:r>
            <a:endParaRPr sz="1650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200400" y="440055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删除“详见第 X 章”等提前预告，改为顺序展</a:t>
            </a:r>
            <a:r>
              <a:rPr lang="zh-CN"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</a:t>
            </a:r>
            <a:r>
              <a:rPr sz="157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75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266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科研工作进展情况</a:t>
            </a:r>
            <a:endParaRPr sz="1875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80975" y="666750"/>
            <a:ext cx="118300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0960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1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6680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终稿实现二：版式与图表修复</a:t>
            </a:r>
            <a:endParaRPr sz="225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9150" y="16954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DE8F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1828800"/>
            <a:ext cx="158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页</a:t>
            </a:r>
            <a:endParaRPr sz="2250" b="1" i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2098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终版页数</a:t>
            </a:r>
            <a:endParaRPr sz="1125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914650" y="16954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DE8F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3028950" y="1828800"/>
            <a:ext cx="158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篇</a:t>
            </a:r>
            <a:endParaRPr sz="225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28950" y="22098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  <a:endParaRPr sz="1125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010150" y="1695450"/>
            <a:ext cx="2095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DE8F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5124450" y="182880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 / 图 2</a:t>
            </a:r>
            <a:endParaRPr sz="2250" b="1" i="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24450" y="22098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核心图片</a:t>
            </a:r>
            <a:endParaRPr sz="1125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33450" y="3028950"/>
            <a:ext cx="4381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200150" y="32956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1：系统架构</a:t>
            </a:r>
            <a:endParaRPr sz="1725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00150" y="373380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 DApp 请求 → 链下执行层 / Simulated TEE → DA 层 → 链上紧凑提交 → 验证仲裁层。</a:t>
            </a:r>
            <a:endParaRPr sz="1425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00150" y="46101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处理：高清 PNG，放大文字和箭头，保留正常路径与异常路径。</a:t>
            </a:r>
            <a:endParaRPr sz="1200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305550" y="3028950"/>
            <a:ext cx="4381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32956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2：可恢复挑战流程</a:t>
            </a:r>
            <a:endParaRPr sz="1725" b="1" i="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72250" y="373380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PENDING → OPEN → RESPONDED → NARROWING → READY → REPLAYED → RESOLVED。</a:t>
            </a:r>
            <a:endParaRPr sz="1425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72250" y="46101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处理：保留 TIMEOUT → RECOVERED 分支，修复裁切、拉伸和低清问题。</a:t>
            </a:r>
            <a:endParaRPr sz="1200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266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论文阅读</a:t>
            </a:r>
            <a:endParaRPr sz="1875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80975" y="666750"/>
            <a:ext cx="118300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0960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350" b="1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668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 Boys 2.0：问题背景</a:t>
            </a:r>
            <a:endParaRPr sz="225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4668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E6B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B7E"/>
                </a:solidFill>
                <a:latin typeface="Aptos"/>
                <a:ea typeface="Aptos"/>
                <a:cs typeface="Aptos"/>
              </a:rPr>
              <a:t>Frontrunning, Transaction Reordering, and Consensus Instability in Decentralized Exchanges</a:t>
            </a:r>
            <a:endParaRPr sz="1275" b="0" i="0">
              <a:solidFill>
                <a:srgbClr val="5E6B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203835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038350"/>
            <a:ext cx="57150" cy="1752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20980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</a:t>
            </a:r>
            <a:endParaRPr sz="1575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590800"/>
            <a:ext cx="28956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DEX 并不天然公平透明。套利机器人会利用交易排序依赖，通过提前交易、夹击或重排序获取收益。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38650" y="203835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4438650" y="2038350"/>
            <a:ext cx="57150" cy="1752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67250" y="220980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Priority Gas Auction</a:t>
            </a:r>
            <a:endParaRPr sz="1575" b="1" i="0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67250" y="2590800"/>
            <a:ext cx="28956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机器人为争夺区块内更靠前的位置持续抬高手续费，交易排序权变成高频竞价资源。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191500" y="203835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8191500" y="2038350"/>
            <a:ext cx="57150" cy="1752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420100" y="220980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MEV 风险</a:t>
            </a:r>
            <a:endParaRPr sz="1575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20100" y="2590800"/>
            <a:ext cx="28956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论文把排序相关收益概括为 MEV，并指出高额排序收益会反过来影响共识层安全激励。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276350" y="4476750"/>
            <a:ext cx="9334500" cy="66675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619250" y="468630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这篇论文不是只讲交易策略，而是把“排序依赖”提升为智能合约系统的安全假设。</a:t>
            </a:r>
            <a:endParaRPr sz="165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90550" y="61531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7C87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7C87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arXiv:1904.05234, submitted 2019-04-10, authors Philip Daian et al.</a:t>
            </a:r>
            <a:endParaRPr sz="900" b="0" i="0">
              <a:solidFill>
                <a:srgbClr val="7C87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266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论文阅读</a:t>
            </a:r>
            <a:endParaRPr sz="1875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80975" y="666750"/>
            <a:ext cx="118300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0960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350" b="1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668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启发：高频场景不能只看正常路径</a:t>
            </a:r>
            <a:endParaRPr sz="225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1809750"/>
            <a:ext cx="47625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809750"/>
            <a:ext cx="57150" cy="14859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1981200"/>
            <a:ext cx="430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排序依赖</a:t>
            </a:r>
            <a:endParaRPr sz="1575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2362200"/>
            <a:ext cx="4324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 DApp 的执行结果不只取决于计算正确性，也受请求排序、挑战时序和结算窗口影响。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324600" y="1809750"/>
            <a:ext cx="47625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324600" y="1809750"/>
            <a:ext cx="57150" cy="14859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53200" y="1981200"/>
            <a:ext cx="430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异常路径</a:t>
            </a:r>
            <a:endParaRPr sz="1575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53200" y="2362200"/>
            <a:ext cx="4324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如果挑战被延迟或超时，攻击者可能利用“未完成状态”获得策略空间。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57250" y="3848100"/>
            <a:ext cx="47625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E0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3848100"/>
            <a:ext cx="57150" cy="14859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85850" y="4019550"/>
            <a:ext cx="430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协议设计</a:t>
            </a:r>
            <a:endParaRPr sz="1575" b="1" i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85850" y="4400550"/>
            <a:ext cx="4324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Hybrid TEE-Rollup 需要把正常低成本路径和异常可仲裁路径接在同一证据上下文中。</a:t>
            </a:r>
            <a:endParaRPr sz="1350" b="0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14350" y="266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下周科研计划</a:t>
            </a:r>
            <a:endParaRPr sz="1875" b="1" i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80975" y="666750"/>
            <a:ext cx="118300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0960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350" b="1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239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下周科研计划</a:t>
            </a:r>
            <a:endParaRPr sz="2550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3360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220980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381250" y="20383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Rollup 挑战机制</a:t>
            </a:r>
            <a:endParaRPr sz="1875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48250" y="20574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继续阅读欺诈证明、交互式挑战和 dispute game 相关论文，补强异常路径理解。</a:t>
            </a:r>
            <a:endParaRPr sz="1500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29565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337185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81250" y="32004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MEV 排序安全</a:t>
            </a:r>
            <a:endParaRPr sz="1875" b="1" i="0">
              <a:solidFill>
                <a:srgbClr val="12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32194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 i="0">
                <a:solidFill>
                  <a:srgbClr val="5E6B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 Flash Boys 2.0 延伸阅读交易重排序、抢跑、PGA 与共识激励问题。</a:t>
            </a:r>
            <a:endParaRPr sz="1500" b="0" i="0">
              <a:solidFill>
                <a:srgbClr val="5E6B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453390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0975" y="5657850"/>
            <a:ext cx="118300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BiNGRhMTNkYjFhZGQwOGU5YjQ2ZDZmYjhiNTAxNzc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1464</Words>
  <Application>WPS 演示</Application>
  <PresentationFormat>Converted Presentation</PresentationFormat>
  <Paragraphs>180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Aptos</vt:lpstr>
      <vt:lpstr>Liberation Mono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杨帆</cp:lastModifiedBy>
  <cp:revision>4</cp:revision>
  <dcterms:created xsi:type="dcterms:W3CDTF">2026-06-16T09:46:00Z</dcterms:created>
  <dcterms:modified xsi:type="dcterms:W3CDTF">2026-06-16T12:50:44Z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730D0F5223C94419819E08C668B56C07</vt:lpwstr>
  </property>
  <property fmtid="{D5CDD505-2E9C-101B-9397-08002B2CF9AE}" pid="3" name="KSOProductBuildVer">
    <vt:lpwstr>2052-11.1.0.13703</vt:lpwstr>
  </property>
</Properties>
</file>