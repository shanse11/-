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365" cy="6858000"/>
  <p:notesSz cx="6858000" cy="12191365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B99"/>
          </a:solidFill>
          <a:ln w="12700">
            <a:solidFill>
              <a:srgbClr val="1F5B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143000"/>
            <a:ext cx="9509760" cy="5486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第十七周组会汇报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04672" y="4407408"/>
            <a:ext cx="3657600" cy="34747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汇报人：杨帆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04672" y="4864608"/>
            <a:ext cx="3657600" cy="34747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8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日期：2026.06.25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68580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515600" cy="53035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本周汇报内容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270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0876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08760"/>
            <a:ext cx="82296" cy="3977640"/>
          </a:xfrm>
          <a:prstGeom prst="rect">
            <a:avLst/>
          </a:prstGeom>
          <a:solidFill>
            <a:srgbClr val="1F5B99"/>
          </a:solidFill>
          <a:ln w="12700">
            <a:solidFill>
              <a:srgbClr val="1F5B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673352"/>
            <a:ext cx="470916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模块一：论文阅读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33272" y="2112264"/>
            <a:ext cx="4654296" cy="328269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BEV / MEV 的量化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sandwich / liquidation / arbitrage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transaction replay 交易重放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BEV relay 与共识安全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EDF7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508760"/>
            <a:ext cx="82296" cy="397764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673352"/>
            <a:ext cx="470916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D7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模块二：Rollup 机制总结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19672" y="2112264"/>
            <a:ext cx="4654296" cy="328269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降低链上成本的基本思路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Optimistic 与 ZK Rollup 差异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fraud proof / dispute game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数据可用性、排序、挑战窗口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68580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 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515600" cy="53035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论文导入：为什么读这篇论文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270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828800" cy="31089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问题背景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10241280" cy="694944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DeFi 交易并不只是按用户提交顺序执行。搜索者、矿工或验证者可以影响排序，从而提取经济价值。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68680" y="3035808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FF3E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035808"/>
            <a:ext cx="82296" cy="2148840"/>
          </a:xfrm>
          <a:prstGeom prst="rect">
            <a:avLst/>
          </a:prstGeom>
          <a:solidFill>
            <a:srgbClr val="A85D00"/>
          </a:solidFill>
          <a:ln w="12700">
            <a:solidFill>
              <a:srgbClr val="A85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200400"/>
            <a:ext cx="493776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A85D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论文价值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8992" y="3639312"/>
            <a:ext cx="4882896" cy="145389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把“暗森林”现象量化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覆盖三类主要 BEV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 replay 与 relay 分析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0" y="3035808"/>
            <a:ext cx="4800600" cy="2148840"/>
          </a:xfrm>
          <a:prstGeom prst="roundRect">
            <a:avLst>
              <a:gd name="adj" fmla="val 3404"/>
            </a:avLst>
          </a:prstGeom>
          <a:solidFill>
            <a:srgbClr val="FCEEE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3035808"/>
            <a:ext cx="82296" cy="2148840"/>
          </a:xfrm>
          <a:prstGeom prst="rect">
            <a:avLst/>
          </a:prstGeom>
          <a:solidFill>
            <a:srgbClr val="9A2E2E"/>
          </a:solidFill>
          <a:ln w="12700">
            <a:solidFill>
              <a:srgbClr val="9A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3200400"/>
            <a:ext cx="443484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9A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关键视角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11112" y="3639312"/>
            <a:ext cx="4379976" cy="145389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BEV / MEV 是排序权的经济化。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收益足够大时，会影响共识安全。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68580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4 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515600" cy="53035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论文核心一：BEV 从哪里来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270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495" y="1417320"/>
            <a:ext cx="3322320" cy="2513965"/>
          </a:xfrm>
          <a:prstGeom prst="roundRect">
            <a:avLst>
              <a:gd name="adj" fmla="val 3137"/>
            </a:avLst>
          </a:prstGeom>
          <a:solidFill>
            <a:srgbClr val="FCEEE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17320"/>
            <a:ext cx="82296" cy="2331720"/>
          </a:xfrm>
          <a:prstGeom prst="rect">
            <a:avLst/>
          </a:prstGeom>
          <a:solidFill>
            <a:srgbClr val="9A2E2E"/>
          </a:solidFill>
          <a:ln w="12700">
            <a:solidFill>
              <a:srgbClr val="9A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81912"/>
            <a:ext cx="288036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9A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Sandwich 夹击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020824"/>
            <a:ext cx="2825496" cy="163677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750,529 次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174.34M USD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前后插入交易，利用 AMM 滑点。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62145" y="1417320"/>
            <a:ext cx="3274695" cy="2687320"/>
          </a:xfrm>
          <a:prstGeom prst="roundRect">
            <a:avLst>
              <a:gd name="adj" fmla="val 3137"/>
            </a:avLst>
          </a:prstGeom>
          <a:solidFill>
            <a:srgbClr val="FFF3E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1417320"/>
            <a:ext cx="82296" cy="2331720"/>
          </a:xfrm>
          <a:prstGeom prst="rect">
            <a:avLst/>
          </a:prstGeom>
          <a:solidFill>
            <a:srgbClr val="A85D00"/>
          </a:solidFill>
          <a:ln w="12700">
            <a:solidFill>
              <a:srgbClr val="A85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581912"/>
            <a:ext cx="288036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A85D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Liquidation 清算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72584" y="2020824"/>
            <a:ext cx="2825496" cy="163677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31,057 次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89.18M USD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折价购买抵押品，引发排序竞争。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66430" y="1417320"/>
            <a:ext cx="3351530" cy="2705100"/>
          </a:xfrm>
          <a:prstGeom prst="roundRect">
            <a:avLst>
              <a:gd name="adj" fmla="val 3137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1417320"/>
            <a:ext cx="82296" cy="2331720"/>
          </a:xfrm>
          <a:prstGeom prst="rect">
            <a:avLst/>
          </a:prstGeom>
          <a:solidFill>
            <a:srgbClr val="1F5B99"/>
          </a:solidFill>
          <a:ln w="12700">
            <a:solidFill>
              <a:srgbClr val="1F5B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581912"/>
            <a:ext cx="288036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Arbitrage 套利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76488" y="2020824"/>
            <a:ext cx="2825496" cy="163677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1,151,448 次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277.02M USD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 DEX 价格差，原子交易套利。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78992" y="4434840"/>
            <a:ext cx="3657600" cy="32918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 个月内，三类 BEV 合计约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00600" y="4224655"/>
            <a:ext cx="3644900" cy="5943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540.54M USD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423160" y="5139055"/>
            <a:ext cx="8351520" cy="31115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7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5A3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Transaction Replay 交易重放：潜在可提取 35.37M USD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68580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5 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515600" cy="53035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论文核心二：为什么会影响区块链安全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270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36192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64208"/>
            <a:ext cx="1920240" cy="49377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mempool</a:t>
            </a:r>
            <a:endParaRPr lang="en-US" sz="2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未确认交易池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99232" y="1956816"/>
            <a:ext cx="41148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75304" y="1536192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FF3E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664208"/>
            <a:ext cx="1920240" cy="49377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A85D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Searcher</a:t>
            </a:r>
            <a:endParaRPr lang="en-US" sz="2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A85D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搜索者模拟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788152" y="1956816"/>
            <a:ext cx="41148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64224" y="1536192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EDF7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664208"/>
            <a:ext cx="1920240" cy="49377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D7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Miner / Validator</a:t>
            </a:r>
            <a:endParaRPr lang="en-US" sz="2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D7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排序与出块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577072" y="1956816"/>
            <a:ext cx="41148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53144" y="1536192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1EC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62872" y="1664208"/>
            <a:ext cx="1920240" cy="49377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5A3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</a:t>
            </a:r>
            <a:endParaRPr lang="en-US" sz="2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5A3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区块确认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2960" y="29260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926080"/>
            <a:ext cx="82296" cy="1371600"/>
          </a:xfrm>
          <a:prstGeom prst="rect">
            <a:avLst/>
          </a:prstGeom>
          <a:solidFill>
            <a:srgbClr val="1F5B99"/>
          </a:solidFill>
          <a:ln w="12700">
            <a:solidFill>
              <a:srgbClr val="1F5B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090672"/>
            <a:ext cx="292608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排序是根源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33272" y="3529584"/>
            <a:ext cx="2871216" cy="67665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未确认交易可被观察、模拟，并被插队。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434840" y="29260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CEEE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2926080"/>
            <a:ext cx="82296" cy="1371600"/>
          </a:xfrm>
          <a:prstGeom prst="rect">
            <a:avLst/>
          </a:prstGeom>
          <a:solidFill>
            <a:srgbClr val="9A2E2E"/>
          </a:solidFill>
          <a:ln w="12700">
            <a:solidFill>
              <a:srgbClr val="9A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3090672"/>
            <a:ext cx="292608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9A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激励会改变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645152" y="3529584"/>
            <a:ext cx="2871216" cy="67665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最高单次 BEV 达 4.1M USD，是区块奖励 616.6 倍。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046720" y="29260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3E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2926080"/>
            <a:ext cx="82296" cy="1371600"/>
          </a:xfrm>
          <a:prstGeom prst="rect">
            <a:avLst/>
          </a:prstGeom>
          <a:solidFill>
            <a:srgbClr val="A85D00"/>
          </a:solidFill>
          <a:ln w="12700">
            <a:solidFill>
              <a:srgbClr val="A85D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7032" y="3090672"/>
            <a:ext cx="292608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A85D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Relay 加剧集中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57032" y="3529584"/>
            <a:ext cx="2871216" cy="67665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搜索者和矿工绕过公开 P2P 网络协作。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14400" y="5230368"/>
            <a:ext cx="10058400" cy="3840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9A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逻辑链：经济收益 → 排序竞争 → 重组 / 分叉 / 共识风险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68580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6 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515600" cy="53035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Rollup 机制总结一：为什么能降低链上成本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270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698480" cy="1828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ethereum.org Rollups; Optimistic / ZK Rollup docs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55648"/>
            <a:ext cx="1719072" cy="49377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用户交易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06040" y="2057400"/>
            <a:ext cx="310896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164592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755648"/>
            <a:ext cx="1719072" cy="49377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Sequencer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排序与执行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73752" y="2057400"/>
            <a:ext cx="310896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93792" y="164592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755648"/>
            <a:ext cx="1719072" cy="49377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Batch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批量打包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141464" y="2057400"/>
            <a:ext cx="310896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61504" y="164592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944" y="1755648"/>
            <a:ext cx="1719072" cy="49377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提交状态根/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数据/证明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409176" y="2057400"/>
            <a:ext cx="310896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29216" y="164592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0656" y="1755648"/>
            <a:ext cx="1719072" cy="49377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结算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最终确认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1248" y="3154680"/>
            <a:ext cx="3246120" cy="1115568"/>
          </a:xfrm>
          <a:prstGeom prst="roundRect">
            <a:avLst>
              <a:gd name="adj" fmla="val 6557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154680"/>
            <a:ext cx="82296" cy="1115568"/>
          </a:xfrm>
          <a:prstGeom prst="rect">
            <a:avLst/>
          </a:prstGeom>
          <a:solidFill>
            <a:srgbClr val="1F5B99"/>
          </a:solidFill>
          <a:ln w="12700">
            <a:solidFill>
              <a:srgbClr val="1F5B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319272"/>
            <a:ext cx="288036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Sequencer 排序器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51560" y="3758184"/>
            <a:ext cx="2825496" cy="420624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收集、排序并执行 L2 交易。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443984" y="3154680"/>
            <a:ext cx="3246120" cy="1115568"/>
          </a:xfrm>
          <a:prstGeom prst="roundRect">
            <a:avLst>
              <a:gd name="adj" fmla="val 6557"/>
            </a:avLst>
          </a:prstGeom>
          <a:solidFill>
            <a:srgbClr val="EDF7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43984" y="3154680"/>
            <a:ext cx="82296" cy="111556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296" y="3319272"/>
            <a:ext cx="288036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D7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 Availability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654296" y="3758184"/>
            <a:ext cx="2825496" cy="420624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数据可用性：支持重建或验证 L2 状态。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8046720" y="3154680"/>
            <a:ext cx="3246120" cy="1115568"/>
          </a:xfrm>
          <a:prstGeom prst="roundRect">
            <a:avLst>
              <a:gd name="adj" fmla="val 6557"/>
            </a:avLst>
          </a:prstGeom>
          <a:solidFill>
            <a:srgbClr val="FFF3E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3154680"/>
            <a:ext cx="82296" cy="1115568"/>
          </a:xfrm>
          <a:prstGeom prst="rect">
            <a:avLst/>
          </a:prstGeom>
          <a:solidFill>
            <a:srgbClr val="A85D00"/>
          </a:solidFill>
          <a:ln w="12700">
            <a:solidFill>
              <a:srgbClr val="A85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57032" y="3319272"/>
            <a:ext cx="288036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A85D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Settlement 结算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257032" y="3758184"/>
            <a:ext cx="2825496" cy="420624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最终安全性锚定在 L1。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14400" y="5321808"/>
            <a:ext cx="10149840" cy="3657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结论：Rollup 不是脱离 L1，而是把执行移到链下，把安全锚定在链上。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68580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7 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515600" cy="53035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Rollup 机制总结二：Optimistic Rollup 与 ZK Rollup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270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463040"/>
            <a:ext cx="4983480" cy="3611880"/>
          </a:xfrm>
          <a:prstGeom prst="roundRect">
            <a:avLst>
              <a:gd name="adj" fmla="val 2025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463040"/>
            <a:ext cx="82296" cy="3611880"/>
          </a:xfrm>
          <a:prstGeom prst="rect">
            <a:avLst/>
          </a:prstGeom>
          <a:solidFill>
            <a:srgbClr val="1F5B99"/>
          </a:solidFill>
          <a:ln w="12700">
            <a:solidFill>
              <a:srgbClr val="1F5B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27632"/>
            <a:ext cx="461772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Optimistic Rollup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乐观 Rollup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2066544"/>
            <a:ext cx="4562856" cy="291693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默认认为结果正确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挑战窗口内发现错误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 fraud / fault proof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兼容性较好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确认可能有延迟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55080" y="1463040"/>
            <a:ext cx="4983480" cy="3611880"/>
          </a:xfrm>
          <a:prstGeom prst="roundRect">
            <a:avLst>
              <a:gd name="adj" fmla="val 2025"/>
            </a:avLst>
          </a:prstGeom>
          <a:solidFill>
            <a:srgbClr val="EDF7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463040"/>
            <a:ext cx="82296" cy="36118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627632"/>
            <a:ext cx="461772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D7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ZK Rollup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D7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零知识 Rollup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65392" y="2066544"/>
            <a:ext cx="4562856" cy="291693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每批提交有效性证明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验证 proof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确认更快、证明更强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证明生成复杂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EVM 兼容成本较高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5623560"/>
            <a:ext cx="10058400" cy="34747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页面结论：Optimistic Rollup 偏向“事后挑战”，ZK Rollup 偏向“事前证明”。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68580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8 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515600" cy="53035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Rollup 机制总结三：挑战机制 / Dispute Game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270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627632"/>
            <a:ext cx="1600200" cy="786384"/>
          </a:xfrm>
          <a:prstGeom prst="roundRect">
            <a:avLst>
              <a:gd name="adj" fmla="val 9302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719072"/>
            <a:ext cx="1453896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Claim</a:t>
            </a:r>
            <a:endParaRPr lang="en-US" sz="2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状态声明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84832" y="2002536"/>
            <a:ext cx="210312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31720" y="1627632"/>
            <a:ext cx="1600200" cy="786384"/>
          </a:xfrm>
          <a:prstGeom prst="roundRect">
            <a:avLst>
              <a:gd name="adj" fmla="val 9302"/>
            </a:avLst>
          </a:prstGeom>
          <a:solidFill>
            <a:srgbClr val="FCEEE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1719072"/>
            <a:ext cx="1453896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9A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Challenge</a:t>
            </a:r>
            <a:endParaRPr lang="en-US" sz="2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9A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质疑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977640" y="2002536"/>
            <a:ext cx="210312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24528" y="1627632"/>
            <a:ext cx="1600200" cy="786384"/>
          </a:xfrm>
          <a:prstGeom prst="roundRect">
            <a:avLst>
              <a:gd name="adj" fmla="val 9302"/>
            </a:avLst>
          </a:prstGeom>
          <a:solidFill>
            <a:srgbClr val="FFF3E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719072"/>
            <a:ext cx="1453896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A85D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Bisection</a:t>
            </a:r>
            <a:endParaRPr lang="en-US" sz="2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A85D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二分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870448" y="2002536"/>
            <a:ext cx="210312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17336" y="1627632"/>
            <a:ext cx="1600200" cy="786384"/>
          </a:xfrm>
          <a:prstGeom prst="roundRect">
            <a:avLst>
              <a:gd name="adj" fmla="val 9302"/>
            </a:avLst>
          </a:prstGeom>
          <a:solidFill>
            <a:srgbClr val="EDF7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719072"/>
            <a:ext cx="1453896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D7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Proof</a:t>
            </a:r>
            <a:endParaRPr lang="en-US" sz="2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D7D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单步验证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763256" y="2002536"/>
            <a:ext cx="210312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10144" y="1627632"/>
            <a:ext cx="1600200" cy="786384"/>
          </a:xfrm>
          <a:prstGeom prst="roundRect">
            <a:avLst>
              <a:gd name="adj" fmla="val 9302"/>
            </a:avLst>
          </a:prstGeom>
          <a:solidFill>
            <a:srgbClr val="F1EC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3296" y="1719072"/>
            <a:ext cx="1453896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5A3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</a:t>
            </a:r>
            <a:endParaRPr lang="en-US" sz="2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5A3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裁决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656064" y="2002536"/>
            <a:ext cx="210312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02952" y="1627632"/>
            <a:ext cx="1600200" cy="786384"/>
          </a:xfrm>
          <a:prstGeom prst="roundRect">
            <a:avLst>
              <a:gd name="adj" fmla="val 9302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76104" y="1719072"/>
            <a:ext cx="1453896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Final</a:t>
            </a:r>
            <a:endParaRPr lang="en-US" sz="2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60120" y="3063240"/>
            <a:ext cx="9966960" cy="21488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lnSpc>
                <a:spcPct val="112000"/>
              </a:lnSpc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claim：提交者声明某个 L2 状态正确。</a:t>
            </a:r>
            <a:endParaRPr lang="en-US" sz="2400" dirty="0"/>
          </a:p>
          <a:p>
            <a:pPr>
              <a:lnSpc>
                <a:spcPct val="112000"/>
              </a:lnSpc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challenge：其他参与者质疑该状态。</a:t>
            </a:r>
            <a:endParaRPr lang="en-US" sz="2400" dirty="0"/>
          </a:p>
          <a:p>
            <a:pPr>
              <a:lnSpc>
                <a:spcPct val="112000"/>
              </a:lnSpc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bisection：逐步缩小争议范围。</a:t>
            </a:r>
            <a:endParaRPr lang="en-US" sz="2400" dirty="0"/>
          </a:p>
          <a:p>
            <a:pPr>
              <a:lnSpc>
                <a:spcPct val="112000"/>
              </a:lnSpc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one-step proof：链上验证最小争议步骤。</a:t>
            </a:r>
            <a:endParaRPr lang="en-US" sz="2400" dirty="0"/>
          </a:p>
          <a:p>
            <a:pPr>
              <a:lnSpc>
                <a:spcPct val="112000"/>
              </a:lnSpc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timeout / finalization：防止拖延并最终确认。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5715000"/>
            <a:ext cx="10058400" cy="32918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目标：不把全部计算放上链，仍然让错误状态可以被发现和仲裁。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68580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9 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515600" cy="53035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270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5166360" cy="3383280"/>
          </a:xfrm>
          <a:prstGeom prst="roundRect">
            <a:avLst>
              <a:gd name="adj" fmla="val 2162"/>
            </a:avLst>
          </a:prstGeom>
          <a:solidFill>
            <a:srgbClr val="FCEEE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82296" cy="3383280"/>
          </a:xfrm>
          <a:prstGeom prst="rect">
            <a:avLst/>
          </a:prstGeom>
          <a:solidFill>
            <a:srgbClr val="9A2E2E"/>
          </a:solidFill>
          <a:ln w="12700">
            <a:solidFill>
              <a:srgbClr val="9A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581912"/>
            <a:ext cx="480060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9A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总结一：论文阅读收获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33272" y="2020824"/>
            <a:ext cx="4745736" cy="268833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BEV 是大规模、可量化的链上经济现象。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排序权带来夹击、清算、套利收益。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收益足够高时，会影响共识安全。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166360" cy="3383280"/>
          </a:xfrm>
          <a:prstGeom prst="roundRect">
            <a:avLst>
              <a:gd name="adj" fmla="val 2162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417320"/>
            <a:ext cx="82296" cy="3383280"/>
          </a:xfrm>
          <a:prstGeom prst="rect">
            <a:avLst/>
          </a:prstGeom>
          <a:solidFill>
            <a:srgbClr val="1F5B99"/>
          </a:solidFill>
          <a:ln w="12700">
            <a:solidFill>
              <a:srgbClr val="1F5B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581912"/>
            <a:ext cx="4800600" cy="320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5B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总结二：Rollup 机制收获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73952" y="2020824"/>
            <a:ext cx="4745736" cy="268833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通过链下执行和批量提交降低成本。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提供最终结算和安全锚定。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Optimistic 依赖挑战，ZK 依赖证明。</a:t>
            </a:r>
            <a:endParaRPr 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BiNGRhMTNkYjFhZGQwOGU5YjQ2ZDZmYjhiNTAxNzc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1699</Words>
  <Application>WPS 演示</Application>
  <PresentationFormat>On-screen Show (16:9)</PresentationFormat>
  <Paragraphs>212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Codex generated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第十七周组会汇报</dc:title>
  <dc:creator>杨帆</dc:creator>
  <dc:subject>Quantifying Blockchain Extractable Value 论文阅读与 Rollup 机制总结</dc:subject>
  <cp:lastModifiedBy>杨帆</cp:lastModifiedBy>
  <cp:revision>2</cp:revision>
  <dcterms:created xsi:type="dcterms:W3CDTF">2026-06-24T03:18:00Z</dcterms:created>
  <dcterms:modified xsi:type="dcterms:W3CDTF">2026-06-24T03:26:40Z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31DAD19B38D240FDB849E20F23CF3114</vt:lpwstr>
  </property>
  <property fmtid="{D5CDD505-2E9C-101B-9397-08002B2CF9AE}" pid="3" name="KSOProductBuildVer">
    <vt:lpwstr>2052-11.1.0.13703</vt:lpwstr>
  </property>
</Properties>
</file>