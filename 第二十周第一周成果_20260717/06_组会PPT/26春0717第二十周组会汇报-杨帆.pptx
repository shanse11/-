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2bda6a1a64554" /><Relationship Type="http://schemas.openxmlformats.org/officeDocument/2006/relationships/extended-properties" Target="/docProps/app.xml" Id="Re14bf744b8504cce" /><Relationship Type="http://schemas.openxmlformats.org/officeDocument/2006/relationships/officeDocument" Target="/ppt/presentation.xml" Id="Rb9bb2782a22547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d2beed47b9400d"/>
  </p:sldMasterIdLst>
  <p:notesMasterIdLst>
    <p:notesMasterId xmlns:r="http://schemas.openxmlformats.org/officeDocument/2006/relationships" r:id="Rcdbbb57680004630"/>
  </p:notesMasterIdLst>
  <p:sldIdLst>
    <p:sldId xmlns:r="http://schemas.openxmlformats.org/officeDocument/2006/relationships" id="256" r:id="R1942db7febf0461a"/>
    <p:sldId xmlns:r="http://schemas.openxmlformats.org/officeDocument/2006/relationships" id="257" r:id="Rc9a07fa5abd54d27"/>
    <p:sldId xmlns:r="http://schemas.openxmlformats.org/officeDocument/2006/relationships" id="258" r:id="R54662affaee3447c"/>
    <p:sldId xmlns:r="http://schemas.openxmlformats.org/officeDocument/2006/relationships" id="259" r:id="R0bcabcc7083e41f8"/>
    <p:sldId xmlns:r="http://schemas.openxmlformats.org/officeDocument/2006/relationships" id="260" r:id="R40fa86ebdf664eca"/>
    <p:sldId xmlns:r="http://schemas.openxmlformats.org/officeDocument/2006/relationships" id="261" r:id="R09c2c2da8ab94132"/>
    <p:sldId xmlns:r="http://schemas.openxmlformats.org/officeDocument/2006/relationships" id="262" r:id="R70842eded1364464"/>
    <p:sldId xmlns:r="http://schemas.openxmlformats.org/officeDocument/2006/relationships" id="263" r:id="R0c37029f7bd74d30"/>
    <p:sldId xmlns:r="http://schemas.openxmlformats.org/officeDocument/2006/relationships" id="264" r:id="R7a0f4f932f95448a"/>
    <p:sldId xmlns:r="http://schemas.openxmlformats.org/officeDocument/2006/relationships" id="265" r:id="R2f119165bbf34954"/>
  </p:sldIdLst>
  <p:sldSz cx="1218946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e41b93028448a8" /><Relationship Type="http://schemas.openxmlformats.org/officeDocument/2006/relationships/slideMaster" Target="/ppt/slideMasters/slideMaster1.xml" Id="Ra6d2beed47b9400d" /><Relationship Type="http://schemas.openxmlformats.org/officeDocument/2006/relationships/notesMaster" Target="/ppt/notesMasters/notesMaster1.xml" Id="Rcdbbb57680004630" /><Relationship Type="http://schemas.openxmlformats.org/officeDocument/2006/relationships/presProps" Target="/ppt/presProps.xml" Id="Rd61797a35e0540bf" /><Relationship Type="http://schemas.openxmlformats.org/officeDocument/2006/relationships/viewProps" Target="/ppt/viewProps.xml" Id="R6aa9945b795d41cb" /><Relationship Type="http://schemas.openxmlformats.org/officeDocument/2006/relationships/tableStyles" Target="/ppt/tableStyles.xml" Id="R0b7b4a276aa447f4" /><Relationship Type="http://schemas.openxmlformats.org/officeDocument/2006/relationships/slide" Target="/ppt/slides/slide1.xml" Id="R1942db7febf0461a" /><Relationship Type="http://schemas.openxmlformats.org/officeDocument/2006/relationships/slide" Target="/ppt/slides/slide2.xml" Id="Rc9a07fa5abd54d27" /><Relationship Type="http://schemas.openxmlformats.org/officeDocument/2006/relationships/slide" Target="/ppt/slides/slide3.xml" Id="R54662affaee3447c" /><Relationship Type="http://schemas.openxmlformats.org/officeDocument/2006/relationships/slide" Target="/ppt/slides/slide4.xml" Id="R0bcabcc7083e41f8" /><Relationship Type="http://schemas.openxmlformats.org/officeDocument/2006/relationships/slide" Target="/ppt/slides/slide5.xml" Id="R40fa86ebdf664eca" /><Relationship Type="http://schemas.openxmlformats.org/officeDocument/2006/relationships/slide" Target="/ppt/slides/slide6.xml" Id="R09c2c2da8ab94132" /><Relationship Type="http://schemas.openxmlformats.org/officeDocument/2006/relationships/slide" Target="/ppt/slides/slide7.xml" Id="R70842eded1364464" /><Relationship Type="http://schemas.openxmlformats.org/officeDocument/2006/relationships/slide" Target="/ppt/slides/slide8.xml" Id="R0c37029f7bd74d30" /><Relationship Type="http://schemas.openxmlformats.org/officeDocument/2006/relationships/slide" Target="/ppt/slides/slide9.xml" Id="R7a0f4f932f95448a" /><Relationship Type="http://schemas.openxmlformats.org/officeDocument/2006/relationships/slide" Target="/ppt/slides/slide10.xml" Id="R2f119165bbf349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e448dc6d2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05ece8eb24461" /><Relationship Type="http://schemas.openxmlformats.org/officeDocument/2006/relationships/notesMaster" Target="/ppt/notesMasters/notesMaster1.xml" Id="R6575491f797c49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fc6a02568248c0" /><Relationship Type="http://schemas.openxmlformats.org/officeDocument/2006/relationships/notesMaster" Target="/ppt/notesMasters/notesMaster1.xml" Id="Rbfc96d2886bb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847ee239c43ff" /><Relationship Type="http://schemas.openxmlformats.org/officeDocument/2006/relationships/notesMaster" Target="/ppt/notesMasters/notesMaster1.xml" Id="R986ff732f4bc4c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6b97b7371e426b" /><Relationship Type="http://schemas.openxmlformats.org/officeDocument/2006/relationships/notesMaster" Target="/ppt/notesMasters/notesMaster1.xml" Id="R94d43efa470e49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7237fb94a147e4" /><Relationship Type="http://schemas.openxmlformats.org/officeDocument/2006/relationships/notesMaster" Target="/ppt/notesMasters/notesMaster1.xml" Id="R335347882c3843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8ba0550d34df1" /><Relationship Type="http://schemas.openxmlformats.org/officeDocument/2006/relationships/notesMaster" Target="/ppt/notesMasters/notesMaster1.xml" Id="R1f50db757df34c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e00bd48a134634" /><Relationship Type="http://schemas.openxmlformats.org/officeDocument/2006/relationships/notesMaster" Target="/ppt/notesMasters/notesMaster1.xml" Id="R35e51f9fe2e947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97888bf70a4a74" /><Relationship Type="http://schemas.openxmlformats.org/officeDocument/2006/relationships/notesMaster" Target="/ppt/notesMasters/notesMaster1.xml" Id="R2791a2ac08154c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d20a2e7c04156" /><Relationship Type="http://schemas.openxmlformats.org/officeDocument/2006/relationships/notesMaster" Target="/ppt/notesMasters/notesMaster1.xml" Id="R9e95b13ba5ea43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fa1553776c4891" /><Relationship Type="http://schemas.openxmlformats.org/officeDocument/2006/relationships/notesMaster" Target="/ppt/notesMasters/notesMaster1.xml" Id="Ra1431b7e05fd44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96bbb5de047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b68f8e4ef46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9a0faa8c244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c3de0486040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b6ea7b2f74c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ed34191f84b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67b09b1bd4a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f4698511e42b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a3cf1ccf44a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37669dcfe4f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c7c35dc624aa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D149D1-B115-4038-A7CF-C4581EEEB13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E9CDD47-575F-40ED-8D33-1ACFC61D7F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39300B-7363-4380-8164-A0DEF98EA7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0EBE42-B269-43F1-86A0-530C0342DB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536C82-BC7D-43AE-B654-19775E4D1C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B9F178-A4EB-48A9-AFC4-E21251420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5AE2DC-E549-4940-8018-8912AD3E7D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B69143-B077-4C9F-827A-86CDB52A0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AB5F0C-2A7C-459C-B72F-058C342630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A36120-3E2C-4F25-BD5D-AF89EC017C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A16B18-27B8-400F-8CF8-8620E1279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596D70-3FF4-454B-8102-88D1F5DF6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D6E32B-BE47-4652-9E98-F9FC991483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F9589B-24EB-4C46-A7D5-01D3942A4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19C89C-9875-4364-8EAB-0EEB1295E5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E14A92-33B7-4EF8-860D-BB5A1A6E3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72E043-E9EC-4DFF-A49A-3A4CC3EF20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C6046F-13AF-47AC-A955-3C1335080B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928205-6492-4E54-9DE5-3411A3A425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60F9795-7FFD-418F-ADDA-9EF725170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7561BAA-ED49-4A8B-9678-7F7D787098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3629F9-066E-44B3-AB1C-911E8FA30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748698-D843-4C94-A818-2EFAA9E1E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F69FCB-A101-4277-BBD4-1C312C32C4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887C335-BB83-48B6-B88D-244D2686F1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67C8FC2-3F85-4137-B56B-017A8ED5111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00540F2-3836-42B0-8932-183C9E39C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C54906F-5471-41AC-A199-36EC161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5E9E884-A15F-4B6A-9C00-B1FB076BDC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5F73DF-C630-49B3-8C20-757067A4F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B40E452-9AB7-43D4-85F0-54D8FFAD39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9EE2E85-3435-4029-9BBC-4967368519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2185755-050A-4E49-B930-7259820C1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3F4F5EF-ECB1-44C4-BD10-3AD24E95E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12AE7A8-FEBA-4CAD-B6A6-B6F6C883D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176CF8E-E9C4-4083-8E22-FDA147951B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DDB5E6-C100-40F9-A304-82A3A7DB0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EE9D33-E302-4CA6-B453-89F11B3974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D91E8A6-1E1F-4F58-A00D-A460C8BE7D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A41157-6324-4795-BD68-BCDBEA2176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332DD18-BD66-4EBD-AB6D-C67C8DD43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D4CFF82-2494-4F5F-BD35-351D0ECDB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3DD71A-F2B7-46A7-ADA9-3F192D383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CE0E27-16B0-4C8E-AF82-52D6775B9C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BF1C96-1FEB-4C86-B8D0-4565723B3F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C901D1-7C91-4A66-8908-53DB1AD248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968C5C-A74B-4ABF-8F40-037C898A9A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F3961F-A43A-4087-AF20-C4542D1DB7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372135-5B93-4615-855B-04154F68B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09E178-5AB7-4777-BC48-C58EBE44C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A7EDDD-66BB-454B-9A33-F259E31564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4FF32A-9CBE-4CE7-9F7D-6709BCAE37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97D35E-8B27-4866-ACFC-2C9663B4B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FA6EC4A-7BAE-476F-87B9-BE69239CA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F01465-3AB6-4258-B1DA-7AE877672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234D82-3432-4966-8CA7-8DCDF602B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140745-F6B7-48A4-8780-6E9D1EABF6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896566-2E11-4805-8D94-581CCFF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5fff34c6974389" /><Relationship Type="http://schemas.openxmlformats.org/officeDocument/2006/relationships/slideLayout" Target="/ppt/slideLayouts/slideLayout1.xml" Id="R5ea5db4f52884642" /><Relationship Type="http://schemas.openxmlformats.org/officeDocument/2006/relationships/slideLayout" Target="/ppt/slideLayouts/slideLayout2.xml" Id="R159e37f447194f52" /><Relationship Type="http://schemas.openxmlformats.org/officeDocument/2006/relationships/slideLayout" Target="/ppt/slideLayouts/slideLayout3.xml" Id="Rd2e7f84658884d69" /><Relationship Type="http://schemas.openxmlformats.org/officeDocument/2006/relationships/slideLayout" Target="/ppt/slideLayouts/slideLayout4.xml" Id="R5c2dcbc3f57840d8" /><Relationship Type="http://schemas.openxmlformats.org/officeDocument/2006/relationships/slideLayout" Target="/ppt/slideLayouts/slideLayout5.xml" Id="R45ebcbf764b549a0" /><Relationship Type="http://schemas.openxmlformats.org/officeDocument/2006/relationships/slideLayout" Target="/ppt/slideLayouts/slideLayout6.xml" Id="R4df230f3c7ec4ebd" /><Relationship Type="http://schemas.openxmlformats.org/officeDocument/2006/relationships/slideLayout" Target="/ppt/slideLayouts/slideLayout7.xml" Id="R2f33ab8e3d9f4b51" /><Relationship Type="http://schemas.openxmlformats.org/officeDocument/2006/relationships/slideLayout" Target="/ppt/slideLayouts/slideLayout8.xml" Id="R32126ceb0473422c" /><Relationship Type="http://schemas.openxmlformats.org/officeDocument/2006/relationships/slideLayout" Target="/ppt/slideLayouts/slideLayout9.xml" Id="Rf99428b410454b07" /><Relationship Type="http://schemas.openxmlformats.org/officeDocument/2006/relationships/slideLayout" Target="/ppt/slideLayouts/slideLayout10.xml" Id="Rdb66d873effd41c4" /><Relationship Type="http://schemas.openxmlformats.org/officeDocument/2006/relationships/slideLayout" Target="/ppt/slideLayouts/slideLayout11.xml" Id="R10d38ec12b084f0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E3A9E84-6918-4CAF-A1C7-FE650F7CC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0C38EB-9AA6-49D0-8ED6-3862CF808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5D747-7881-4AD0-9914-712D6B55D35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433824-7F6E-4766-A6B8-FD21A729B0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C0BE58-E601-4CBC-BDFC-6E4BD5178BC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5db4f52884642"/>
    <p:sldLayoutId xmlns:r="http://schemas.openxmlformats.org/officeDocument/2006/relationships" id="2147483650" r:id="R159e37f447194f52"/>
    <p:sldLayoutId xmlns:r="http://schemas.openxmlformats.org/officeDocument/2006/relationships" id="2147483651" r:id="Rd2e7f84658884d69"/>
    <p:sldLayoutId xmlns:r="http://schemas.openxmlformats.org/officeDocument/2006/relationships" id="2147483652" r:id="R5c2dcbc3f57840d8"/>
    <p:sldLayoutId xmlns:r="http://schemas.openxmlformats.org/officeDocument/2006/relationships" id="2147483653" r:id="R45ebcbf764b549a0"/>
    <p:sldLayoutId xmlns:r="http://schemas.openxmlformats.org/officeDocument/2006/relationships" id="2147483654" r:id="R4df230f3c7ec4ebd"/>
    <p:sldLayoutId xmlns:r="http://schemas.openxmlformats.org/officeDocument/2006/relationships" id="2147483655" r:id="R2f33ab8e3d9f4b51"/>
    <p:sldLayoutId xmlns:r="http://schemas.openxmlformats.org/officeDocument/2006/relationships" id="2147483656" r:id="R32126ceb0473422c"/>
    <p:sldLayoutId xmlns:r="http://schemas.openxmlformats.org/officeDocument/2006/relationships" id="2147483657" r:id="Rf99428b410454b07"/>
    <p:sldLayoutId xmlns:r="http://schemas.openxmlformats.org/officeDocument/2006/relationships" id="2147483658" r:id="Rdb66d873effd41c4"/>
    <p:sldLayoutId xmlns:r="http://schemas.openxmlformats.org/officeDocument/2006/relationships" id="2147483659" r:id="R10d38ec12b084f0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c2d9bbcd5c4b68" /><Relationship Type="http://schemas.openxmlformats.org/officeDocument/2006/relationships/notesSlide" Target="/ppt/notesSlides/notesSlide1.xml" Id="Rbeb2d6e106a3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f2f590a0fa484f" /><Relationship Type="http://schemas.openxmlformats.org/officeDocument/2006/relationships/notesSlide" Target="/ppt/notesSlides/notesSlide2.xml" Id="Ra342a01d87434c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3699dc6a3f4fad" /><Relationship Type="http://schemas.openxmlformats.org/officeDocument/2006/relationships/notesSlide" Target="/ppt/notesSlides/notesSlide3.xml" Id="R858e4dd9809a4c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37740d256b4367" /><Relationship Type="http://schemas.openxmlformats.org/officeDocument/2006/relationships/notesSlide" Target="/ppt/notesSlides/notesSlide4.xml" Id="Rf007ebae9b414a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b18e3a2b67475b" /><Relationship Type="http://schemas.openxmlformats.org/officeDocument/2006/relationships/notesSlide" Target="/ppt/notesSlides/notesSlide5.xml" Id="Ra5fe23c3f1d441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d46c2712b642df" /><Relationship Type="http://schemas.openxmlformats.org/officeDocument/2006/relationships/notesSlide" Target="/ppt/notesSlides/notesSlide6.xml" Id="R171f28dfafc74e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fccd80a3434b17" /><Relationship Type="http://schemas.openxmlformats.org/officeDocument/2006/relationships/notesSlide" Target="/ppt/notesSlides/notesSlide7.xml" Id="R520f73725bce43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60bf1fe9a84cf4" /><Relationship Type="http://schemas.openxmlformats.org/officeDocument/2006/relationships/notesSlide" Target="/ppt/notesSlides/notesSlide8.xml" Id="Rb7ec078f8cd3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1a9618728f4da2" /><Relationship Type="http://schemas.openxmlformats.org/officeDocument/2006/relationships/notesSlide" Target="/ppt/notesSlides/notesSlide9.xml" Id="R0ee648aedd87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178c0544ab4545" /><Relationship Type="http://schemas.openxmlformats.org/officeDocument/2006/relationships/notesSlide" Target="/ppt/notesSlides/notesSlide10.xml" Id="Rd8cc689db07740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5A17F2-96B8-418B-A25A-235BBF4F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" y="9000"/>
            <a:ext cx="12171600" cy="7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855776-6410-4A54-9076-7A4902B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" y="6219000"/>
            <a:ext cx="12171600" cy="6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CC345C-1067-4B27-84DF-3DDBDA9C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" y="729000"/>
            <a:ext cx="162000" cy="549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826F12-7589-4C6F-B41F-E1B00AF8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8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400"/>
              <a:t>第二十周组会汇报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10D77A-3A46-4100-9A7A-382180FF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880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400"/>
              <a:t>汇报人：杨帆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719302C-8D17-46E5-B926-CC33DC0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311999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400"/>
              <a:t>日期：2026.07.17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EEE8C3-72F0-422B-A592-96FC64A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8000"/>
            <a:ext cx="72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FF"/>
                </a:solidFill>
              </a:rPr>
              <a:t>跨层窗口：定义压实与数据链路预实验</a:t>
            </a:r>
          </a:p>
        </p:txBody>
      </p:sp>
    </p:spTree>
    <p:extLst>
      <p:ext uri="{BB962C8B-B14F-4D97-AF65-F5344CB8AC3E}">
        <p14:creationId xmlns:p14="http://schemas.microsoft.com/office/powerpoint/2010/main" val="655832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FEFDEE-D307-45DB-9587-D7C979C3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2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062761-D76C-4FA4-B779-5FAAED93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500"/>
              <a:t>第 1 周完成概览【预实验】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D84C54-3CF7-4434-B783-0057CCA4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44E8A0D-AE01-4CD4-AD50-F3630B3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224000"/>
            <a:ext cx="1044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本周定位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01DAFCF-05F7-4A2E-B2A7-56BC3940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584000"/>
            <a:ext cx="1044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200"/>
              <a:t>从“问题定义”推进到“可复核数据链路”；</a:t>
            </a:r>
          </a:p>
          <a:p xmlns:a="http://schemas.openxmlformats.org/drawingml/2006/main">
            <a:r>
              <a:rPr sz="2200"/>
              <a:t>不把窗口存在预写成 MEV 结论。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288191B-ACD7-4AAF-9E11-766EB14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321975"/>
            <a:ext cx="1044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实际交付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09AA85-9748-44F8-9EC9-841D667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628000"/>
            <a:ext cx="1044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1. 三篇定向精读：识别、能力、反事实收益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2. 完成窗口定义、对象映射和三角色模型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3. 真实 Arbitrum：40 batch + 25 retryable 精确映射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4. 形成字段表、原始响应、结果图与失败诊断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61156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7BBD096-D7B6-4534-835C-D402D312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3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229EFA-4EF9-4EB9-9E19-31B71E90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400"/>
              <a:t>本周重点阅读：3篇论文 · 3类约束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98E494-28DD-4FC1-8A76-ED46FBB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6DADE7-EA15-4385-9AF6-40E104B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152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900"/>
              <a:t>目标：补足“可观测 ≠ 可利用”的证据链，而非机械扩展阅读量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A35BE00-6868-4300-B243-CFE3003B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548000"/>
            <a:ext cx="27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9"/>
          </a:solidFill>
          <a:ln xmlns:a="http://schemas.openxmlformats.org/drawingml/2006/main" w="15240">
            <a:solidFill>
              <a:srgbClr val="9A2E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2709294-46CB-47C8-85A7-3E4E2E5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548000"/>
            <a:ext cx="27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FFFFF"/>
                </a:solidFill>
              </a:rPr>
              <a:t>🟠  Quantifying BEV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B7D1B4-D7FA-485F-ADDD-DFAE9E0B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2015999"/>
            <a:ext cx="255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800"/>
              <a:t>提取：事件启发式与 ground truth 缺口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800"/>
              <a:t>用途：避免把表面异常当作已识别收益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973F954-2473-4024-9481-6D408925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1548000"/>
            <a:ext cx="27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D7"/>
          </a:solidFill>
          <a:ln xmlns:a="http://schemas.openxmlformats.org/drawingml/2006/main" w="15240">
            <a:solidFill>
              <a:srgbClr val="A85D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CF6B198-C302-4CF1-B7E9-23BF1789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1548000"/>
            <a:ext cx="27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FFFFF"/>
                </a:solidFill>
              </a:rPr>
              <a:t>🟡  MEV in AMM Theory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4AE829-F960-40C3-A39D-BFB36C75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999" y="2015999"/>
            <a:ext cx="255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提取：排序者/搜索者/状态边界</a:t>
            </a:r>
          </a:p>
          <a:p xmlns:a="http://schemas.openxmlformats.org/drawingml/2006/main">
            <a:r>
              <a:t>用途：明确单 Sequencer 可见性与能力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EEA77B-9FF7-4508-AF77-79AE4F4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00" y="1548000"/>
            <a:ext cx="27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5240">
            <a:solidFill>
              <a:srgbClr val="C09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DDFAE14-D3E9-4F4A-A4F5-B6E6C188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00" y="1548000"/>
            <a:ext cx="27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9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FFFFF"/>
                </a:solidFill>
              </a:rPr>
              <a:t>🔵  Theory of MEV I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9537B2-44BF-46A5-8B11-E6E392A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2015999"/>
            <a:ext cx="255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提取：收益须有反事实比较</a:t>
            </a:r>
          </a:p>
          <a:p xmlns:a="http://schemas.openxmlformats.org/drawingml/2006/main">
            <a:r>
              <a:rPr sz="1800"/>
              <a:t>用途：窗口仅是暴露前提，</a:t>
            </a:r>
          </a:p>
          <a:p xmlns:a="http://schemas.openxmlformats.org/drawingml/2006/main">
            <a:r>
              <a:rPr sz="1800"/>
              <a:t>不是 MEV 结论</a:t>
            </a:r>
          </a:p>
        </p:txBody>
      </p:sp>
    </p:spTree>
    <p:extLst>
      <p:ext uri="{BB962C8B-B14F-4D97-AF65-F5344CB8AC3E}">
        <p14:creationId xmlns:p14="http://schemas.microsoft.com/office/powerpoint/2010/main" val="11222505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D787D1-89BB-40F0-81F1-3244006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4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33F1CE-4FA5-4A31-846D-CF507A0C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300"/>
              <a:t>三个时间量：对象、锚点与含义分开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D1A6B7-A315-4927-B3DB-38D6FC06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35F50D-CDD7-43FD-90A1-C99E679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88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000"/>
              <a:t>仅比较同一对象的可复核链上时间；不等同于攻击窗口或利润。 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68A471-CFE9-477B-A277-817DA466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548000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W_ingest（消息）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DDFC8DD-3761-440D-AD63-9BA8AA10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548000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000"/>
              <a:t>t(L2 TicketCreated) − t(L1 投递)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11CEA9B-CDD9-4659-B70D-245C581B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411999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W_effect（消息）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CFC622-4728-45DF-BC20-29E278E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2411999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t(L2 首次成功 redeem) − t(L1 投递)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224B0F-9955-4DFE-BC20-4D4F2C08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276000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E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P_lag（batch）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60E484-0460-4474-B45D-6B18402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3276000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t(L1 发布) − t(batch 最后一 L2 区块)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E788B6-4966-476E-9643-FEBF9C0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140000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边界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37D266-2FFA-4239-B7A3-473D5581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4140000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三项均是时间事实；是否可利用仍需能力、行为与收益证据</a:t>
            </a:r>
          </a:p>
        </p:txBody>
      </p:sp>
    </p:spTree>
    <p:extLst>
      <p:ext uri="{BB962C8B-B14F-4D97-AF65-F5344CB8AC3E}">
        <p14:creationId xmlns:p14="http://schemas.microsoft.com/office/powerpoint/2010/main" val="17801235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CF5404-D1FE-47A2-BDFC-80B6370D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8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F76F07-2593-4DEB-A8E0-D4B44A2C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400"/>
              <a:t>对象映射与三角色威胁模型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B85D5CC-9465-412C-A225-743C65C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06D387-8C92-4A9E-96FF-3A538DC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224000"/>
            <a:ext cx="1044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可映射对象（已做）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2B7674-26A6-4F39-8644-9569160D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536192"/>
            <a:ext cx="104400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t>L1 InboxMessageDelivered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→ Bridge.MessageDelivered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→ retryable ticket / L2 TicketCreated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SequencerBatchDelivered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→ NodeInterface 查询 L2 block range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814E35-695D-4184-B4BD-E1871CD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31920"/>
            <a:ext cx="1044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能力边界（不越界）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58AA26-5E88-470D-8811-37337BB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297680"/>
            <a:ext cx="10440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Sequencer：可能影响纳入/排序；内部私有视图不可观测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攻击者：仅在公开或可推断信息后行动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用户：仅提交交易；本周未推断主体身份或利润</a:t>
            </a:r>
          </a:p>
        </p:txBody>
      </p:sp>
    </p:spTree>
    <p:extLst>
      <p:ext uri="{BB962C8B-B14F-4D97-AF65-F5344CB8AC3E}">
        <p14:creationId xmlns:p14="http://schemas.microsoft.com/office/powerpoint/2010/main" val="20664432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217063-5442-4178-9781-09F61BE4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6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E480965-4415-4481-9519-B1BBB98B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300"/>
              <a:t>预实验方法：可追溯、可复现、非正式实验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DBC673-144B-470E-95DC-B4CED2E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D8D97E-BB7F-49CB-9BC0-85B98B7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采样范围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D947BD-63A5-40B7-B543-EEE8E2C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900"/>
              <a:t>finalized 锚点附近</a:t>
            </a:r>
          </a:p>
          <a:p xmlns:a="http://schemas.openxmlformats.org/drawingml/2006/main">
            <a:r>
              <a:rPr sz="1900"/>
              <a:t>连续 1,500 个 L1 区块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FCEC44-5E8A-421C-9486-97B6B31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batch 路径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9CE9FC-F86C-4B6D-BC32-9018CB49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600"/>
              <a:t>SequencerBatchDelivered</a:t>
            </a:r>
          </a:p>
          <a:p xmlns:a="http://schemas.openxmlformats.org/drawingml/2006/main">
            <a:r>
              <a:rPr sz="1600"/>
              <a:t>+ NodeInterface.findBatchContainingBlock</a:t>
            </a:r>
          </a:p>
          <a:p xmlns:a="http://schemas.openxmlformats.org/drawingml/2006/main">
            <a:r>
              <a:rPr sz="1600"/>
              <a:t>得到 batch 的 L2 block range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E6A7C1-13C2-4B86-9CE3-36D2286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E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消息路径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3A9894-B2DE-420A-8ACA-CB261578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700"/>
              <a:t>Inbox / Bridge 事件</a:t>
            </a:r>
          </a:p>
          <a:p xmlns:a="http://schemas.openxmlformats.org/drawingml/2006/main">
            <a:r>
              <a:rPr sz="1700"/>
              <a:t>+ SDK 同构 retryable ID 推导</a:t>
            </a:r>
          </a:p>
          <a:p xmlns:a="http://schemas.openxmlformats.org/drawingml/2006/main">
            <a:r>
              <a:rPr sz="1700"/>
              <a:t>+ L2 TicketCreated 精确比对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6258732-8A72-434A-949B-FA8F17B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60000"/>
            <a:ext cx="106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9"/>
          </a:solidFill>
          <a:ln xmlns:a="http://schemas.openxmlformats.org/drawingml/2006/main" w="19050">
            <a:solidFill>
              <a:srgbClr val="9A2E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13EAEEC-4C2E-4486-B30A-1B84417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99" y="3996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 b="1"/>
              <a:t>保存：原始 JSON-RPC、处理 CSV、合约代码哈希、日志与脚本；所有结果可从固定锚点重跑。</a:t>
            </a:r>
          </a:p>
        </p:txBody>
      </p:sp>
    </p:spTree>
    <p:extLst>
      <p:ext uri="{BB962C8B-B14F-4D97-AF65-F5344CB8AC3E}">
        <p14:creationId xmlns:p14="http://schemas.microsoft.com/office/powerpoint/2010/main" val="18413488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217063-5442-4178-9781-09F61BE4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9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E480965-4415-4481-9519-B1BBB98B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300"/>
              <a:t>预实验① batch：范围映射与 P_lag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DBC673-144B-470E-95DC-B4CED2E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D8D97E-BB7F-49CB-9BC0-85B98B7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映射质量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D947BD-63A5-40B7-B543-EEE8E2C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900"/>
              <a:t>40 / 40 连续 batch</a:t>
            </a:r>
          </a:p>
          <a:p xmlns:a="http://schemas.openxmlformats.org/drawingml/2006/main">
            <a:r>
              <a:rPr sz="1900"/>
              <a:t>范围映射成功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FCEC44-5E8A-421C-9486-97B6B31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P_lag 分布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9CE9FC-F86C-4B6D-BC32-9018CB49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600"/>
              <a:t>最小 7 s｜中位 16.5 s</a:t>
            </a:r>
          </a:p>
          <a:p xmlns:a="http://schemas.openxmlformats.org/drawingml/2006/main">
            <a:r>
              <a:rPr sz="1600"/>
              <a:t>均值 17.275 s｜P95 28.15 s</a:t>
            </a:r>
          </a:p>
          <a:p xmlns:a="http://schemas.openxmlformats.org/drawingml/2006/main">
            <a:r>
              <a:rPr sz="1600"/>
              <a:t>最大 39 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E6A7C1-13C2-4B86-9CE3-36D2286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E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对象与解释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3A9894-B2DE-420A-8ACA-CB261578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700"/>
              <a:t>40 个样本均为 Blob batch</a:t>
            </a:r>
          </a:p>
          <a:p xmlns:a="http://schemas.openxmlformats.org/drawingml/2006/main">
            <a:r>
              <a:rPr sz="1700"/>
              <a:t>度量 L1 发布相对 batch 末端 L2 区块的时间差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6258732-8A72-434A-949B-FA8F17B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60000"/>
            <a:ext cx="106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9"/>
          </a:solidFill>
          <a:ln xmlns:a="http://schemas.openxmlformats.org/drawingml/2006/main" w="19050">
            <a:solidFill>
              <a:srgbClr val="9A2E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13EAEEC-4C2E-4486-B30A-1B84417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99" y="3996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 b="1"/>
              <a:t>结论边界：P_lag 可观测；未测量交易位置偏置、攻击主体、收益或因果效应。</a:t>
            </a:r>
          </a:p>
        </p:txBody>
      </p:sp>
    </p:spTree>
    <p:extLst>
      <p:ext uri="{BB962C8B-B14F-4D97-AF65-F5344CB8AC3E}">
        <p14:creationId xmlns:p14="http://schemas.microsoft.com/office/powerpoint/2010/main" val="18413488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D787D1-89BB-40F0-81F1-3244006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5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33F1CE-4FA5-4A31-846D-CF507A0C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300"/>
              <a:t>预实验②：retryable 消息映射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D1A6B7-A315-4927-B3DB-38D6FC06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35F50D-CDD7-43FD-90A1-C99E679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88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000"/>
              <a:t>全部样本的 ticket ID 均由 L1 message number、inbox 地址和 L2 chain ID 确定性推导。 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68A471-CFE9-477B-A277-817DA466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548000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精确映射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DDFC8DD-3761-440D-AD63-9BA8AA10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548000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2000"/>
              <a:t>25 / 25 retryable</a:t>
            </a:r>
          </a:p>
          <a:p xmlns:a="http://schemas.openxmlformats.org/drawingml/2006/main">
            <a:r>
              <a:rPr sz="2000"/>
              <a:t>L1 → L2 ticket 精确匹配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11CEA9B-CDD9-4659-B70D-245C581B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411999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W_ingest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CFC622-4728-45DF-BC20-29E278E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2411999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404–751 s｜中位 498 s</a:t>
            </a:r>
          </a:p>
          <a:p xmlns:a="http://schemas.openxmlformats.org/drawingml/2006/main">
            <a:r>
              <a:rPr sz="1800"/>
              <a:t>均值 551.32 s｜核心字段 100%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224B0F-9955-4DFE-BC20-4D4F2C08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276000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E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W_effect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60E484-0460-4474-B45D-6B18402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3276000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本组 25 个样本均自动 redeem</a:t>
            </a:r>
          </a:p>
          <a:p xmlns:a="http://schemas.openxmlformats.org/drawingml/2006/main">
            <a:r>
              <a:rPr sz="1800"/>
              <a:t>故与 W_ingest 同值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E788B6-4966-476E-9643-FEBF9C0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140000"/>
            <a:ext cx="432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必须保留的解释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37D266-2FFA-4239-B7A3-473D5581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4140000"/>
            <a:ext cx="576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/>
              <a:t>这只是小样本状态；不能外推为一般自动执行规律，更不能据此声称可利用 MEV</a:t>
            </a:r>
          </a:p>
        </p:txBody>
      </p:sp>
    </p:spTree>
    <p:extLst>
      <p:ext uri="{BB962C8B-B14F-4D97-AF65-F5344CB8AC3E}">
        <p14:creationId xmlns:p14="http://schemas.microsoft.com/office/powerpoint/2010/main" val="17801235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217063-5442-4178-9781-09F61BE4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7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E480965-4415-4481-9519-B1BBB98B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300"/>
              <a:t>失败诊断、负结果与证据边界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5DBC673-144B-470E-95DC-B4CED2E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D8D97E-BB7F-49CB-9BC0-85B98B7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E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工程事实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D947BD-63A5-40B7-B543-EEE8E2C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900"/>
              <a:t>failure_diagnostics：0 条</a:t>
            </a:r>
          </a:p>
          <a:p xmlns:a="http://schemas.openxmlformats.org/drawingml/2006/main">
            <a:r>
              <a:rPr sz="1900"/>
              <a:t>本批 40 / 25 均完成映射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FCEC44-5E8A-421C-9486-97B6B31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可以报告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9CE9FC-F86C-4B6D-BC32-9018CB49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600"/>
              <a:t>E1：对象与时间锚点可复核</a:t>
            </a:r>
          </a:p>
          <a:p xmlns:a="http://schemas.openxmlformats.org/drawingml/2006/main">
            <a:r>
              <a:rPr sz="1600"/>
              <a:t>E2：小样本数据链路可复现</a:t>
            </a:r>
          </a:p>
          <a:p xmlns:a="http://schemas.openxmlformats.org/drawingml/2006/main">
            <a:r>
              <a:rPr sz="1600"/>
              <a:t>不等于 E3 行为归因或 E4 收益结论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E6A7C1-13C2-4B86-9CE3-36D2286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1872000"/>
            <a:ext cx="34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E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尚不能报告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3A9894-B2DE-420A-8ACA-CB261578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2268000"/>
            <a:ext cx="3420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700"/>
              <a:t>排序偏置、可疑交易频率</a:t>
            </a:r>
          </a:p>
          <a:p xmlns:a="http://schemas.openxmlformats.org/drawingml/2006/main">
            <a:r>
              <a:rPr sz="1700"/>
              <a:t>地址集中度、revert / 执行质量</a:t>
            </a:r>
          </a:p>
          <a:p xmlns:a="http://schemas.openxmlformats.org/drawingml/2006/main">
            <a:r>
              <a:rPr sz="1700"/>
              <a:t>利润、攻击因果、方案防御效果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6258732-8A72-434A-949B-FA8F17B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60000"/>
            <a:ext cx="106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9"/>
          </a:solidFill>
          <a:ln xmlns:a="http://schemas.openxmlformats.org/drawingml/2006/main" w="19050">
            <a:solidFill>
              <a:srgbClr val="9A2E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13EAEEC-4C2E-4486-B30A-1B84417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99" y="3996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1800" b="1"/>
              <a:t>“没有记录失败”只说明本次目标样本链路可用；不能从窗口存在推断存在可利用 MEV。</a:t>
            </a:r>
          </a:p>
        </p:txBody>
      </p:sp>
    </p:spTree>
    <p:extLst>
      <p:ext uri="{BB962C8B-B14F-4D97-AF65-F5344CB8AC3E}">
        <p14:creationId xmlns:p14="http://schemas.microsoft.com/office/powerpoint/2010/main" val="18413488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CF5404-D1FE-47A2-BDFC-80B6370D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255600"/>
            <a:ext cx="687600" cy="20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10 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F76F07-2593-4DEB-A8E0-D4B44A2C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475200"/>
            <a:ext cx="10515600" cy="5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rPr sz="3400"/>
              <a:t>下周：先做正式实验准入判定，再决定是否扩展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B85D5CC-9465-412C-A225-743C65C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0" y="1026000"/>
            <a:ext cx="105156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06D387-8C92-4A9E-96FF-3A538DC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224000"/>
            <a:ext cx="1044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P0｜准入条件（先验收）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2B7674-26A6-4F39-8644-9569160D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536192"/>
            <a:ext cx="104400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t>1. 多个 L1 时间段的映射成功率与锚点一致性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2. 字段完整性、失败分类和脚本可重跑性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3. 足够样本后才测描述性分布；不预设因果结论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814E35-695D-4184-B4BD-E1871CD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31920"/>
            <a:ext cx="1044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</a:rPr>
              <a:t>P1｜条件分支与最小机制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58AA26-5E88-470D-8811-37337BB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297680"/>
            <a:ext cx="10440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若准入满足：扩样并固化描述性指标；若不满足：修链路或收缩问题。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Blind commit-reveal 仅写最小草案：排序前隐藏内容、揭示后验承诺；不声称证明、Gas 或防御效果。</a:t>
            </a:r>
          </a:p>
        </p:txBody>
      </p:sp>
    </p:spTree>
    <p:extLst>
      <p:ext uri="{BB962C8B-B14F-4D97-AF65-F5344CB8AC3E}">
        <p14:creationId xmlns:p14="http://schemas.microsoft.com/office/powerpoint/2010/main" val="20664432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2026-07-23T08:50:15.1760000Z</dcterms:created>
  <dcterms:modified xsi:type="dcterms:W3CDTF">2026-07-23T08:50:15.1760000Z</dcterms:modified>
</coreProperties>
</file>