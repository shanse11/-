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3"/>
  </p:sldMasterIdLst>
  <p:notesMasterIdLst>
    <p:notesMasterId r:id="rId5"/>
  </p:notesMasterIdLst>
  <p:sldIdLst>
    <p:sldId id="266" r:id="rId4"/>
    <p:sldId id="26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xy" initials="w" lastIdx="0" clrIdx="0"/>
  <p:cmAuthor id="2" name="Joe Staples" initials="JS" lastIdx="0" clrIdx="1"/>
  <p:cmAuthor id="3" name="Juli May" initials="JM" lastIdx="0" clrIdx="2"/>
  <p:cmAuthor id="4" name="Simon Johnson" initials="SJ" lastIdx="0" clrIdx="3"/>
  <p:cmAuthor id="5" name="Georgi Meyer" initials="GM" lastIdx="0" clrIdx="4"/>
  <p:cmAuthor id="6" name="Alan Deeth" initials="AD" lastIdx="0" clrIdx="5"/>
  <p:cmAuthor id="7" name="jinch" initials="j" lastIdx="0" clrIdx="6"/>
  <p:cmAuthor id="8" name="David Jeppesen" initials="DJ" lastIdx="0" clrIdx="7"/>
  <p:cmAuthor id="9" name="Microsoft Office User" initials="MOU" lastIdx="0" clrIdx="8"/>
  <p:cmAuthor id="10" name="John Karwoski" initials="JK" lastIdx="0" clrIdx="9"/>
  <p:cmAuthor id="11" name="tanghaibo" initials="t" lastIdx="0" clrIdx="10"/>
  <p:cmAuthor id="12" name="zhao" initials="" lastIdx="0" clrIdx="11"/>
  <p:cmAuthor id="13" name="作者" initials="A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90001" cy="90001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这一页回答研究对象是什么。batch 和用户跨层消息在方向、对象和生命周期上不同，不能把 batch 发布滞后当作 L1 到 L2 的用户消息窗口。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可见性、行动能力和收益必须分开。外部 searcher 看见公开信息，并不等于拥有 Sequencer 的排序控制；现在只是提出需验证的风险命题。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每个主张都有对应证据门槛。后续阶段不能替代此前缺失的证据，Commit-Reveal 只是待验证的最小约束方向。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这篇 SoK 先回答它如何组织跨域 MEV 研究。它给出分类坐标，而不直接证明本项目对象上发生了任何收益提取。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阅读后最大的变化是：不再把时间差直接当作 MEV，而是逐环验证可见性、能力、前态、反事实和净收益。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三个递进认识分别是对象、能力和证据。它们共同约束了研究表述：不要把可见性、排序权和收益混为一谈。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下周从 V0/V1 开始：先得到语义清楚、唯一且可复现的对象链路。若准入失败，就修正对象或收缩问题，而不是跳到攻击频率或收益。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希望老师重点指导：当前研究对象与 Sequencer 能力边界是否准确，以及 V0/V1 的准入条件是否足以支撑下一步数据验证。</a:t>
            </a:r>
            <a:endParaRPr sz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  <p:sp>
        <p:nvSpPr>
          <p:cNvPr id="5" name="图片占位符 4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/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/>
      <p:sp>
        <p:nvSpPr>
          <p:cNvPr id="5" name="图片占位符 4"/>
          <p:cNvSpPr>
            <a:spLocks noGrp="1"/>
          </p:cNvSpPr>
          <p:nvPr>
            <p:ph type="pic" idx="10"/>
          </p:nvPr>
        </p:nvSpPr>
        <p:spPr>
          <a:xfrm>
            <a:off x="1" y="-12947"/>
            <a:ext cx="5446133" cy="6870947"/>
          </a:xfrm>
          <a:custGeom>
            <a:avLst/>
            <a:gdLst>
              <a:gd name="connsiteX0" fmla="*/ 0 w 5446133"/>
              <a:gd name="connsiteY0" fmla="*/ 0 h 6870947"/>
              <a:gd name="connsiteX1" fmla="*/ 5446133 w 5446133"/>
              <a:gd name="connsiteY1" fmla="*/ 0 h 6870947"/>
              <a:gd name="connsiteX2" fmla="*/ 5446133 w 5446133"/>
              <a:gd name="connsiteY2" fmla="*/ 6870947 h 6870947"/>
              <a:gd name="connsiteX3" fmla="*/ 0 w 5446133"/>
              <a:gd name="connsiteY3" fmla="*/ 6870947 h 6870947"/>
            </a:gdLst>
            <a:ahLst/>
            <a:cxnLst/>
            <a:rect l="l" t="t" r="r" b="b"/>
            <a:pathLst>
              <a:path w="5446133" h="6870947">
                <a:moveTo>
                  <a:pt x="0" y="0"/>
                </a:moveTo>
                <a:lnTo>
                  <a:pt x="5446133" y="0"/>
                </a:lnTo>
                <a:lnTo>
                  <a:pt x="5446133" y="6870947"/>
                </a:lnTo>
                <a:lnTo>
                  <a:pt x="0" y="687094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/>
      <p:sp>
        <p:nvSpPr>
          <p:cNvPr id="2" name="图片占位符 4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2717074"/>
          </a:xfrm>
          <a:custGeom>
            <a:avLst/>
            <a:gdLst>
              <a:gd name="connsiteX0" fmla="*/ 0 w 12192000"/>
              <a:gd name="connsiteY0" fmla="*/ 0 h 2717074"/>
              <a:gd name="connsiteX1" fmla="*/ 12192000 w 12192000"/>
              <a:gd name="connsiteY1" fmla="*/ 0 h 2717074"/>
              <a:gd name="connsiteX2" fmla="*/ 12192000 w 12192000"/>
              <a:gd name="connsiteY2" fmla="*/ 2717074 h 2717074"/>
              <a:gd name="connsiteX3" fmla="*/ 0 w 12192000"/>
              <a:gd name="connsiteY3" fmla="*/ 2717074 h 2717074"/>
            </a:gdLst>
            <a:ahLst/>
            <a:cxnLst/>
            <a:rect l="l" t="t" r="r" b="b"/>
            <a:pathLst>
              <a:path w="12192000" h="2717074">
                <a:moveTo>
                  <a:pt x="0" y="0"/>
                </a:moveTo>
                <a:lnTo>
                  <a:pt x="12192000" y="0"/>
                </a:lnTo>
                <a:lnTo>
                  <a:pt x="12192000" y="2717074"/>
                </a:lnTo>
                <a:lnTo>
                  <a:pt x="0" y="27170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/>
      <p:sp>
        <p:nvSpPr>
          <p:cNvPr id="4" name="图片占位符 3"/>
          <p:cNvSpPr>
            <a:spLocks noGrp="1"/>
          </p:cNvSpPr>
          <p:nvPr>
            <p:ph type="pic" idx="10"/>
          </p:nvPr>
        </p:nvSpPr>
        <p:spPr>
          <a:xfrm>
            <a:off x="8697951" y="0"/>
            <a:ext cx="3494049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/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/>
      <p:sp>
        <p:nvSpPr>
          <p:cNvPr id="5" name="图片占位符 4"/>
          <p:cNvSpPr>
            <a:spLocks noGrp="1"/>
          </p:cNvSpPr>
          <p:nvPr>
            <p:ph type="pic" idx="10"/>
          </p:nvPr>
        </p:nvSpPr>
        <p:spPr>
          <a:xfrm>
            <a:off x="0" y="0"/>
            <a:ext cx="3194892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/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/>
      <p:sp>
        <p:nvSpPr>
          <p:cNvPr id="5" name="图片占位符 4"/>
          <p:cNvSpPr>
            <a:spLocks noGrp="1"/>
          </p:cNvSpPr>
          <p:nvPr>
            <p:ph type="pic" idx="10"/>
          </p:nvPr>
        </p:nvSpPr>
        <p:spPr>
          <a:xfrm>
            <a:off x="6740435" y="0"/>
            <a:ext cx="5451567" cy="6858000"/>
          </a:xfrm>
          <a:custGeom>
            <a:avLst/>
            <a:gdLst>
              <a:gd name="connsiteX0" fmla="*/ 0 w 5451566"/>
              <a:gd name="connsiteY0" fmla="*/ 0 h 6858000"/>
              <a:gd name="connsiteX1" fmla="*/ 5451566 w 5451566"/>
              <a:gd name="connsiteY1" fmla="*/ 0 h 6858000"/>
              <a:gd name="connsiteX2" fmla="*/ 5451566 w 5451566"/>
              <a:gd name="connsiteY2" fmla="*/ 6858000 h 6858000"/>
              <a:gd name="connsiteX3" fmla="*/ 0 w 5451566"/>
              <a:gd name="connsiteY3" fmla="*/ 6858000 h 6858000"/>
            </a:gdLst>
            <a:ahLst/>
            <a:cxnLst/>
            <a:rect l="l" t="t" r="r" b="b"/>
            <a:pathLst>
              <a:path w="5451566" h="6858000">
                <a:moveTo>
                  <a:pt x="0" y="0"/>
                </a:moveTo>
                <a:lnTo>
                  <a:pt x="5451566" y="0"/>
                </a:lnTo>
                <a:lnTo>
                  <a:pt x="54515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10882"/>
            <a:ext cx="12192000" cy="6047117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/>
      <p:sp>
        <p:nvSpPr>
          <p:cNvPr id="10" name="图片占位符 9"/>
          <p:cNvSpPr>
            <a:spLocks noGrp="1"/>
          </p:cNvSpPr>
          <p:nvPr>
            <p:ph type="pic" idx="10"/>
          </p:nvPr>
        </p:nvSpPr>
        <p:spPr>
          <a:xfrm>
            <a:off x="-1" y="0"/>
            <a:ext cx="12192000" cy="2486722"/>
          </a:xfrm>
          <a:custGeom>
            <a:avLst/>
            <a:gdLst>
              <a:gd name="connsiteX0" fmla="*/ 0 w 12192000"/>
              <a:gd name="connsiteY0" fmla="*/ 0 h 2486722"/>
              <a:gd name="connsiteX1" fmla="*/ 12192000 w 12192000"/>
              <a:gd name="connsiteY1" fmla="*/ 0 h 2486722"/>
              <a:gd name="connsiteX2" fmla="*/ 12192000 w 12192000"/>
              <a:gd name="connsiteY2" fmla="*/ 2486722 h 2486722"/>
              <a:gd name="connsiteX3" fmla="*/ 0 w 12192000"/>
              <a:gd name="connsiteY3" fmla="*/ 2486722 h 2486722"/>
            </a:gdLst>
            <a:ahLst/>
            <a:cxnLst/>
            <a:rect l="l" t="t" r="r" b="b"/>
            <a:pathLst>
              <a:path w="12192000" h="2486722">
                <a:moveTo>
                  <a:pt x="0" y="0"/>
                </a:moveTo>
                <a:lnTo>
                  <a:pt x="12192000" y="0"/>
                </a:lnTo>
                <a:lnTo>
                  <a:pt x="12192000" y="2486722"/>
                </a:lnTo>
                <a:lnTo>
                  <a:pt x="0" y="248672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KSO_Shape"/>
          <p:cNvSpPr>
            <a:spLocks noGrp="1"/>
          </p:cNvSpPr>
          <p:nvPr/>
        </p:nvSpPr>
        <p:spPr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/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accent3"/>
                </a:solidFill>
              </a:rPr>
              <a:t>LOGO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3" name="图片占位符 9"/>
          <p:cNvSpPr>
            <a:spLocks noGrp="1"/>
          </p:cNvSpPr>
          <p:nvPr>
            <p:ph type="pic" idx="10"/>
          </p:nvPr>
        </p:nvSpPr>
        <p:spPr>
          <a:xfrm>
            <a:off x="1317625" y="1333500"/>
            <a:ext cx="2528888" cy="1503363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/>
        </p:txBody>
      </p:sp>
      <p:sp>
        <p:nvSpPr>
          <p:cNvPr id="14" name="图片占位符 9"/>
          <p:cNvSpPr>
            <a:spLocks noGrp="1"/>
          </p:cNvSpPr>
          <p:nvPr>
            <p:ph type="pic" idx="11"/>
          </p:nvPr>
        </p:nvSpPr>
        <p:spPr>
          <a:xfrm>
            <a:off x="4831275" y="1344821"/>
            <a:ext cx="2528888" cy="1503363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/>
        </p:txBody>
      </p:sp>
      <p:sp>
        <p:nvSpPr>
          <p:cNvPr id="15" name="图片占位符 9"/>
          <p:cNvSpPr>
            <a:spLocks noGrp="1"/>
          </p:cNvSpPr>
          <p:nvPr>
            <p:ph type="pic" idx="12"/>
          </p:nvPr>
        </p:nvSpPr>
        <p:spPr>
          <a:xfrm>
            <a:off x="8344925" y="1333500"/>
            <a:ext cx="2528888" cy="1503363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KSO_Shape"/>
          <p:cNvSpPr>
            <a:spLocks noGrp="1"/>
          </p:cNvSpPr>
          <p:nvPr/>
        </p:nvSpPr>
        <p:spPr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/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accent3"/>
                </a:solidFill>
              </a:rPr>
              <a:t>LOGO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0"/>
          </p:nvPr>
        </p:nvSpPr>
        <p:spPr>
          <a:xfrm>
            <a:off x="1016227" y="2773142"/>
            <a:ext cx="4972049" cy="2952750"/>
          </a:xfrm>
          <a:custGeom>
            <a:avLst/>
            <a:gdLst>
              <a:gd name="connsiteX0" fmla="*/ 0 w 4972049"/>
              <a:gd name="connsiteY0" fmla="*/ 0 h 2952750"/>
              <a:gd name="connsiteX1" fmla="*/ 4972049 w 4972049"/>
              <a:gd name="connsiteY1" fmla="*/ 0 h 2952750"/>
              <a:gd name="connsiteX2" fmla="*/ 4972049 w 4972049"/>
              <a:gd name="connsiteY2" fmla="*/ 2952750 h 2952750"/>
              <a:gd name="connsiteX3" fmla="*/ 0 w 4972049"/>
              <a:gd name="connsiteY3" fmla="*/ 2952750 h 2952750"/>
            </a:gdLst>
            <a:ahLst/>
            <a:cxnLst/>
            <a:rect l="l" t="t" r="r" b="b"/>
            <a:pathLst>
              <a:path w="4972049" h="2952750">
                <a:moveTo>
                  <a:pt x="0" y="0"/>
                </a:moveTo>
                <a:lnTo>
                  <a:pt x="4972049" y="0"/>
                </a:lnTo>
                <a:lnTo>
                  <a:pt x="4972049" y="2952750"/>
                </a:lnTo>
                <a:lnTo>
                  <a:pt x="0" y="29527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KSO_Shape"/>
          <p:cNvSpPr>
            <a:spLocks noGrp="1"/>
          </p:cNvSpPr>
          <p:nvPr/>
        </p:nvSpPr>
        <p:spPr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/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accent3"/>
                </a:solidFill>
              </a:rPr>
              <a:t>LOGO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0"/>
          </p:nvPr>
        </p:nvSpPr>
        <p:spPr>
          <a:xfrm>
            <a:off x="5829300" y="1159833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6" name="图片占位符 15"/>
          <p:cNvSpPr>
            <a:spLocks noGrp="1"/>
          </p:cNvSpPr>
          <p:nvPr>
            <p:ph type="pic" idx="11"/>
          </p:nvPr>
        </p:nvSpPr>
        <p:spPr>
          <a:xfrm>
            <a:off x="4962525" y="2955295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7" name="图片占位符 16"/>
          <p:cNvSpPr>
            <a:spLocks noGrp="1"/>
          </p:cNvSpPr>
          <p:nvPr>
            <p:ph type="pic" idx="12"/>
          </p:nvPr>
        </p:nvSpPr>
        <p:spPr>
          <a:xfrm>
            <a:off x="5829300" y="4750758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KSO_Shape"/>
          <p:cNvSpPr>
            <a:spLocks noGrp="1"/>
          </p:cNvSpPr>
          <p:nvPr/>
        </p:nvSpPr>
        <p:spPr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/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accent3"/>
                </a:solidFill>
              </a:rPr>
              <a:t>LOGO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0" name="图片占位符 19"/>
          <p:cNvSpPr>
            <a:spLocks noGrp="1"/>
          </p:cNvSpPr>
          <p:nvPr>
            <p:ph type="pic" idx="10"/>
          </p:nvPr>
        </p:nvSpPr>
        <p:spPr>
          <a:xfrm>
            <a:off x="800100" y="1562099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/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1" name="图片占位符 20"/>
          <p:cNvSpPr>
            <a:spLocks noGrp="1"/>
          </p:cNvSpPr>
          <p:nvPr>
            <p:ph type="pic" idx="11"/>
          </p:nvPr>
        </p:nvSpPr>
        <p:spPr>
          <a:xfrm>
            <a:off x="6391273" y="1562098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/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2" name="图片占位符 21"/>
          <p:cNvSpPr>
            <a:spLocks noGrp="1"/>
          </p:cNvSpPr>
          <p:nvPr>
            <p:ph type="pic" idx="12"/>
          </p:nvPr>
        </p:nvSpPr>
        <p:spPr>
          <a:xfrm>
            <a:off x="800099" y="3990806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/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3" name="图片占位符 22"/>
          <p:cNvSpPr>
            <a:spLocks noGrp="1"/>
          </p:cNvSpPr>
          <p:nvPr>
            <p:ph type="pic" idx="13"/>
          </p:nvPr>
        </p:nvSpPr>
        <p:spPr>
          <a:xfrm>
            <a:off x="6391272" y="3990805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/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KSO_Shape"/>
          <p:cNvSpPr>
            <a:spLocks noGrp="1"/>
          </p:cNvSpPr>
          <p:nvPr/>
        </p:nvSpPr>
        <p:spPr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/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accent3"/>
                </a:solidFill>
              </a:rPr>
              <a:t>LOGO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0"/>
          </p:nvPr>
        </p:nvSpPr>
        <p:spPr>
          <a:xfrm>
            <a:off x="93345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/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9" name="图片占位符 18"/>
          <p:cNvSpPr>
            <a:spLocks noGrp="1"/>
          </p:cNvSpPr>
          <p:nvPr>
            <p:ph type="pic" idx="11"/>
          </p:nvPr>
        </p:nvSpPr>
        <p:spPr>
          <a:xfrm>
            <a:off x="303133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/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0" name="图片占位符 19"/>
          <p:cNvSpPr>
            <a:spLocks noGrp="1"/>
          </p:cNvSpPr>
          <p:nvPr>
            <p:ph type="pic" idx="12"/>
          </p:nvPr>
        </p:nvSpPr>
        <p:spPr>
          <a:xfrm>
            <a:off x="512921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/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1" name="图片占位符 20"/>
          <p:cNvSpPr>
            <a:spLocks noGrp="1"/>
          </p:cNvSpPr>
          <p:nvPr>
            <p:ph type="pic" idx="13"/>
          </p:nvPr>
        </p:nvSpPr>
        <p:spPr>
          <a:xfrm>
            <a:off x="7227093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/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2" name="图片占位符 21"/>
          <p:cNvSpPr>
            <a:spLocks noGrp="1"/>
          </p:cNvSpPr>
          <p:nvPr>
            <p:ph type="pic" idx="14"/>
          </p:nvPr>
        </p:nvSpPr>
        <p:spPr>
          <a:xfrm>
            <a:off x="9324975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/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/>
      <p:sp>
        <p:nvSpPr>
          <p:cNvPr id="11" name="图片占位符 10"/>
          <p:cNvSpPr>
            <a:spLocks noGrp="1"/>
          </p:cNvSpPr>
          <p:nvPr>
            <p:ph type="pic" idx="10"/>
          </p:nvPr>
        </p:nvSpPr>
        <p:spPr>
          <a:xfrm>
            <a:off x="8353425" y="1152525"/>
            <a:ext cx="2638425" cy="2419350"/>
          </a:xfrm>
          <a:custGeom>
            <a:avLst/>
            <a:gdLst>
              <a:gd name="connsiteX0" fmla="*/ 2638425 w 2638425"/>
              <a:gd name="connsiteY0" fmla="*/ 0 h 2419350"/>
              <a:gd name="connsiteX1" fmla="*/ 2486025 w 2638425"/>
              <a:gd name="connsiteY1" fmla="*/ 2228850 h 2419350"/>
              <a:gd name="connsiteX2" fmla="*/ 0 w 2638425"/>
              <a:gd name="connsiteY2" fmla="*/ 2419350 h 2419350"/>
              <a:gd name="connsiteX3" fmla="*/ 171450 w 2638425"/>
              <a:gd name="connsiteY3" fmla="*/ 695325 h 2419350"/>
            </a:gdLst>
            <a:ahLst/>
            <a:cxnLst/>
            <a:rect l="l" t="t" r="r" b="b"/>
            <a:pathLst>
              <a:path w="2638425" h="2419350">
                <a:moveTo>
                  <a:pt x="2638425" y="0"/>
                </a:moveTo>
                <a:lnTo>
                  <a:pt x="2486025" y="2228850"/>
                </a:lnTo>
                <a:lnTo>
                  <a:pt x="0" y="2419350"/>
                </a:lnTo>
                <a:lnTo>
                  <a:pt x="171450" y="6953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KSO_Shape"/>
          <p:cNvSpPr>
            <a:spLocks noGrp="1"/>
          </p:cNvSpPr>
          <p:nvPr/>
        </p:nvSpPr>
        <p:spPr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/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accent3"/>
                </a:solidFill>
              </a:rPr>
              <a:t>LOGO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/>
      <p:sp>
        <p:nvSpPr>
          <p:cNvPr id="9" name="图片占位符 8"/>
          <p:cNvSpPr>
            <a:spLocks noGrp="1"/>
          </p:cNvSpPr>
          <p:nvPr>
            <p:ph type="pic" idx="10"/>
          </p:nvPr>
        </p:nvSpPr>
        <p:spPr>
          <a:xfrm>
            <a:off x="590551" y="1437117"/>
            <a:ext cx="5505451" cy="3392058"/>
          </a:xfrm>
          <a:custGeom>
            <a:avLst/>
            <a:gdLst>
              <a:gd name="connsiteX0" fmla="*/ 0 w 5505450"/>
              <a:gd name="connsiteY0" fmla="*/ 0 h 3392058"/>
              <a:gd name="connsiteX1" fmla="*/ 5505450 w 5505450"/>
              <a:gd name="connsiteY1" fmla="*/ 0 h 3392058"/>
              <a:gd name="connsiteX2" fmla="*/ 5505450 w 5505450"/>
              <a:gd name="connsiteY2" fmla="*/ 3392058 h 3392058"/>
              <a:gd name="connsiteX3" fmla="*/ 0 w 5505450"/>
              <a:gd name="connsiteY3" fmla="*/ 3392058 h 3392058"/>
            </a:gdLst>
            <a:ahLst/>
            <a:cxnLst/>
            <a:rect l="l" t="t" r="r" b="b"/>
            <a:pathLst>
              <a:path w="5505450" h="3392058">
                <a:moveTo>
                  <a:pt x="0" y="0"/>
                </a:moveTo>
                <a:lnTo>
                  <a:pt x="5505450" y="0"/>
                </a:lnTo>
                <a:lnTo>
                  <a:pt x="5505450" y="3392058"/>
                </a:lnTo>
                <a:lnTo>
                  <a:pt x="0" y="33920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KSO_Shape"/>
          <p:cNvSpPr>
            <a:spLocks noGrp="1"/>
          </p:cNvSpPr>
          <p:nvPr/>
        </p:nvSpPr>
        <p:spPr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/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accent3"/>
                </a:solidFill>
              </a:rPr>
              <a:t>LOGO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，文本与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r>
              <a:rPr>
                <a:latin typeface="Arial" panose="020B0604020202090204"/>
                <a:ea typeface="Arial" panose="020B0604020202090204"/>
                <a:cs typeface="Arial" panose="020B0604020202090204"/>
              </a:rPr>
              <a:t>P2P网络</a:t>
            </a: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rPr>
                <a:latin typeface="Arial" panose="020B0604020202090204"/>
                <a:ea typeface="Arial" panose="020B0604020202090204"/>
                <a:cs typeface="Arial" panose="020B0604020202090204"/>
              </a:rPr>
              <a:t>CCF@U第1244场，西北大学，2025</a:t>
            </a: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8048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8" name="灯片编号占位符 2"/>
          <p:cNvSpPr>
            <a:spLocks noGrp="1"/>
          </p:cNvSpPr>
          <p:nvPr>
            <p:ph type="sldNum" idx="4"/>
          </p:nvPr>
        </p:nvSpPr>
        <p:spPr>
          <a:xfrm>
            <a:off x="0" y="1017588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/>
            </a:lvl1pPr>
          </a:lstStyle>
          <a:p>
            <a:pPr marL="0" marR="0" indent="0" algn="ct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/>
              <a:buNone/>
            </a:pPr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/>
      <p:sp>
        <p:nvSpPr>
          <p:cNvPr id="5" name="图片占位符 4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/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CCF@U第1244场，西北大学，2025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450957" y="175260"/>
            <a:ext cx="11289665" cy="6381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buNone/>
            </a:pPr>
            <a:r>
              <a:rPr sz="54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【7/10–7/23】科研进展汇报</a:t>
            </a:r>
            <a:endParaRPr sz="54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ct val="0"/>
              </a:spcBef>
              <a:buNone/>
            </a:pPr>
          </a:p>
          <a:p>
            <a:pPr algn="ctr">
              <a:spcBef>
                <a:spcPct val="0"/>
              </a:spcBef>
              <a:buNone/>
            </a:pPr>
            <a:r>
              <a:rPr lang="zh-CN" sz="3200" b="1">
                <a:solidFill>
                  <a:schemeClr val="tx1"/>
                </a:solidFill>
              </a:rPr>
              <a:t>杨</a:t>
            </a:r>
            <a:r>
              <a:rPr sz="3200" b="1">
                <a:solidFill>
                  <a:schemeClr val="tx1"/>
                </a:solidFill>
              </a:rPr>
              <a:t>帆</a:t>
            </a:r>
            <a:endParaRPr sz="3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84091" y="115130"/>
            <a:ext cx="26238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48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主要任务</a:t>
            </a:r>
            <a:endParaRPr kumimoji="1" lang="zh-CN" altLang="en-US" sz="4800" b="1" dirty="0">
              <a:solidFill>
                <a:schemeClr val="tx1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latin typeface="+mj-ea"/>
              <a:ea typeface="+mj-ea"/>
              <a:cs typeface="+mj-cs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9147810" y="6445885"/>
            <a:ext cx="2743200" cy="365125"/>
          </a:xfrm>
        </p:spPr>
        <p:txBody>
          <a:bodyPr/>
          <a:p>
            <a:fld id="{C633BFE9-63B0-47AD-8FED-3BB7AC6D20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75665" y="1538605"/>
            <a:ext cx="10276205" cy="4647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342900" indent="-342900" algn="l">
              <a:lnSpc>
                <a:spcPct val="14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sz="2800" b="1" dirty="0">
                <a:solidFill>
                  <a:srgbClr val="C00000"/>
                </a:solidFill>
              </a:rPr>
              <a:t>中长期目标</a:t>
            </a:r>
            <a:r>
              <a:rPr lang="zh-CN" altLang="en-US" sz="2800" dirty="0"/>
              <a:t>：</a:t>
            </a:r>
            <a:r>
              <a:rPr sz="2800">
                <a:sym typeface="+mn-ea"/>
              </a:rPr>
              <a:t>围绕 L2 Rollup 跨层 MEV 防御，研究如何在无需可信第三方的前提下，通过密码学机制限制 Sequencer 的排序操纵。</a:t>
            </a:r>
            <a:endParaRPr lang="zh-CN" altLang="en-US" sz="2800" dirty="0"/>
          </a:p>
          <a:p>
            <a:pPr marL="342900" indent="-342900" algn="l">
              <a:lnSpc>
                <a:spcPct val="140000"/>
              </a:lnSpc>
              <a:buFont typeface="Wingdings" panose="05000000000000000000" charset="0"/>
              <a:buChar char="p"/>
            </a:pPr>
            <a:r>
              <a:rPr lang="zh-CN" altLang="en-US" sz="2800" b="1" dirty="0">
                <a:solidFill>
                  <a:srgbClr val="C00000"/>
                </a:solidFill>
              </a:rPr>
              <a:t>本周拟完成的任务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altLang="zh-CN" sz="2800" dirty="0"/>
              <a:t>1 </a:t>
            </a:r>
            <a:r>
              <a:rPr sz="2800">
                <a:sym typeface="+mn-ea"/>
              </a:rPr>
              <a:t>把“跨层窗口”拆成可核验的对象与阶段</a:t>
            </a:r>
            <a:endParaRPr sz="280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sz="2800">
                <a:sym typeface="+mn-ea"/>
              </a:rPr>
              <a:t>2</a:t>
            </a:r>
            <a:r>
              <a:rPr sz="2800">
                <a:sym typeface="+mn-ea"/>
              </a:rPr>
              <a:t>. 进一步</a:t>
            </a:r>
            <a:r>
              <a:rPr lang="zh-CN" sz="2800">
                <a:sym typeface="+mn-ea"/>
              </a:rPr>
              <a:t>细化</a:t>
            </a:r>
            <a:r>
              <a:rPr sz="2800">
                <a:sym typeface="+mn-ea"/>
              </a:rPr>
              <a:t>研究问题、威胁模型</a:t>
            </a:r>
            <a:endParaRPr sz="280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altLang="zh-CN" sz="2800" dirty="0"/>
              <a:t>3 </a:t>
            </a:r>
            <a:r>
              <a:rPr lang="zh-CN" altLang="en-US" sz="2800" dirty="0"/>
              <a:t>阅读论文</a:t>
            </a:r>
            <a:r>
              <a:rPr sz="2800">
                <a:sym typeface="+mn-ea"/>
              </a:rPr>
              <a:t>The Evolution of MEV, From Miners to Cross-Chain</a:t>
            </a:r>
            <a:endParaRPr sz="2800">
              <a:sym typeface="+mn-ea"/>
            </a:endParaRP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800">
                <a:sym typeface="+mn-ea"/>
              </a:rPr>
              <a:t>Mancino &amp; Sevim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875665" y="1628775"/>
            <a:ext cx="10276205" cy="438658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342900" indent="-342900" algn="l">
              <a:lnSpc>
                <a:spcPct val="140000"/>
              </a:lnSpc>
              <a:buFont typeface="Wingdings" panose="05000000000000000000"/>
              <a:buChar char="p"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75665" y="1538605"/>
            <a:ext cx="10276205" cy="46475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400">
                <a:solidFill>
                  <a:schemeClr val="accent1"/>
                </a:solidFill>
              </a:rPr>
              <a:t>进展一</a:t>
            </a:r>
            <a:r>
              <a:rPr lang="en-US" sz="2400">
                <a:solidFill>
                  <a:schemeClr val="accent1"/>
                </a:solidFill>
              </a:rPr>
              <a:t> </a:t>
            </a:r>
            <a:r>
              <a:rPr lang="zh-CN" altLang="en-US" sz="2400">
                <a:solidFill>
                  <a:schemeClr val="accent1"/>
                </a:solidFill>
              </a:rPr>
              <a:t>研究对象是 </a:t>
            </a:r>
            <a:r>
              <a:rPr lang="en-US" altLang="zh-CN" sz="2400">
                <a:solidFill>
                  <a:schemeClr val="accent1"/>
                </a:solidFill>
              </a:rPr>
              <a:t>L1→L2 </a:t>
            </a:r>
            <a:r>
              <a:rPr lang="zh-CN" altLang="en-US" sz="2400">
                <a:solidFill>
                  <a:schemeClr val="accent1"/>
                </a:solidFill>
              </a:rPr>
              <a:t>消息在排序前的可见性</a:t>
            </a:r>
            <a:endParaRPr lang="zh-CN" altLang="en-US" sz="2400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研究收缩：从宽泛的“跨层 </a:t>
            </a:r>
            <a:r>
              <a:rPr lang="en-US" altLang="zh-CN">
                <a:solidFill>
                  <a:schemeClr val="tx1"/>
                </a:solidFill>
              </a:rPr>
              <a:t>MEV </a:t>
            </a:r>
            <a:r>
              <a:rPr lang="zh-CN" altLang="en-US">
                <a:solidFill>
                  <a:schemeClr val="tx1"/>
                </a:solidFill>
              </a:rPr>
              <a:t>防御”，转向单 </a:t>
            </a:r>
            <a:r>
              <a:rPr lang="en-US" altLang="zh-CN">
                <a:solidFill>
                  <a:schemeClr val="tx1"/>
                </a:solidFill>
              </a:rPr>
              <a:t>Sequencer </a:t>
            </a:r>
            <a:r>
              <a:rPr lang="zh-CN" altLang="en-US">
                <a:solidFill>
                  <a:schemeClr val="tx1"/>
                </a:solidFill>
              </a:rPr>
              <a:t>的信息可见性与排序操纵面。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本周完成：明确主研究对象及其生命周期，区分“公开可验证”与“待 </a:t>
            </a:r>
            <a:r>
              <a:rPr lang="en-US" altLang="zh-CN">
                <a:solidFill>
                  <a:schemeClr val="tx1"/>
                </a:solidFill>
              </a:rPr>
              <a:t>V0 </a:t>
            </a:r>
            <a:r>
              <a:rPr lang="zh-CN" altLang="en-US">
                <a:solidFill>
                  <a:schemeClr val="tx1"/>
                </a:solidFill>
              </a:rPr>
              <a:t>核验”的阶段。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核心待验：</a:t>
            </a:r>
            <a:r>
              <a:rPr lang="en-US" altLang="zh-CN">
                <a:solidFill>
                  <a:schemeClr val="tx1"/>
                </a:solidFill>
              </a:rPr>
              <a:t>Sequencer </a:t>
            </a:r>
            <a:r>
              <a:rPr lang="zh-CN" altLang="en-US">
                <a:solidFill>
                  <a:schemeClr val="tx1"/>
                </a:solidFill>
              </a:rPr>
              <a:t>在承诺顺序前能够看到什么，以及能否影响相关对象的纳入和相对</a:t>
            </a:r>
            <a:r>
              <a:rPr lang="zh-CN" altLang="en-US" sz="1800"/>
              <a:t>位置</a:t>
            </a:r>
            <a:endParaRPr lang="zh-CN" altLang="en-US" sz="2400">
              <a:solidFill>
                <a:schemeClr val="accent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695960" y="1539240"/>
            <a:ext cx="11235055" cy="267652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</p:txBody>
      </p:sp>
      <p:sp>
        <p:nvSpPr>
          <p:cNvPr id="10" name="灯片编号占位符 9"/>
          <p:cNvSpPr>
            <a:spLocks noGrp="1"/>
          </p:cNvSpPr>
          <p:nvPr>
            <p:ph type="sldNum" idx="12"/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r>
              <a:t>3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3563621" y="115130"/>
            <a:ext cx="5064760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科研工作进展情况</a:t>
            </a:r>
            <a:endParaRPr sz="4800" b="1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3159125"/>
            <a:ext cx="7949565" cy="2980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直接连接符 2"/>
          <p:cNvSpPr>
            <a:spLocks noGrp="1"/>
          </p:cNvSpPr>
          <p:nvPr/>
        </p:nv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r>
              <a:t>4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75665" y="1538605"/>
            <a:ext cx="10276205" cy="46475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zh-CN" altLang="en-US" sz="2400">
                <a:solidFill>
                  <a:schemeClr val="accent1"/>
                </a:solidFill>
              </a:rPr>
              <a:t>进展二｜建立“可见性—行动能力—收益”的分层判定框架</a:t>
            </a:r>
            <a:endParaRPr lang="zh-CN" altLang="en-US" sz="2400">
              <a:solidFill>
                <a:schemeClr val="accent1"/>
              </a:solidFill>
            </a:endParaRPr>
          </a:p>
          <a:p>
            <a:endParaRPr lang="zh-CN" altLang="en-US" sz="2400">
              <a:solidFill>
                <a:schemeClr val="accent1"/>
              </a:solidFill>
            </a:endParaRPr>
          </a:p>
          <a:p>
            <a:r>
              <a:rPr lang="zh-CN" altLang="en-US" sz="1800" b="1">
                <a:solidFill>
                  <a:schemeClr val="tx1"/>
                </a:solidFill>
              </a:rPr>
              <a:t>信息可见不等于拥有排序权，拥有排序权也不等于能够获得正收益。</a:t>
            </a:r>
            <a:endParaRPr lang="zh-CN" altLang="en-US" sz="1800" b="1">
              <a:solidFill>
                <a:schemeClr val="tx1"/>
              </a:solidFill>
            </a:endParaRPr>
          </a:p>
          <a:p>
            <a:r>
              <a:t>RQ1 可见性：</a:t>
            </a:r>
            <a:r>
              <a:rPr lang="zh-CN" altLang="en-US"/>
              <a:t>信息在什么阶段、对哪些角色、以何种粒度可见？</a:t>
            </a:r>
            <a:endParaRPr lang="zh-CN" altLang="en-US"/>
          </a:p>
          <a:p>
            <a:r>
              <a:t>RQ2 可利用性：</a:t>
            </a:r>
            <a:r>
              <a:rPr lang="zh-CN" altLang="en-US"/>
              <a:t>角色能否改变相对排序，并满足前置状态与成本条件？</a:t>
            </a:r>
            <a:endParaRPr lang="zh-CN" altLang="en-US"/>
          </a:p>
          <a:p>
            <a:r>
              <a:t>RQ3 约束设计：</a:t>
            </a:r>
            <a:r>
              <a:rPr lang="zh-CN" altLang="en-US"/>
              <a:t>最小机制应隐藏什么、保留什么，又会引入哪些代价？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角色能力边界</a:t>
            </a:r>
            <a:endParaRPr lang="en-US" altLang="zh-CN" b="1"/>
          </a:p>
          <a:p>
            <a:r>
              <a:rPr lang="en-US" altLang="zh-CN"/>
              <a:t>Sequencer： </a:t>
            </a:r>
            <a:r>
              <a:rPr lang="zh-CN" altLang="en-US"/>
              <a:t>可纳入、延迟交易并影响相对顺序；不预设恶意、自营或共谋。</a:t>
            </a:r>
            <a:endParaRPr lang="en-US" altLang="zh-CN"/>
          </a:p>
          <a:p>
            <a:r>
              <a:rPr lang="en-US" altLang="zh-CN"/>
              <a:t>Searcher： </a:t>
            </a:r>
            <a:r>
              <a:rPr lang="zh-CN" altLang="en-US"/>
              <a:t>仅观察公开信息并提交自身交易；不假设能够访问私有队列或重排他人交易。</a:t>
            </a:r>
            <a:endParaRPr lang="en-US" altLang="zh-CN"/>
          </a:p>
          <a:p>
            <a:r>
              <a:rPr lang="zh-CN" altLang="en-US"/>
              <a:t>普通用户： 仅掌握自身 </a:t>
            </a:r>
            <a:r>
              <a:rPr lang="en-US" altLang="zh-CN"/>
              <a:t>payload </a:t>
            </a:r>
            <a:r>
              <a:rPr lang="zh-CN" altLang="en-US"/>
              <a:t>与公共状态；不假设具备搜索、持续监控或排序干预能力。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  <a:p>
            <a:endParaRPr lang="en-US" altLang="zh-CN"/>
          </a:p>
          <a:p>
            <a:r>
              <a:rPr lang="zh-CN" altLang="en-US"/>
              <a:t>准入条件：仅当“排序前可见”与“可改变相对顺序”同时成立时，才进入反事实净收益验证。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47035" y="403860"/>
            <a:ext cx="6599555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4800" b="1">
                <a:latin typeface="+mj-ea"/>
                <a:ea typeface="+mj-ea"/>
                <a:cs typeface="+mj-ea"/>
                <a:sym typeface="+mn-ea"/>
              </a:rPr>
              <a:t>科研工作进展情况</a:t>
            </a:r>
            <a:endParaRPr lang="zh-CN" altLang="en-US"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875665" y="1628775"/>
            <a:ext cx="10276205" cy="438658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342900" indent="-342900" algn="l">
              <a:lnSpc>
                <a:spcPct val="140000"/>
              </a:lnSpc>
              <a:buFont typeface="Wingdings" panose="05000000000000000000"/>
              <a:buChar char="p"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75665" y="1538605"/>
            <a:ext cx="10276205" cy="46475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/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695960" y="1539240"/>
            <a:ext cx="11235055" cy="267652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</p:txBody>
      </p:sp>
      <p:sp>
        <p:nvSpPr>
          <p:cNvPr id="10" name="灯片编号占位符 9"/>
          <p:cNvSpPr>
            <a:spLocks noGrp="1"/>
          </p:cNvSpPr>
          <p:nvPr>
            <p:ph type="sldNum" idx="12"/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r>
              <a:t>5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1506221" y="99255"/>
            <a:ext cx="9093200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科研工作进展情况【不超过3页】</a:t>
            </a:r>
            <a:endParaRPr sz="4800" b="1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95" y="2439035"/>
            <a:ext cx="7886700" cy="4267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562860" y="1718945"/>
            <a:ext cx="6274435" cy="311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accent1"/>
                </a:solidFill>
              </a:rPr>
              <a:t>进展三｜每项研究主张都绑定后续证据门槛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3378200" y="114935"/>
            <a:ext cx="2889885" cy="40068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/>
              <a:t>论文阅读</a:t>
            </a:r>
            <a:r>
              <a:rPr lang="en-US" sz="3200"/>
              <a:t> </a:t>
            </a:r>
            <a:r>
              <a:rPr lang="en-US" altLang="zh-CN" sz="3200"/>
              <a:t>MEV </a:t>
            </a:r>
            <a:r>
              <a:rPr lang="zh-CN" altLang="en-US" sz="3200"/>
              <a:t>的三阶段演化与两维分类</a:t>
            </a:r>
            <a:endParaRPr lang="zh-CN" altLang="en-US" sz="3200"/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r>
              <a:t>6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875665" y="1538605"/>
            <a:ext cx="10276205" cy="46475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en-US" altLang="zh-CN"/>
              <a:t>SoK: The Evolution of Maximal Extractable Value,</a:t>
            </a:r>
            <a:endParaRPr lang="en-US" altLang="zh-CN"/>
          </a:p>
          <a:p>
            <a:r>
              <a:rPr lang="en-US" altLang="zh-CN"/>
              <a:t>From Miners to Cross-Chain</a:t>
            </a:r>
            <a:endParaRPr lang="en-US" altLang="zh-CN"/>
          </a:p>
          <a:p>
            <a:r>
              <a:rPr lang="en-US" altLang="zh-CN"/>
              <a:t>Mancino &amp; Sevim，2026</a:t>
            </a:r>
            <a:endParaRPr lang="en-US" altLang="zh-CN"/>
          </a:p>
          <a:p>
            <a:r>
              <a:rPr lang="en-US" altLang="zh-CN"/>
              <a:t>Era I｜Miner Extractable Value（2014–2020）</a:t>
            </a:r>
            <a:endParaRPr lang="en-US" altLang="zh-CN"/>
          </a:p>
          <a:p>
            <a:r>
              <a:rPr lang="en-US" altLang="zh-CN"/>
              <a:t>PoW miner｜</a:t>
            </a:r>
            <a:r>
              <a:rPr lang="zh-CN" altLang="en-US"/>
              <a:t>公开 </a:t>
            </a:r>
            <a:r>
              <a:rPr lang="en-US" altLang="zh-CN"/>
              <a:t>mempool｜PGA｜front-running｜</a:t>
            </a:r>
            <a:r>
              <a:rPr lang="zh-CN" altLang="en-US"/>
              <a:t>共识风险</a:t>
            </a:r>
            <a:endParaRPr lang="en-US" altLang="zh-CN"/>
          </a:p>
          <a:p>
            <a:r>
              <a:rPr lang="en-US" altLang="zh-CN"/>
              <a:t>Era II｜Maximal Extractable Value（2020–2024）</a:t>
            </a:r>
            <a:endParaRPr lang="en-US" altLang="zh-CN"/>
          </a:p>
          <a:p>
            <a:r>
              <a:rPr lang="en-US" altLang="zh-CN"/>
              <a:t>Flashbots｜REV｜PBS / MEV-Boost｜builder / validator｜</a:t>
            </a:r>
            <a:r>
              <a:rPr lang="zh-CN" altLang="en-US"/>
              <a:t>产业化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Era III｜Cross-Chain MEV（2024–</a:t>
            </a:r>
            <a:r>
              <a:rPr lang="zh-CN" altLang="en-US"/>
              <a:t>至今）</a:t>
            </a:r>
            <a:endParaRPr lang="zh-CN" altLang="en-US"/>
          </a:p>
          <a:p>
            <a:r>
              <a:rPr lang="en-US" altLang="zh-CN"/>
              <a:t>L2 Sequencer｜bridge｜</a:t>
            </a:r>
            <a:r>
              <a:rPr lang="zh-CN" altLang="en-US"/>
              <a:t>多 </a:t>
            </a:r>
            <a:r>
              <a:rPr lang="en-US" altLang="zh-CN"/>
              <a:t>ordering domain｜</a:t>
            </a:r>
            <a:r>
              <a:rPr lang="zh-CN" altLang="en-US"/>
              <a:t>跨域协调｜测量困难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两条概念轴：</a:t>
            </a:r>
            <a:endParaRPr lang="zh-CN" altLang="en-US"/>
          </a:p>
          <a:p>
            <a:r>
              <a:rPr lang="en-US" altLang="zh-CN"/>
              <a:t>single-domain ↔ cross-domain</a:t>
            </a:r>
            <a:endParaRPr lang="en-US" altLang="zh-CN"/>
          </a:p>
          <a:p>
            <a:r>
              <a:rPr lang="en-US" altLang="zh-CN"/>
              <a:t>potential ↔ realized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核心结论：</a:t>
            </a:r>
            <a:endParaRPr lang="zh-CN" altLang="en-US"/>
          </a:p>
          <a:p>
            <a:r>
              <a:rPr lang="zh-CN" altLang="en-US"/>
              <a:t>论文提供 </a:t>
            </a:r>
            <a:r>
              <a:rPr lang="en-US" altLang="zh-CN"/>
              <a:t>MEV </a:t>
            </a:r>
            <a:r>
              <a:rPr lang="zh-CN" altLang="en-US"/>
              <a:t>的历史时间轴与概念坐标系，</a:t>
            </a:r>
            <a:endParaRPr lang="zh-CN" altLang="en-US"/>
          </a:p>
          <a:p>
            <a:r>
              <a:rPr lang="zh-CN" altLang="en-US"/>
              <a:t>但不直接证明特定 </a:t>
            </a:r>
            <a:r>
              <a:rPr lang="en-US" altLang="zh-CN"/>
              <a:t>Rollup </a:t>
            </a:r>
            <a:r>
              <a:rPr lang="zh-CN" altLang="en-US"/>
              <a:t>中已经发生收益提取。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875665" y="1628775"/>
            <a:ext cx="10276205" cy="438658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342900" indent="-342900" algn="l">
              <a:lnSpc>
                <a:spcPct val="140000"/>
              </a:lnSpc>
              <a:buFont typeface="Wingdings" panose="05000000000000000000"/>
              <a:buChar char="p"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875665" y="1538605"/>
            <a:ext cx="10920095" cy="429895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zh-CN" altLang="en-US"/>
              <a:t>论文参考意义｜从“观察时间差”转向“验证完整可利用性”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论文概念                 对本项目的调整                  当前边界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Ordering domain         </a:t>
            </a:r>
            <a:r>
              <a:rPr lang="zh-CN" altLang="en-US"/>
              <a:t>先确定对象在哪里创建、           跨越 </a:t>
            </a:r>
            <a:r>
              <a:rPr lang="en-US" altLang="zh-CN"/>
              <a:t>L1/L2 </a:t>
            </a:r>
            <a:r>
              <a:rPr lang="zh-CN" altLang="en-US"/>
              <a:t>本身</a:t>
            </a:r>
            <a:endParaRPr lang="zh-CN" altLang="en-US"/>
          </a:p>
          <a:p>
            <a:r>
              <a:rPr lang="zh-CN" altLang="en-US"/>
              <a:t>由 </a:t>
            </a:r>
            <a:r>
              <a:rPr lang="en-US" altLang="zh-CN"/>
              <a:t>Sequencer </a:t>
            </a:r>
            <a:r>
              <a:rPr lang="zh-CN" altLang="en-US"/>
              <a:t>控制        由谁排序、在哪里执行             不自动构成跨域 </a:t>
            </a:r>
            <a:r>
              <a:rPr lang="en-US" altLang="zh-CN"/>
              <a:t>MEV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Potential ≠ Realized    </a:t>
            </a:r>
            <a:r>
              <a:rPr lang="zh-CN" altLang="en-US"/>
              <a:t>不再由时间差直接推断 </a:t>
            </a:r>
            <a:r>
              <a:rPr lang="en-US" altLang="zh-CN"/>
              <a:t>MEV         </a:t>
            </a:r>
            <a:r>
              <a:rPr lang="zh-CN" altLang="en-US"/>
              <a:t>当前只定义潜在</a:t>
            </a:r>
            <a:endParaRPr lang="zh-CN" altLang="en-US"/>
          </a:p>
          <a:p>
            <a:r>
              <a:rPr lang="zh-CN" altLang="en-US"/>
              <a:t>实际收益受竞争、失败、   需要继续验证行动能力、           排序操纵面</a:t>
            </a:r>
            <a:endParaRPr lang="zh-CN" altLang="en-US"/>
          </a:p>
          <a:p>
            <a:r>
              <a:rPr lang="zh-CN" altLang="en-US"/>
              <a:t>延迟与成本约束           反事实顺序与净收益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Cross-domain detection  </a:t>
            </a:r>
            <a:r>
              <a:rPr lang="zh-CN" altLang="en-US"/>
              <a:t>先完成唯一对象映射和             暂无私有 </a:t>
            </a:r>
            <a:r>
              <a:rPr lang="en-US" altLang="zh-CN"/>
              <a:t>first-seen、</a:t>
            </a:r>
            <a:endParaRPr lang="en-US" altLang="zh-CN"/>
          </a:p>
          <a:p>
            <a:r>
              <a:rPr lang="zh-CN" altLang="en-US"/>
              <a:t>需关联异构数据           可复现数据链路                   重排与收益重放证据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本项目形成的可利用性证据链：</a:t>
            </a:r>
            <a:endParaRPr lang="zh-CN" altLang="en-US"/>
          </a:p>
          <a:p>
            <a:r>
              <a:rPr lang="zh-CN" altLang="en-US"/>
              <a:t>排序前可见 → 具备行动能力 → 可改变相对顺序→ 反事实可执行 → 净收益为正</a:t>
            </a:r>
            <a:endParaRPr lang="en-US" altLang="zh-CN"/>
          </a:p>
          <a:p>
            <a:r>
              <a:rPr lang="zh-CN" altLang="en-US"/>
              <a:t>任一环缺失，只能称为“待验证风险”，不能称为 </a:t>
            </a:r>
            <a:r>
              <a:rPr lang="en-US" altLang="zh-CN"/>
              <a:t>realized MEV。</a:t>
            </a:r>
            <a:endParaRPr lang="en-US" altLang="zh-CN"/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695960" y="1539240"/>
            <a:ext cx="11235055" cy="267652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  <a:p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/>
              <a:buNone/>
            </a:pPr>
          </a:p>
        </p:txBody>
      </p:sp>
      <p:sp>
        <p:nvSpPr>
          <p:cNvPr id="10" name="灯片编号占位符 9"/>
          <p:cNvSpPr>
            <a:spLocks noGrp="1"/>
          </p:cNvSpPr>
          <p:nvPr>
            <p:ph type="sldNum" idx="12"/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r>
              <a:t>7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4973956" y="115130"/>
            <a:ext cx="224409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buNone/>
              <a:defRPr sz="2700"/>
            </a:pPr>
            <a:r>
              <a:rPr sz="27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论文</a:t>
            </a:r>
            <a:r>
              <a:rPr lang="zh-CN" sz="27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参考</a:t>
            </a:r>
            <a:r>
              <a:rPr lang="zh-CN" sz="27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意义</a:t>
            </a:r>
            <a:endParaRPr lang="zh-CN" sz="2700" b="1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3378201" y="115130"/>
            <a:ext cx="447294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本周学习体会【限1页】</a:t>
            </a:r>
            <a:endParaRPr sz="3200"/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r>
              <a:t>8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875665" y="1538605"/>
            <a:ext cx="10276205" cy="46475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zh-CN" altLang="en-US" sz="2400" b="1"/>
              <a:t>本周最大的认识：不能由“存在时间差”直接推断 </a:t>
            </a:r>
            <a:r>
              <a:rPr lang="en-US" altLang="zh-CN" sz="2400" b="1"/>
              <a:t>MEV，</a:t>
            </a:r>
            <a:r>
              <a:rPr lang="zh-CN" altLang="en-US" sz="2400" b="1"/>
              <a:t>而应依次验证对象语义、角色能力、反事实顺序与净收益。</a:t>
            </a:r>
            <a:endParaRPr lang="zh-CN" altLang="en-US" sz="2400" b="1"/>
          </a:p>
          <a:p>
            <a:r>
              <a:t>1. 对象先于指标</a:t>
            </a:r>
          </a:p>
          <a:p>
            <a:r>
              <a:rPr lang="zh-CN" altLang="en-US"/>
              <a:t>对象先于指标</a:t>
            </a:r>
            <a:endParaRPr lang="zh-CN" altLang="en-US"/>
          </a:p>
          <a:p>
            <a:r>
              <a:rPr lang="en-US" altLang="zh-CN"/>
              <a:t>L1→L2 </a:t>
            </a:r>
            <a:r>
              <a:rPr lang="zh-CN" altLang="en-US"/>
              <a:t>的 </a:t>
            </a:r>
            <a:r>
              <a:rPr lang="en-US" altLang="zh-CN"/>
              <a:t>message visibility </a:t>
            </a:r>
            <a:r>
              <a:rPr lang="zh-CN" altLang="en-US"/>
              <a:t>与 </a:t>
            </a:r>
            <a:r>
              <a:rPr lang="en-US" altLang="zh-CN"/>
              <a:t>L2→L1 </a:t>
            </a:r>
            <a:r>
              <a:rPr lang="zh-CN" altLang="en-US"/>
              <a:t>的 </a:t>
            </a:r>
            <a:r>
              <a:rPr lang="en-US" altLang="zh-CN"/>
              <a:t>batch publication lag </a:t>
            </a:r>
            <a:r>
              <a:rPr lang="zh-CN" altLang="en-US"/>
              <a:t>在方向、对象和生命周期上均不同。</a:t>
            </a:r>
            <a:endParaRPr lang="zh-CN" altLang="en-US"/>
          </a:p>
          <a:p>
            <a:r>
              <a:rPr lang="zh-CN" altLang="en-US"/>
              <a:t>启示：在计算延迟之前，必须先确认研究对象的官方语义、唯一标识与阶段映射。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 </a:t>
            </a:r>
            <a:r>
              <a:rPr lang="zh-CN" altLang="en-US"/>
              <a:t>能力先于归因</a:t>
            </a:r>
            <a:endParaRPr lang="zh-CN" altLang="en-US"/>
          </a:p>
          <a:p>
            <a:r>
              <a:rPr lang="zh-CN" altLang="en-US"/>
              <a:t>信息可见 ≠ 拥有排序控制；拥有排序控制 ≠ 实际改变顺序；改变顺序 ≠ 获得正净收益。</a:t>
            </a:r>
            <a:endParaRPr lang="zh-CN" altLang="en-US"/>
          </a:p>
          <a:p>
            <a:r>
              <a:rPr lang="zh-CN" altLang="en-US"/>
              <a:t>启示：必须分别界定 </a:t>
            </a:r>
            <a:r>
              <a:rPr lang="en-US" altLang="zh-CN"/>
              <a:t>Sequencer、searcher </a:t>
            </a:r>
            <a:r>
              <a:rPr lang="zh-CN" altLang="en-US"/>
              <a:t>和普通用户的可见信息与行动能力，不能将 </a:t>
            </a:r>
            <a:r>
              <a:rPr lang="en-US" altLang="zh-CN"/>
              <a:t>Sequencer </a:t>
            </a:r>
            <a:r>
              <a:rPr lang="zh-CN" altLang="en-US"/>
              <a:t>的能力默认赋予外部 </a:t>
            </a:r>
            <a:r>
              <a:rPr lang="en-US" altLang="zh-CN"/>
              <a:t>searcher。</a:t>
            </a:r>
            <a:endParaRPr lang="en-US" altLang="zh-CN"/>
          </a:p>
          <a:p>
            <a:endParaRPr lang="en-US" altLang="zh-CN"/>
          </a:p>
          <a:p>
            <a:r>
              <a:t>3. 证据先于机制</a:t>
            </a:r>
          </a:p>
          <a:p>
            <a:r>
              <a:rPr lang="zh-CN" altLang="en-US"/>
              <a:t>证据先于机制</a:t>
            </a:r>
            <a:endParaRPr lang="zh-CN" altLang="en-US"/>
          </a:p>
          <a:p>
            <a:r>
              <a:rPr lang="zh-CN" altLang="en-US"/>
              <a:t>只有“排序前可见—具备行动能力—可改变相对顺序—反事实可执行—净收益为正”依次成立，才能说明风险具有完整可利用性。</a:t>
            </a:r>
            <a:endParaRPr lang="zh-CN" altLang="en-US"/>
          </a:p>
          <a:p>
            <a:r>
              <a:rPr lang="en-US" altLang="zh-CN"/>
              <a:t>Commit-Reveal </a:t>
            </a:r>
            <a:r>
              <a:rPr lang="zh-CN" altLang="en-US"/>
              <a:t>目前只是降低排序前完整 </a:t>
            </a:r>
            <a:r>
              <a:rPr lang="en-US" altLang="zh-CN"/>
              <a:t>payload </a:t>
            </a:r>
            <a:r>
              <a:rPr lang="zh-CN" altLang="en-US"/>
              <a:t>可见性的候选机制，不能自动解决审查、强制纳入、元数据泄漏和 </a:t>
            </a:r>
            <a:r>
              <a:rPr lang="en-US" altLang="zh-CN"/>
              <a:t>reveal </a:t>
            </a:r>
            <a:r>
              <a:rPr lang="zh-CN" altLang="en-US"/>
              <a:t>后重排。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1350011" y="99255"/>
            <a:ext cx="99872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/>
              <a:t>下周科研计划</a:t>
            </a:r>
            <a:r>
              <a:rPr lang="en-US" sz="3600"/>
              <a:t>：</a:t>
            </a:r>
            <a:r>
              <a:rPr lang="zh-CN" altLang="en-US" sz="3600"/>
              <a:t>完成 </a:t>
            </a:r>
            <a:r>
              <a:rPr lang="en-US" altLang="zh-CN" sz="3600"/>
              <a:t>V0 </a:t>
            </a:r>
            <a:r>
              <a:rPr lang="zh-CN" altLang="en-US" sz="3600"/>
              <a:t>语义核验与 </a:t>
            </a:r>
            <a:r>
              <a:rPr lang="en-US" altLang="zh-CN" sz="3600"/>
              <a:t>V1 </a:t>
            </a:r>
            <a:r>
              <a:rPr lang="zh-CN" altLang="en-US" sz="3600"/>
              <a:t>链路验证</a:t>
            </a:r>
            <a:endParaRPr lang="zh-CN" altLang="en-US" sz="3600"/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372745" y="1188280"/>
            <a:ext cx="11485245" cy="0"/>
          </a:xfrm>
          <a:prstGeom prst="line">
            <a:avLst/>
          </a:prstGeom>
          <a:ln w="44450">
            <a:solidFill>
              <a:srgbClr val="0E34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xfrm>
            <a:off x="9147810" y="6445885"/>
            <a:ext cx="2743200" cy="365125"/>
          </a:xfrm>
        </p:spPr>
        <p:txBody>
          <a:bodyPr/>
          <a:lstStyle/>
          <a:p>
            <a:r>
              <a:t>9</a:t>
            </a: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875665" y="1538605"/>
            <a:ext cx="10276205" cy="46475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lang="zh-CN" altLang="en-US"/>
              <a:t>目标：建立语义明确、映射唯一且可复现的 </a:t>
            </a:r>
            <a:r>
              <a:rPr lang="en-US" altLang="zh-CN"/>
              <a:t>L1→L2 </a:t>
            </a:r>
            <a:r>
              <a:rPr lang="zh-CN" altLang="en-US"/>
              <a:t>对象链路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任务一：</a:t>
            </a:r>
            <a:r>
              <a:rPr lang="en-US" altLang="zh-CN" b="1"/>
              <a:t>V0 </a:t>
            </a:r>
            <a:r>
              <a:rPr lang="zh-CN" altLang="en-US" b="1"/>
              <a:t>对象语义核验</a:t>
            </a:r>
            <a:endParaRPr lang="zh-CN" altLang="en-US" b="1"/>
          </a:p>
          <a:p>
            <a:r>
              <a:rPr lang="zh-CN" altLang="en-US"/>
              <a:t>核验 </a:t>
            </a:r>
            <a:r>
              <a:rPr lang="en-US" altLang="zh-CN"/>
              <a:t>message、ticket、L2 </a:t>
            </a:r>
            <a:r>
              <a:rPr lang="zh-CN" altLang="en-US"/>
              <a:t>创建/执行与 </a:t>
            </a:r>
            <a:r>
              <a:rPr lang="en-US" altLang="zh-CN"/>
              <a:t>batch </a:t>
            </a:r>
            <a:r>
              <a:rPr lang="zh-CN" altLang="en-US"/>
              <a:t>的官方语义</a:t>
            </a:r>
            <a:endParaRPr lang="zh-CN" altLang="en-US"/>
          </a:p>
          <a:p>
            <a:r>
              <a:rPr lang="zh-CN" altLang="en-US"/>
              <a:t>明确唯一标识、事件关联与关键时间锚点</a:t>
            </a:r>
            <a:endParaRPr lang="zh-CN" altLang="en-US"/>
          </a:p>
          <a:p>
            <a:r>
              <a:rPr lang="zh-CN" altLang="en-US"/>
              <a:t>区分历史数据可验证事实与暂时保留的系统假设</a:t>
            </a:r>
            <a:endParaRPr lang="zh-CN" altLang="en-US"/>
          </a:p>
          <a:p>
            <a:r>
              <a:rPr lang="zh-CN" altLang="en-US"/>
              <a:t>产出：对象生命周期图、字段与标识映射表</a:t>
            </a:r>
            <a:endParaRPr lang="zh-CN" altLang="en-US"/>
          </a:p>
          <a:p>
            <a:endParaRPr lang="zh-CN" altLang="en-US"/>
          </a:p>
          <a:p>
            <a:r>
              <a:rPr lang="en-US" altLang="zh-CN" b="1"/>
              <a:t>V1｜</a:t>
            </a:r>
            <a:r>
              <a:rPr lang="zh-CN" altLang="en-US" b="1"/>
              <a:t>小样本链路验证</a:t>
            </a:r>
            <a:endParaRPr lang="zh-CN" altLang="en-US" b="1"/>
          </a:p>
          <a:p>
            <a:r>
              <a:rPr lang="zh-CN" altLang="en-US"/>
              <a:t>选择具有明确关联规则的 </a:t>
            </a:r>
            <a:r>
              <a:rPr lang="en-US" altLang="zh-CN"/>
              <a:t>L1→L2 message</a:t>
            </a:r>
            <a:endParaRPr lang="en-US" altLang="zh-CN"/>
          </a:p>
          <a:p>
            <a:r>
              <a:rPr lang="zh-CN" altLang="en-US"/>
              <a:t>验证 </a:t>
            </a:r>
            <a:r>
              <a:rPr lang="en-US" altLang="zh-CN"/>
              <a:t>L1 </a:t>
            </a:r>
            <a:r>
              <a:rPr lang="zh-CN" altLang="en-US"/>
              <a:t>提交至 </a:t>
            </a:r>
            <a:r>
              <a:rPr lang="en-US" altLang="zh-CN"/>
              <a:t>L2 </a:t>
            </a:r>
            <a:r>
              <a:rPr lang="zh-CN" altLang="en-US"/>
              <a:t>创建/执行的唯一映射</a:t>
            </a:r>
            <a:endParaRPr lang="zh-CN" altLang="en-US"/>
          </a:p>
          <a:p>
            <a:r>
              <a:rPr lang="zh-CN" altLang="en-US"/>
              <a:t>记录成功链路、失败对象及失败原因</a:t>
            </a:r>
            <a:endParaRPr lang="en-US" altLang="zh-CN"/>
          </a:p>
          <a:p>
            <a:r>
              <a:rPr lang="zh-CN" altLang="en-US"/>
              <a:t>产出：可复现映射规则、小样本数据与失败案例清单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175" y="2941110"/>
            <a:ext cx="1009651" cy="2305049"/>
          </a:xfrm>
          <a:prstGeom prst="rect">
            <a:avLst/>
          </a:prstGeom>
          <a:ln w="9525">
            <a:noFill/>
          </a:ln>
        </p:spPr>
      </p:pic>
      <p:sp>
        <p:nvSpPr>
          <p:cNvPr id="4" name="标题 6"/>
          <p:cNvSpPr>
            <a:spLocks noGrp="1"/>
          </p:cNvSpPr>
          <p:nvPr/>
        </p:nvSpPr>
        <p:spPr>
          <a:xfrm>
            <a:off x="1595755" y="253154"/>
            <a:ext cx="10363200" cy="196003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sz="5335" b="1">
                <a:effectLst>
                  <a:outerShdw blurRad="38100" dist="38100" dir="2700000">
                    <a:srgbClr val="C0C0C0"/>
                  </a:outerShdw>
                </a:effectLst>
                <a:latin typeface="微软雅黑"/>
                <a:ea typeface="微软雅黑"/>
                <a:cs typeface="微软雅黑"/>
              </a:rPr>
              <a:t>谢谢，敬请批评指正！</a:t>
            </a:r>
            <a:endParaRPr sz="5335" b="1">
              <a:effectLst>
                <a:outerShdw blurRad="38100" dist="38100" dir="2700000">
                  <a:srgbClr val="C0C0C0"/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2505</Words>
  <Application>WPS 表格</Application>
  <PresentationFormat>Converted Presentation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Arial</vt:lpstr>
      <vt:lpstr>Calibri</vt:lpstr>
      <vt:lpstr>Helvetica Neue</vt:lpstr>
      <vt:lpstr>Wingdings</vt:lpstr>
      <vt:lpstr>微软雅黑</vt:lpstr>
      <vt:lpstr>汉仪旗黑</vt:lpstr>
      <vt:lpstr>微软雅黑</vt:lpstr>
      <vt:lpstr>宋体</vt:lpstr>
      <vt:lpstr>Arial Unicode MS</vt:lpstr>
      <vt:lpstr>Calibri Light</vt:lpstr>
      <vt:lpstr>汉仪书宋二KW</vt:lpstr>
      <vt:lpstr>Wingdings</vt:lpstr>
      <vt:lpstr>微软雅黑</vt:lpstr>
      <vt:lpstr>Calibri</vt:lpstr>
      <vt:lpstr>主题1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shanse</cp:lastModifiedBy>
  <cp:revision>12</cp:revision>
  <dcterms:created xsi:type="dcterms:W3CDTF">2026-07-23T11:20:31Z</dcterms:created>
  <dcterms:modified xsi:type="dcterms:W3CDTF">2026-07-23T11:20:31Z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456427700198AB366BEC616ACDEC87DA_42</vt:lpwstr>
  </property>
</Properties>
</file>