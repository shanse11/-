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b5c823b10345c8" /><Relationship Type="http://schemas.openxmlformats.org/officeDocument/2006/relationships/extended-properties" Target="/docProps/app.xml" Id="R4f56a461ccc5437e" /><Relationship Type="http://schemas.openxmlformats.org/officeDocument/2006/relationships/officeDocument" Target="/ppt/presentation.xml" Id="Rccdb1177c46442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821399c2254161"/>
    <p:sldMasterId xmlns:r="http://schemas.openxmlformats.org/officeDocument/2006/relationships" id="2147483678" r:id="Rf8bbfc8b2e334f4d"/>
  </p:sldMasterIdLst>
  <p:notesMasterIdLst>
    <p:notesMasterId xmlns:r="http://schemas.openxmlformats.org/officeDocument/2006/relationships" r:id="Rfbcbc9546cc8454d"/>
  </p:notesMasterIdLst>
  <p:sldIdLst>
    <p:sldId xmlns:r="http://schemas.openxmlformats.org/officeDocument/2006/relationships" id="256" r:id="Re6b4df4618694e35"/>
    <p:sldId xmlns:r="http://schemas.openxmlformats.org/officeDocument/2006/relationships" id="257" r:id="R1b7e9f6d82824710"/>
    <p:sldId xmlns:r="http://schemas.openxmlformats.org/officeDocument/2006/relationships" id="258" r:id="R251684843cc5431c"/>
    <p:sldId xmlns:r="http://schemas.openxmlformats.org/officeDocument/2006/relationships" id="259" r:id="R1ad35c633bd14e49"/>
    <p:sldId xmlns:r="http://schemas.openxmlformats.org/officeDocument/2006/relationships" id="260" r:id="R7c90b70393084ff3"/>
    <p:sldId xmlns:r="http://schemas.openxmlformats.org/officeDocument/2006/relationships" id="261" r:id="R84890d625710483d"/>
    <p:sldId xmlns:r="http://schemas.openxmlformats.org/officeDocument/2006/relationships" id="262" r:id="R59ba9086e26a4643"/>
    <p:sldId xmlns:r="http://schemas.openxmlformats.org/officeDocument/2006/relationships" id="263" r:id="R2d1dfc66a01e40d1"/>
    <p:sldId xmlns:r="http://schemas.openxmlformats.org/officeDocument/2006/relationships" id="264" r:id="R1a15c5c754e44589"/>
    <p:sldId xmlns:r="http://schemas.openxmlformats.org/officeDocument/2006/relationships" id="265" r:id="R6532b30fa310430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90001" cy="90001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21c5808fb54fc9" /><Relationship Type="http://schemas.openxmlformats.org/officeDocument/2006/relationships/slideMaster" Target="/ppt/slideMasters/slideMaster1.xml" Id="Rc0821399c2254161" /><Relationship Type="http://schemas.openxmlformats.org/officeDocument/2006/relationships/slideMaster" Target="/ppt/slideMasters/slideMaster2.xml" Id="Rf8bbfc8b2e334f4d" /><Relationship Type="http://schemas.openxmlformats.org/officeDocument/2006/relationships/notesMaster" Target="/ppt/notesMasters/notesMaster1.xml" Id="Rfbcbc9546cc8454d" /><Relationship Type="http://schemas.openxmlformats.org/officeDocument/2006/relationships/presProps" Target="/ppt/presProps.xml" Id="Rc3b5d24479df4081" /><Relationship Type="http://schemas.openxmlformats.org/officeDocument/2006/relationships/viewProps" Target="/ppt/viewProps.xml" Id="Rd5ac82cf62724292" /><Relationship Type="http://schemas.openxmlformats.org/officeDocument/2006/relationships/tableStyles" Target="/ppt/tableStyles.xml" Id="R3f6095f1cf054e18" /><Relationship Type="http://schemas.openxmlformats.org/officeDocument/2006/relationships/slide" Target="/ppt/slides/slide1.xml" Id="Re6b4df4618694e35" /><Relationship Type="http://schemas.openxmlformats.org/officeDocument/2006/relationships/slide" Target="/ppt/slides/slide2.xml" Id="R1b7e9f6d82824710" /><Relationship Type="http://schemas.openxmlformats.org/officeDocument/2006/relationships/slide" Target="/ppt/slides/slide3.xml" Id="R251684843cc5431c" /><Relationship Type="http://schemas.openxmlformats.org/officeDocument/2006/relationships/slide" Target="/ppt/slides/slide4.xml" Id="R1ad35c633bd14e49" /><Relationship Type="http://schemas.openxmlformats.org/officeDocument/2006/relationships/slide" Target="/ppt/slides/slide5.xml" Id="R7c90b70393084ff3" /><Relationship Type="http://schemas.openxmlformats.org/officeDocument/2006/relationships/slide" Target="/ppt/slides/slide6.xml" Id="R84890d625710483d" /><Relationship Type="http://schemas.openxmlformats.org/officeDocument/2006/relationships/slide" Target="/ppt/slides/slide7.xml" Id="R59ba9086e26a4643" /><Relationship Type="http://schemas.openxmlformats.org/officeDocument/2006/relationships/slide" Target="/ppt/slides/slide8.xml" Id="R2d1dfc66a01e40d1" /><Relationship Type="http://schemas.openxmlformats.org/officeDocument/2006/relationships/slide" Target="/ppt/slides/slide9.xml" Id="R1a15c5c754e44589" /><Relationship Type="http://schemas.openxmlformats.org/officeDocument/2006/relationships/slide" Target="/ppt/slides/slide10.xml" Id="R6532b30fa31043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072e32f865646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主题1">
  <a:themeElements>
    <a:clrScheme name="自定义 1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6362"/>
      </a:accent1>
      <a:accent2>
        <a:srgbClr val="B64645"/>
      </a:accent2>
      <a:accent3>
        <a:srgbClr val="414A59"/>
      </a:accent3>
      <a:accent4>
        <a:srgbClr val="7FB541"/>
      </a:accent4>
      <a:accent5>
        <a:srgbClr val="4472C4"/>
      </a:accent5>
      <a:accent6>
        <a:srgbClr val="244956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自定义 10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a891f2711d4aba" /><Relationship Type="http://schemas.openxmlformats.org/officeDocument/2006/relationships/notesMaster" Target="/ppt/notesMasters/notesMaster1.xml" Id="R54492736f25e44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7e5f342cd3438c" /><Relationship Type="http://schemas.openxmlformats.org/officeDocument/2006/relationships/notesMaster" Target="/ppt/notesMasters/notesMaster1.xml" Id="Rcb6787dc5d9347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f242ed13934d22" /><Relationship Type="http://schemas.openxmlformats.org/officeDocument/2006/relationships/notesMaster" Target="/ppt/notesMasters/notesMaster1.xml" Id="R4d8199ee7f0649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b214939caf41ed" /><Relationship Type="http://schemas.openxmlformats.org/officeDocument/2006/relationships/notesMaster" Target="/ppt/notesMasters/notesMaster1.xml" Id="Rdb6a32d5cde247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444103991c445f" /><Relationship Type="http://schemas.openxmlformats.org/officeDocument/2006/relationships/notesMaster" Target="/ppt/notesMasters/notesMaster1.xml" Id="R957538e04a6345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c07906db0843fd" /><Relationship Type="http://schemas.openxmlformats.org/officeDocument/2006/relationships/notesMaster" Target="/ppt/notesMasters/notesMaster1.xml" Id="R2abf96210cd744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8d10f8024e40d2" /><Relationship Type="http://schemas.openxmlformats.org/officeDocument/2006/relationships/notesMaster" Target="/ppt/notesMasters/notesMaster1.xml" Id="Rd25627816b0444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3a623eb77d4f05" /><Relationship Type="http://schemas.openxmlformats.org/officeDocument/2006/relationships/notesMaster" Target="/ppt/notesMasters/notesMaster1.xml" Id="Rd16fe40155c346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31464eddc447b8" /><Relationship Type="http://schemas.openxmlformats.org/officeDocument/2006/relationships/notesMaster" Target="/ppt/notesMasters/notesMaster1.xml" Id="R060d58373e9e48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2059d9226b4386" /><Relationship Type="http://schemas.openxmlformats.org/officeDocument/2006/relationships/notesMaster" Target="/ppt/notesMasters/notesMaster1.xml" Id="R5a557fbc0a354d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这一页回答研究对象是什么。batch 和用户跨层消息在方向、对象和生命周期上不同，不能把 batch 发布滞后当作 L1 到 L2 的用户消息窗口。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可见性、行动能力和收益必须分开。外部 searcher 看见公开信息，并不等于拥有 Sequencer 的排序控制；现在只是提出需验证的风险命题。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每个主张都有对应证据门槛。后续阶段不能替代此前缺失的证据，Commit-Reveal 只是待验证的最小约束方向。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来源核对：三阶段及时间边界来自 Mancino &amp; Sevim (2026) Figure 1 / Table I；potential–realized 与 single-domain–cross-domain 来自 Section II。右侧四象限是将论文两条概念轴组合后的可视化整理，并非论文原图。论文不直接证明特定 Rollup 中存在 realized MEV。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论文启发：先识别 ordering domain，再区分 potential 与 realized，并认识到 cross-domain detection 需要关联异构数据。底部五环证据链是本项目据此形成的判定链，不是论文原文直接提出的模型；当前没有 Sequencer 私有 first-seen、主动重排或收益重放证据。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三个递进认识分别是对象、能力和证据。它们共同约束了研究表述：不要把可见性、排序权和收益混为一谈。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下周从 V0/V1 开始：先得到语义清楚、唯一且可复现的对象链路。若准入失败，就修正对象或收缩问题，而不是跳到攻击频率或收益。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希望老师重点指导：当前研究对象与 Sequencer 能力边界是否准确，以及 V0/V1 的准入条件是否足以支撑下一步数据验证。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adff2e05e46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412b3de5240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36567487e40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82f88895134c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96d85a4dc41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780a0d7554af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7d757305ba447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44b3d6c3a4d7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a35af737ad460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9696cd9a1948d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98e25b33b4fc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9a991d31449d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dee14c11640a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4f845e6194cc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ad84dbcec49e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bb713fb81482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85cea48f1407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839afa74741d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05f623d9b46b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7bdf397d44451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2c8a2b1e65483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0b254776847c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6b6b64acd459c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9d69ad3cb490f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3e815a9d641b6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791fb98f64b5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8c552051c45d8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543385fc14f1b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02ed9ab9a4965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868cc699bb4670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7a38c8f2d24514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f9739b6bb74824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04e8a37af94d28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05952af33d4de6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e28eaf9c6a545f6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c0ffc498e14a93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274d380b2b4822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2bfc3f7c4e4f13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6409ce7fe3407d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00fc3f05a04277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1BEBD68C-FB5E-4DED-9219-2C5D988ADA07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918316"/>
          </a:xfrm>
          <a:custGeom xmlns:a="http://schemas.openxmlformats.org/drawingml/2006/main">
            <a:gdLst>
              <a:gd name="connsiteX0" fmla="*/ 0 w 12192000"/>
              <a:gd name="connsiteY0" fmla="*/ 0 h 6918316"/>
              <a:gd name="connsiteX1" fmla="*/ 12192000 w 12192000"/>
              <a:gd name="connsiteY1" fmla="*/ 0 h 6918316"/>
              <a:gd name="connsiteX2" fmla="*/ 12192000 w 12192000"/>
              <a:gd name="connsiteY2" fmla="*/ 6918316 h 6918316"/>
              <a:gd name="connsiteX3" fmla="*/ 0 w 12192000"/>
              <a:gd name="connsiteY3" fmla="*/ 3651480 h 6918316"/>
            </a:gdLst>
            <a:rect l="l" t="t" r="r" b="b"/>
            <a:pathLst>
              <a:path w="12192000" h="6918316">
                <a:moveTo>
                  <a:pt x="0" y="0"/>
                </a:moveTo>
                <a:lnTo>
                  <a:pt x="12192000" y="0"/>
                </a:lnTo>
                <a:lnTo>
                  <a:pt x="12192000" y="6918316"/>
                </a:lnTo>
                <a:lnTo>
                  <a:pt x="0" y="365148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77C68CBE-B25E-47A6-AF6C-F206CA0D55E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" y="-12947"/>
            <a:ext cx="5446133" cy="6870947"/>
          </a:xfrm>
          <a:custGeom xmlns:a="http://schemas.openxmlformats.org/drawingml/2006/main">
            <a:gdLst>
              <a:gd name="connsiteX0" fmla="*/ 0 w 5446133"/>
              <a:gd name="connsiteY0" fmla="*/ 0 h 6870947"/>
              <a:gd name="connsiteX1" fmla="*/ 5446133 w 5446133"/>
              <a:gd name="connsiteY1" fmla="*/ 0 h 6870947"/>
              <a:gd name="connsiteX2" fmla="*/ 5446133 w 5446133"/>
              <a:gd name="connsiteY2" fmla="*/ 6870947 h 6870947"/>
              <a:gd name="connsiteX3" fmla="*/ 0 w 5446133"/>
              <a:gd name="connsiteY3" fmla="*/ 6870947 h 6870947"/>
            </a:gdLst>
            <a:rect l="l" t="t" r="r" b="b"/>
            <a:pathLst>
              <a:path w="5446133" h="6870947">
                <a:moveTo>
                  <a:pt x="0" y="0"/>
                </a:moveTo>
                <a:lnTo>
                  <a:pt x="5446133" y="0"/>
                </a:lnTo>
                <a:lnTo>
                  <a:pt x="5446133" y="6870947"/>
                </a:lnTo>
                <a:lnTo>
                  <a:pt x="0" y="6870947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8549A3F7-16A8-4F93-BF1B-1E200ABFF58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2717074"/>
          </a:xfrm>
          <a:custGeom xmlns:a="http://schemas.openxmlformats.org/drawingml/2006/main">
            <a:gdLst>
              <a:gd name="connsiteX0" fmla="*/ 0 w 12192000"/>
              <a:gd name="connsiteY0" fmla="*/ 0 h 2717074"/>
              <a:gd name="connsiteX1" fmla="*/ 12192000 w 12192000"/>
              <a:gd name="connsiteY1" fmla="*/ 0 h 2717074"/>
              <a:gd name="connsiteX2" fmla="*/ 12192000 w 12192000"/>
              <a:gd name="connsiteY2" fmla="*/ 2717074 h 2717074"/>
              <a:gd name="connsiteX3" fmla="*/ 0 w 12192000"/>
              <a:gd name="connsiteY3" fmla="*/ 2717074 h 2717074"/>
            </a:gdLst>
            <a:rect l="l" t="t" r="r" b="b"/>
            <a:pathLst>
              <a:path w="12192000" h="2717074">
                <a:moveTo>
                  <a:pt x="0" y="0"/>
                </a:moveTo>
                <a:lnTo>
                  <a:pt x="12192000" y="0"/>
                </a:lnTo>
                <a:lnTo>
                  <a:pt x="12192000" y="2717074"/>
                </a:lnTo>
                <a:lnTo>
                  <a:pt x="0" y="2717074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图片占位符 3">
            <a:extLst xmlns:a="http://schemas.openxmlformats.org/drawingml/2006/main">
              <a:ext uri="{FF2B5EF4-FFF2-40B4-BE49-F238E27FC236}">
                <a16:creationId xmlns:a16="http://schemas.microsoft.com/office/drawing/2014/main" id="{3CAB9A17-E759-4188-AED1-F2147AF84507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8697951" y="0"/>
            <a:ext cx="3494049" cy="6858000"/>
          </a:xfrm>
          <a:custGeom xmlns:a="http://schemas.openxmlformats.org/drawingml/2006/main">
            <a:gdLst>
              <a:gd name="connsiteX0" fmla="*/ 0 w 3194892"/>
              <a:gd name="connsiteY0" fmla="*/ 0 h 6858000"/>
              <a:gd name="connsiteX1" fmla="*/ 3194892 w 3194892"/>
              <a:gd name="connsiteY1" fmla="*/ 0 h 6858000"/>
              <a:gd name="connsiteX2" fmla="*/ 3194892 w 3194892"/>
              <a:gd name="connsiteY2" fmla="*/ 6858000 h 6858000"/>
              <a:gd name="connsiteX3" fmla="*/ 0 w 3194892"/>
              <a:gd name="connsiteY3" fmla="*/ 6858000 h 6858000"/>
            </a:gdLst>
            <a:rect l="l" t="t" r="r" b="b"/>
            <a:pathLst>
              <a:path w="3194892" h="6858000">
                <a:moveTo>
                  <a:pt x="0" y="0"/>
                </a:moveTo>
                <a:lnTo>
                  <a:pt x="3194892" y="0"/>
                </a:lnTo>
                <a:lnTo>
                  <a:pt x="31948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C1883957-6B5E-47FE-96EC-156AC1A3E5C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3194892" cy="6858000"/>
          </a:xfrm>
          <a:custGeom xmlns:a="http://schemas.openxmlformats.org/drawingml/2006/main">
            <a:gdLst>
              <a:gd name="connsiteX0" fmla="*/ 0 w 3194892"/>
              <a:gd name="connsiteY0" fmla="*/ 0 h 6858000"/>
              <a:gd name="connsiteX1" fmla="*/ 3194892 w 3194892"/>
              <a:gd name="connsiteY1" fmla="*/ 0 h 6858000"/>
              <a:gd name="connsiteX2" fmla="*/ 3194892 w 3194892"/>
              <a:gd name="connsiteY2" fmla="*/ 6858000 h 6858000"/>
              <a:gd name="connsiteX3" fmla="*/ 0 w 3194892"/>
              <a:gd name="connsiteY3" fmla="*/ 6858000 h 6858000"/>
            </a:gdLst>
            <a:rect l="l" t="t" r="r" b="b"/>
            <a:pathLst>
              <a:path w="3194892" h="6858000">
                <a:moveTo>
                  <a:pt x="0" y="0"/>
                </a:moveTo>
                <a:lnTo>
                  <a:pt x="3194892" y="0"/>
                </a:lnTo>
                <a:lnTo>
                  <a:pt x="31948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B2AEF11C-E785-4586-AD70-29161327FC86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410D61DD-3219-400D-BE22-F0FC2D978FE7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740435" y="0"/>
            <a:ext cx="5451567" cy="6858000"/>
          </a:xfrm>
          <a:custGeom xmlns:a="http://schemas.openxmlformats.org/drawingml/2006/main">
            <a:gdLst>
              <a:gd name="connsiteX0" fmla="*/ 0 w 5451566"/>
              <a:gd name="connsiteY0" fmla="*/ 0 h 6858000"/>
              <a:gd name="connsiteX1" fmla="*/ 5451566 w 5451566"/>
              <a:gd name="connsiteY1" fmla="*/ 0 h 6858000"/>
              <a:gd name="connsiteX2" fmla="*/ 5451566 w 5451566"/>
              <a:gd name="connsiteY2" fmla="*/ 6858000 h 6858000"/>
              <a:gd name="connsiteX3" fmla="*/ 0 w 5451566"/>
              <a:gd name="connsiteY3" fmla="*/ 6858000 h 6858000"/>
            </a:gdLst>
            <a:rect l="l" t="t" r="r" b="b"/>
            <a:pathLst>
              <a:path w="5451566" h="6858000">
                <a:moveTo>
                  <a:pt x="0" y="0"/>
                </a:moveTo>
                <a:lnTo>
                  <a:pt x="5451566" y="0"/>
                </a:lnTo>
                <a:lnTo>
                  <a:pt x="545156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5394217-C972-4F97-A03F-8678C45F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2"/>
            <a:ext cx="12192000" cy="604711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图片占位符 9">
            <a:extLst xmlns:a="http://schemas.openxmlformats.org/drawingml/2006/main">
              <a:ext uri="{FF2B5EF4-FFF2-40B4-BE49-F238E27FC236}">
                <a16:creationId xmlns:a16="http://schemas.microsoft.com/office/drawing/2014/main" id="{B789E1EE-9B3D-4753-B5A6-8D5BEB9DD66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-1" y="0"/>
            <a:ext cx="12192000" cy="2486722"/>
          </a:xfrm>
          <a:custGeom xmlns:a="http://schemas.openxmlformats.org/drawingml/2006/main">
            <a:gdLst>
              <a:gd name="connsiteX0" fmla="*/ 0 w 12192000"/>
              <a:gd name="connsiteY0" fmla="*/ 0 h 2486722"/>
              <a:gd name="connsiteX1" fmla="*/ 12192000 w 12192000"/>
              <a:gd name="connsiteY1" fmla="*/ 0 h 2486722"/>
              <a:gd name="connsiteX2" fmla="*/ 12192000 w 12192000"/>
              <a:gd name="connsiteY2" fmla="*/ 2486722 h 2486722"/>
              <a:gd name="connsiteX3" fmla="*/ 0 w 12192000"/>
              <a:gd name="connsiteY3" fmla="*/ 2486722 h 2486722"/>
            </a:gdLst>
            <a:rect l="l" t="t" r="r" b="b"/>
            <a:pathLst>
              <a:path w="12192000" h="2486722">
                <a:moveTo>
                  <a:pt x="0" y="0"/>
                </a:moveTo>
                <a:lnTo>
                  <a:pt x="12192000" y="0"/>
                </a:lnTo>
                <a:lnTo>
                  <a:pt x="12192000" y="2486722"/>
                </a:lnTo>
                <a:lnTo>
                  <a:pt x="0" y="2486722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2F02BE3-A073-4B95-BF6B-D969D73A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957143-3EBE-4F46-9B7F-1A35CA5B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KSO_Shape">
            <a:extLst xmlns:a="http://schemas.openxmlformats.org/drawingml/2006/main">
              <a:ext uri="{FF2B5EF4-FFF2-40B4-BE49-F238E27FC236}">
                <a16:creationId xmlns:a16="http://schemas.microsoft.com/office/drawing/2014/main" id="{C97B322A-66FE-4737-A0CC-6F221F1F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567" y="91345"/>
            <a:ext cx="395925" cy="460377"/>
          </a:xfrm>
          <a:custGeom xmlns:a="http://schemas.openxmlformats.org/drawingml/2006/main"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29EAF36-574D-4A34-BA74-413E86E5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983" y="520944"/>
            <a:ext cx="60071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accent3"/>
                </a:solidFill>
              </a:rPr>
              <a:t>LOGO</a:t>
            </a:r>
          </a:p>
        </p:txBody>
      </p:sp>
      <p:sp>
        <p:nvSpPr>
          <p:cNvPr id="13" name="图片占位符 9">
            <a:extLst xmlns:a="http://schemas.openxmlformats.org/drawingml/2006/main">
              <a:ext uri="{FF2B5EF4-FFF2-40B4-BE49-F238E27FC236}">
                <a16:creationId xmlns:a16="http://schemas.microsoft.com/office/drawing/2014/main" id="{13021CFE-C5E3-4953-ACC4-EDE1D30A216D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317625" y="1333500"/>
            <a:ext cx="2528888" cy="15033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图片占位符 9">
            <a:extLst xmlns:a="http://schemas.openxmlformats.org/drawingml/2006/main">
              <a:ext uri="{FF2B5EF4-FFF2-40B4-BE49-F238E27FC236}">
                <a16:creationId xmlns:a16="http://schemas.microsoft.com/office/drawing/2014/main" id="{450CDBB6-46A9-40AB-9ACA-5CA8B517BA74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4831275" y="1344821"/>
            <a:ext cx="2528888" cy="15033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图片占位符 9">
            <a:extLst xmlns:a="http://schemas.openxmlformats.org/drawingml/2006/main">
              <a:ext uri="{FF2B5EF4-FFF2-40B4-BE49-F238E27FC236}">
                <a16:creationId xmlns:a16="http://schemas.microsoft.com/office/drawing/2014/main" id="{C08F056F-DEDA-4AE7-9ADE-741A10CD14F7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8344925" y="1333500"/>
            <a:ext cx="2528888" cy="15033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F83BFEC-3A03-41EC-AE52-F0041C72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KSO_Shape">
            <a:extLst xmlns:a="http://schemas.openxmlformats.org/drawingml/2006/main">
              <a:ext uri="{FF2B5EF4-FFF2-40B4-BE49-F238E27FC236}">
                <a16:creationId xmlns:a16="http://schemas.microsoft.com/office/drawing/2014/main" id="{84259372-18C6-4569-BBEC-7B7264F9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567" y="91345"/>
            <a:ext cx="395925" cy="460377"/>
          </a:xfrm>
          <a:custGeom xmlns:a="http://schemas.openxmlformats.org/drawingml/2006/main"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8CFE41F-D914-4033-8453-D0DAE742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983" y="520944"/>
            <a:ext cx="60071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accent3"/>
                </a:solidFill>
              </a:rPr>
              <a:t>LOGO</a:t>
            </a:r>
          </a:p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6FA83565-9538-401B-9FF9-B08D064053D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016227" y="2773142"/>
            <a:ext cx="4972049" cy="2952750"/>
          </a:xfrm>
          <a:custGeom xmlns:a="http://schemas.openxmlformats.org/drawingml/2006/main">
            <a:gdLst>
              <a:gd name="connsiteX0" fmla="*/ 0 w 4972049"/>
              <a:gd name="connsiteY0" fmla="*/ 0 h 2952750"/>
              <a:gd name="connsiteX1" fmla="*/ 4972049 w 4972049"/>
              <a:gd name="connsiteY1" fmla="*/ 0 h 2952750"/>
              <a:gd name="connsiteX2" fmla="*/ 4972049 w 4972049"/>
              <a:gd name="connsiteY2" fmla="*/ 2952750 h 2952750"/>
              <a:gd name="connsiteX3" fmla="*/ 0 w 4972049"/>
              <a:gd name="connsiteY3" fmla="*/ 2952750 h 2952750"/>
            </a:gdLst>
            <a:rect l="l" t="t" r="r" b="b"/>
            <a:pathLst>
              <a:path w="4972049" h="2952750">
                <a:moveTo>
                  <a:pt x="0" y="0"/>
                </a:moveTo>
                <a:lnTo>
                  <a:pt x="4972049" y="0"/>
                </a:lnTo>
                <a:lnTo>
                  <a:pt x="4972049" y="2952750"/>
                </a:lnTo>
                <a:lnTo>
                  <a:pt x="0" y="29527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21EE1D2-CAEC-45F2-9D84-B5BE9A2E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KSO_Shape">
            <a:extLst xmlns:a="http://schemas.openxmlformats.org/drawingml/2006/main">
              <a:ext uri="{FF2B5EF4-FFF2-40B4-BE49-F238E27FC236}">
                <a16:creationId xmlns:a16="http://schemas.microsoft.com/office/drawing/2014/main" id="{8F858317-0FD8-4C91-84B3-3E13E0A0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567" y="91345"/>
            <a:ext cx="395925" cy="460377"/>
          </a:xfrm>
          <a:custGeom xmlns:a="http://schemas.openxmlformats.org/drawingml/2006/main"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9F74E17-56C7-4D5B-B898-EB339503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983" y="520944"/>
            <a:ext cx="60071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accent3"/>
                </a:solidFill>
              </a:rPr>
              <a:t>LOGO</a:t>
            </a:r>
          </a:p>
        </p:txBody>
      </p:sp>
      <p:sp>
        <p:nvSpPr>
          <p:cNvPr id="15" name="图片占位符 14">
            <a:extLst xmlns:a="http://schemas.openxmlformats.org/drawingml/2006/main">
              <a:ext uri="{FF2B5EF4-FFF2-40B4-BE49-F238E27FC236}">
                <a16:creationId xmlns:a16="http://schemas.microsoft.com/office/drawing/2014/main" id="{319E60DF-352E-459B-8AF5-522D1C5FC2D7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829300" y="1159833"/>
            <a:ext cx="1524000" cy="1524000"/>
          </a:xfrm>
          <a:custGeom xmlns:a="http://schemas.openxmlformats.org/drawingml/2006/main"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图片占位符 15">
            <a:extLst xmlns:a="http://schemas.openxmlformats.org/drawingml/2006/main">
              <a:ext uri="{FF2B5EF4-FFF2-40B4-BE49-F238E27FC236}">
                <a16:creationId xmlns:a16="http://schemas.microsoft.com/office/drawing/2014/main" id="{297FD285-2021-4871-881E-162B0F61C6B8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4962525" y="2955295"/>
            <a:ext cx="1524000" cy="1524000"/>
          </a:xfrm>
          <a:custGeom xmlns:a="http://schemas.openxmlformats.org/drawingml/2006/main"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CFB96122-754B-41D2-A83A-E96E5B4AE78F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5829300" y="4750758"/>
            <a:ext cx="1524000" cy="1524000"/>
          </a:xfrm>
          <a:custGeom xmlns:a="http://schemas.openxmlformats.org/drawingml/2006/main"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BDFCF4F-0605-4B4F-8AC8-B74BFB08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KSO_Shape">
            <a:extLst xmlns:a="http://schemas.openxmlformats.org/drawingml/2006/main">
              <a:ext uri="{FF2B5EF4-FFF2-40B4-BE49-F238E27FC236}">
                <a16:creationId xmlns:a16="http://schemas.microsoft.com/office/drawing/2014/main" id="{F04AA4CB-315B-4334-89D0-DC9A3586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567" y="91345"/>
            <a:ext cx="395925" cy="460377"/>
          </a:xfrm>
          <a:custGeom xmlns:a="http://schemas.openxmlformats.org/drawingml/2006/main"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1695FD2-FDBE-4E7A-90C3-054FD484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983" y="520944"/>
            <a:ext cx="60071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accent3"/>
                </a:solidFill>
              </a:rPr>
              <a:t>LOGO</a:t>
            </a:r>
          </a:p>
        </p:txBody>
      </p:sp>
      <p:sp>
        <p:nvSpPr>
          <p:cNvPr id="20" name="图片占位符 19">
            <a:extLst xmlns:a="http://schemas.openxmlformats.org/drawingml/2006/main">
              <a:ext uri="{FF2B5EF4-FFF2-40B4-BE49-F238E27FC236}">
                <a16:creationId xmlns:a16="http://schemas.microsoft.com/office/drawing/2014/main" id="{6752F2A3-E735-46A2-A98A-2CBE1B348700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800100" y="1562099"/>
            <a:ext cx="1552576" cy="1552576"/>
          </a:xfrm>
          <a:custGeom xmlns:a="http://schemas.openxmlformats.org/drawingml/2006/main"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98C18C1C-F9FF-4D64-ADB8-D6B8381B0BED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6391273" y="1562098"/>
            <a:ext cx="1552576" cy="1552576"/>
          </a:xfrm>
          <a:custGeom xmlns:a="http://schemas.openxmlformats.org/drawingml/2006/main"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图片占位符 21">
            <a:extLst xmlns:a="http://schemas.openxmlformats.org/drawingml/2006/main">
              <a:ext uri="{FF2B5EF4-FFF2-40B4-BE49-F238E27FC236}">
                <a16:creationId xmlns:a16="http://schemas.microsoft.com/office/drawing/2014/main" id="{A395DB43-5102-458C-B021-D09133BAF431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800099" y="3990806"/>
            <a:ext cx="1552576" cy="1552576"/>
          </a:xfrm>
          <a:custGeom xmlns:a="http://schemas.openxmlformats.org/drawingml/2006/main"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图片占位符 22">
            <a:extLst xmlns:a="http://schemas.openxmlformats.org/drawingml/2006/main">
              <a:ext uri="{FF2B5EF4-FFF2-40B4-BE49-F238E27FC236}">
                <a16:creationId xmlns:a16="http://schemas.microsoft.com/office/drawing/2014/main" id="{624476C3-CDD5-4B1A-A986-40D9F4056EFA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391272" y="3990805"/>
            <a:ext cx="1552576" cy="1552576"/>
          </a:xfrm>
          <a:custGeom xmlns:a="http://schemas.openxmlformats.org/drawingml/2006/main"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240C069-F046-48CC-9A85-8E5A25D0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KSO_Shape">
            <a:extLst xmlns:a="http://schemas.openxmlformats.org/drawingml/2006/main">
              <a:ext uri="{FF2B5EF4-FFF2-40B4-BE49-F238E27FC236}">
                <a16:creationId xmlns:a16="http://schemas.microsoft.com/office/drawing/2014/main" id="{D4DCFBE7-8680-4D79-95EE-43A6692D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567" y="91345"/>
            <a:ext cx="395925" cy="460377"/>
          </a:xfrm>
          <a:custGeom xmlns:a="http://schemas.openxmlformats.org/drawingml/2006/main"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D61497E-4D69-4E20-AC88-1F796DD6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983" y="520944"/>
            <a:ext cx="60071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accent3"/>
                </a:solidFill>
              </a:rPr>
              <a:t>LOGO</a:t>
            </a:r>
          </a:p>
        </p:txBody>
      </p:sp>
      <p:sp>
        <p:nvSpPr>
          <p:cNvPr id="14" name="图片占位符 13">
            <a:extLst xmlns:a="http://schemas.openxmlformats.org/drawingml/2006/main">
              <a:ext uri="{FF2B5EF4-FFF2-40B4-BE49-F238E27FC236}">
                <a16:creationId xmlns:a16="http://schemas.microsoft.com/office/drawing/2014/main" id="{C743D633-73DE-43F8-8795-823BE604EE0D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933451" y="1933575"/>
            <a:ext cx="1933575" cy="1162050"/>
          </a:xfrm>
          <a:custGeom xmlns:a="http://schemas.openxmlformats.org/drawingml/2006/main"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图片占位符 18">
            <a:extLst xmlns:a="http://schemas.openxmlformats.org/drawingml/2006/main">
              <a:ext uri="{FF2B5EF4-FFF2-40B4-BE49-F238E27FC236}">
                <a16:creationId xmlns:a16="http://schemas.microsoft.com/office/drawing/2014/main" id="{3C46A8F3-8340-4C80-90DB-CE622972EEBC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31331" y="1933575"/>
            <a:ext cx="1933575" cy="1162050"/>
          </a:xfrm>
          <a:custGeom xmlns:a="http://schemas.openxmlformats.org/drawingml/2006/main"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图片占位符 19">
            <a:extLst xmlns:a="http://schemas.openxmlformats.org/drawingml/2006/main">
              <a:ext uri="{FF2B5EF4-FFF2-40B4-BE49-F238E27FC236}">
                <a16:creationId xmlns:a16="http://schemas.microsoft.com/office/drawing/2014/main" id="{3F994B3A-B222-40D6-A344-B28680D64F7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5129211" y="1933575"/>
            <a:ext cx="1933575" cy="1162050"/>
          </a:xfrm>
          <a:custGeom xmlns:a="http://schemas.openxmlformats.org/drawingml/2006/main"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EBEBF4F7-835D-4E59-A9C1-9CB7E1E78433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227093" y="1933575"/>
            <a:ext cx="1933575" cy="1162050"/>
          </a:xfrm>
          <a:custGeom xmlns:a="http://schemas.openxmlformats.org/drawingml/2006/main"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图片占位符 21">
            <a:extLst xmlns:a="http://schemas.openxmlformats.org/drawingml/2006/main">
              <a:ext uri="{FF2B5EF4-FFF2-40B4-BE49-F238E27FC236}">
                <a16:creationId xmlns:a16="http://schemas.microsoft.com/office/drawing/2014/main" id="{77DB3906-CCA4-4C04-92A0-FA841064B7FB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9324975" y="1933575"/>
            <a:ext cx="1933575" cy="1162050"/>
          </a:xfrm>
          <a:custGeom xmlns:a="http://schemas.openxmlformats.org/drawingml/2006/main"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图片占位符 10">
            <a:extLst xmlns:a="http://schemas.openxmlformats.org/drawingml/2006/main">
              <a:ext uri="{FF2B5EF4-FFF2-40B4-BE49-F238E27FC236}">
                <a16:creationId xmlns:a16="http://schemas.microsoft.com/office/drawing/2014/main" id="{2ABE4ACE-F5B4-408B-9C2B-646C779DFF4A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8353425" y="1152525"/>
            <a:ext cx="2638425" cy="2419350"/>
          </a:xfrm>
          <a:custGeom xmlns:a="http://schemas.openxmlformats.org/drawingml/2006/main">
            <a:gdLst>
              <a:gd name="connsiteX0" fmla="*/ 2638425 w 2638425"/>
              <a:gd name="connsiteY0" fmla="*/ 0 h 2419350"/>
              <a:gd name="connsiteX1" fmla="*/ 2486025 w 2638425"/>
              <a:gd name="connsiteY1" fmla="*/ 2228850 h 2419350"/>
              <a:gd name="connsiteX2" fmla="*/ 0 w 2638425"/>
              <a:gd name="connsiteY2" fmla="*/ 2419350 h 2419350"/>
              <a:gd name="connsiteX3" fmla="*/ 171450 w 2638425"/>
              <a:gd name="connsiteY3" fmla="*/ 695325 h 2419350"/>
            </a:gdLst>
            <a:rect l="l" t="t" r="r" b="b"/>
            <a:pathLst>
              <a:path w="2638425" h="2419350">
                <a:moveTo>
                  <a:pt x="2638425" y="0"/>
                </a:moveTo>
                <a:lnTo>
                  <a:pt x="2486025" y="2228850"/>
                </a:lnTo>
                <a:lnTo>
                  <a:pt x="0" y="2419350"/>
                </a:lnTo>
                <a:lnTo>
                  <a:pt x="171450" y="695325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A38AC2-EB08-403F-AB88-B021C1E6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KSO_Shape">
            <a:extLst xmlns:a="http://schemas.openxmlformats.org/drawingml/2006/main">
              <a:ext uri="{FF2B5EF4-FFF2-40B4-BE49-F238E27FC236}">
                <a16:creationId xmlns:a16="http://schemas.microsoft.com/office/drawing/2014/main" id="{A01B5EA4-CCDE-466D-B2AF-21DCE944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567" y="91345"/>
            <a:ext cx="395925" cy="460377"/>
          </a:xfrm>
          <a:custGeom xmlns:a="http://schemas.openxmlformats.org/drawingml/2006/main"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87AC071-A828-486A-8470-8FFACCFE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983" y="520944"/>
            <a:ext cx="60071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accent3"/>
                </a:solidFill>
              </a:rPr>
              <a:t>LOGO</a:t>
            </a:r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图片占位符 8">
            <a:extLst xmlns:a="http://schemas.openxmlformats.org/drawingml/2006/main">
              <a:ext uri="{FF2B5EF4-FFF2-40B4-BE49-F238E27FC236}">
                <a16:creationId xmlns:a16="http://schemas.microsoft.com/office/drawing/2014/main" id="{A6D96F1B-3DEF-447B-AC32-2CD44250A4C1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90551" y="1437117"/>
            <a:ext cx="5505451" cy="3392058"/>
          </a:xfrm>
          <a:custGeom xmlns:a="http://schemas.openxmlformats.org/drawingml/2006/main">
            <a:gdLst>
              <a:gd name="connsiteX0" fmla="*/ 0 w 5505450"/>
              <a:gd name="connsiteY0" fmla="*/ 0 h 3392058"/>
              <a:gd name="connsiteX1" fmla="*/ 5505450 w 5505450"/>
              <a:gd name="connsiteY1" fmla="*/ 0 h 3392058"/>
              <a:gd name="connsiteX2" fmla="*/ 5505450 w 5505450"/>
              <a:gd name="connsiteY2" fmla="*/ 3392058 h 3392058"/>
              <a:gd name="connsiteX3" fmla="*/ 0 w 5505450"/>
              <a:gd name="connsiteY3" fmla="*/ 3392058 h 3392058"/>
            </a:gdLst>
            <a:rect l="l" t="t" r="r" b="b"/>
            <a:pathLst>
              <a:path w="5505450" h="3392058">
                <a:moveTo>
                  <a:pt x="0" y="0"/>
                </a:moveTo>
                <a:lnTo>
                  <a:pt x="5505450" y="0"/>
                </a:lnTo>
                <a:lnTo>
                  <a:pt x="5505450" y="3392058"/>
                </a:lnTo>
                <a:lnTo>
                  <a:pt x="0" y="3392058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F0B888A-5C82-48F9-B494-6EEDD4EE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0883"/>
            <a:ext cx="12192000" cy="57451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KSO_Shape">
            <a:extLst xmlns:a="http://schemas.openxmlformats.org/drawingml/2006/main">
              <a:ext uri="{FF2B5EF4-FFF2-40B4-BE49-F238E27FC236}">
                <a16:creationId xmlns:a16="http://schemas.microsoft.com/office/drawing/2014/main" id="{792185E2-303E-4EBD-9F79-03F424BE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567" y="91345"/>
            <a:ext cx="395925" cy="460377"/>
          </a:xfrm>
          <a:custGeom xmlns:a="http://schemas.openxmlformats.org/drawingml/2006/main"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 defTabSz="914400">
              <a:buNone/>
              <a:defRPr kern="12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F4BD87C-CAB9-41F1-B023-56FB90DF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983" y="520944"/>
            <a:ext cx="60071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accent3"/>
                </a:solidFill>
              </a:rPr>
              <a:t>LOGO</a:t>
            </a:r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D3D6E3-F0AB-4F95-A297-50F0E5F25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C12A538-19F8-416B-8080-67792B308BB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1851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486266F-A744-4B74-97B7-8E8C4381D6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DEEA869-DC55-4B60-8DA1-DA522AD3B1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33B86C1-3843-4610-A6AA-FDB9983BCF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B7392B7-FC34-48DB-B21D-7472F5A7E1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A9119-809F-47E5-AE56-CC3747849B0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4E59400-F29F-4C41-A1FB-8F98587A9139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8037DE0-505B-4389-899F-24499E5D65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B82F5E0-A097-464E-98AF-09BAB17F40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5B31046-1010-4C85-B970-2D575CA177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28EE91-25B7-4E3C-975B-D0360B318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4B4EC28-D029-4FB0-AD3F-5DDA5C971B8E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41AF6ED-AA81-4521-8B3D-1DB87FE35280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A96F330-1DD2-42ED-82EE-C1EC05BC70A2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6F0C0E6-A2FA-4666-A2FB-0CB1DD737867}"/>
              </a:ext>
            </a:extLst>
          </p:cNvPr>
          <p:cNvSpPr>
            <a:spLocks xmlns:a="http://schemas.openxmlformats.org/drawingml/2006/main" noGrp="1"/>
          </p:cNvSpPr>
          <p:nvPr>
            <p:ph idx="4" hasCustomPrompt="1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2863E2D-C719-47A6-9C76-4BE0909905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6D7CCDD-17D3-4798-9E71-505EE94E98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A5914A8-C144-4621-9E7C-2E11AAE3D4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FB64D7-B14C-42E9-B8CF-4B5C7C1FFA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B4421A9-58F7-42F0-BD73-216CBF9898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DE216E8-A9BC-4536-A3DE-4E786145E7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9D9B346-F039-44B0-9D9A-8936D723D7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0F8CBAE8-781F-4F1C-9F80-86742A9E03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1BAEC5C-AB1B-4C53-98B4-DA2EB95B41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B2CFB88-6922-441D-8A31-A04960E19F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D449800-7943-4952-83BB-4CB91D9C46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7CF57C6-3C06-4F08-A58E-E3C0A084183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6B13092-CE97-45DD-B645-CAFCF8C1EB25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E9A9EFD-2311-4CAB-BEE8-AD1BA72488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565E35-4518-48B1-A70C-5C2CD008C7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4FBA203-C045-4056-AD37-9498947703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78798D9-EF9B-4FE9-AC0C-8251C91CE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895F65C-56DF-4DF2-8D28-0D709D4A1FE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单击图标添加图片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11D9E1F-0B04-4035-AFC2-FBCD245619D1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EE1C7B4-005D-4FFC-A57D-25B156E30B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6450828-3A18-4BA8-B1EE-D68C6B83A1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8F44027-3097-4858-AA25-2CEEAF595E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B76B96A-F22D-4037-8E7A-81A5A8B8AB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1DCBA20-7692-4B30-B54F-D0D7B787844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425E32B-1EAF-4FF6-B21C-BB8FD7A51E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0EED3AC-5721-42FA-A385-41F323524E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AD504AA-4298-49E1-A085-D1840F3FE6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E2A320D2-9E3C-40EE-A421-C88E4683F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10C9D09-26D6-446B-AD31-F05FECB37A53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2E00FF0-4B0D-4AD5-AC26-A958BF1D18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9DF28C3-894A-4B11-A77B-23E2F7FC6D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D6AED8D-0FA0-4ABF-882D-F0FD48A460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>
  <p:cSld name="标题，文本与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1978CF0-7C41-4B0B-B50D-A2C6249309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6C1A889-4FF8-4E14-9F87-EB8E074630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9B42B61-8BDD-495D-90D8-2AA6A235EF7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6FF4EDB-B2E4-4DEB-99CF-F0280D9D1D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latin typeface="Arial"/>
                <a:ea typeface="Arial"/>
                <a:cs typeface="Arial"/>
              </a:rPr>
              <a:t>P2P网络</a:t>
            </a:r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3027095-E008-40D8-9654-9042BCBAF0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latin typeface="Arial"/>
                <a:ea typeface="Arial"/>
                <a:cs typeface="Arial"/>
              </a:rPr>
              <a:t>CCF@U第1244场，西北大学，2025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6200EBD-C5D0-4485-A288-E78E3AE47C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1E8DAE-21C5-41FA-BAED-97592E1416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CDE504-34A9-456B-9A14-BD8A8F98D2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  <p:hf hdr="0" ftr="0" dt="0"/>
</p:sldLayout>
</file>

<file path=ppt/slideLayouts/slideLayout28.xml><?xml version="1.0" encoding="utf-8"?>
<p:sldLayout xmlns:p="http://schemas.openxmlformats.org/presentationml/2006/main">
  <p:cSld name="自定义版式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BEEC76F-48FD-435A-B80B-7639DD5D5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28600"/>
            <a:ext cx="10871200" cy="8048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40142F6-EB87-404E-85A5-908B499ED39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0" y="1017588"/>
            <a:ext cx="711200" cy="244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marL="0" marR="0" indent="0" algn="ct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</a:pPr>
          </a:p>
        </p:txBody>
      </p:sp>
    </p:spTree>
  </p:cSld>
  <p:hf hdr="0" ftr="0" dt="0"/>
</p:sldLayout>
</file>

<file path=ppt/slideLayouts/slideLayout29.xml><?xml version="1.0" encoding="utf-8"?>
<p:sldLayout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图片占位符 4">
            <a:extLst xmlns:a="http://schemas.openxmlformats.org/drawingml/2006/main">
              <a:ext uri="{FF2B5EF4-FFF2-40B4-BE49-F238E27FC236}">
                <a16:creationId xmlns:a16="http://schemas.microsoft.com/office/drawing/2014/main" id="{B7D0F881-6156-4C4D-A4EC-133F2011AC4C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918316"/>
          </a:xfrm>
          <a:custGeom xmlns:a="http://schemas.openxmlformats.org/drawingml/2006/main">
            <a:gdLst>
              <a:gd name="connsiteX0" fmla="*/ 0 w 12192000"/>
              <a:gd name="connsiteY0" fmla="*/ 0 h 6918316"/>
              <a:gd name="connsiteX1" fmla="*/ 12192000 w 12192000"/>
              <a:gd name="connsiteY1" fmla="*/ 0 h 6918316"/>
              <a:gd name="connsiteX2" fmla="*/ 12192000 w 12192000"/>
              <a:gd name="connsiteY2" fmla="*/ 6918316 h 6918316"/>
              <a:gd name="connsiteX3" fmla="*/ 0 w 12192000"/>
              <a:gd name="connsiteY3" fmla="*/ 3651480 h 6918316"/>
            </a:gdLst>
            <a:rect l="l" t="t" r="r" b="b"/>
            <a:pathLst>
              <a:path w="12192000" h="6918316">
                <a:moveTo>
                  <a:pt x="0" y="0"/>
                </a:moveTo>
                <a:lnTo>
                  <a:pt x="12192000" y="0"/>
                </a:lnTo>
                <a:lnTo>
                  <a:pt x="12192000" y="6918316"/>
                </a:lnTo>
                <a:lnTo>
                  <a:pt x="0" y="365148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hf hdr="0" ftr="0" dt="0"/>
</p:sldLayout>
</file>

<file path=ppt/slideLayouts/slideLayout30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2BD0368-0018-461B-9ECB-89C428BA157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4390D61-D402-49CE-B4F9-0765D3D227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11C7C81-1F87-49F3-ABB4-313D4947C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AEBE98-D976-4F63-BC14-665CE860FD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36F80A-B9A2-412D-9F46-553813F57B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3C3EC4F-3E29-464A-90EF-F50BF388A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3DFF2BA-61D5-4C82-A20D-6C603ECFAEA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C4BC4DF-2426-4F91-AF03-538CEBD6AA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B1D5D10-993E-4B55-8646-2E58C7FA76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D9FCED2-C63E-46B3-8882-6551F4D74E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2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EE1658-2361-446B-8734-C1652DE90E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80B5FF-3D20-4075-A5EF-FB0F95538D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FB2DF3C-89C2-4B93-ADCC-2E8DD4FDC1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3CB32F9-2B6A-468B-8ABE-EB8A788EFD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14F4358-8933-4F5D-83F2-7748A24F33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714103E-D7CD-42EB-A619-A582D4C651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9B11556-B845-4874-99CC-BEDC4E8459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9C2B83D-7257-430D-8733-902912B5B4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541ADD3-9A58-4ED4-A1AE-89FBD31460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6D757A-7E00-48B7-84E7-83C91B8AB7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DAA27E5-0048-4D55-85D9-1487E13BF8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1FB46B5-648A-4A90-8348-EA984C8056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6A6A7C8-1CF1-4896-9F92-4E2FA991BA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C4D92E2-78B2-495A-BD24-3C9B296795A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7B47BF8-1C13-428E-BA03-F27D247D2AB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21E4A66-2047-4A00-BBBF-1F1A37DBB48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74EF22B4-02FF-4F8A-980E-E9623C1A8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CBE8B73-7DC8-454C-BE3E-DF77EADF93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3ED83EE-8597-4927-B609-A18C362F6C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7217982-6672-4B3F-82E5-2A5828AD6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80CE248-46DA-48FF-B54E-0F6484BF47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1FD85D0-51E8-43C1-9621-E70DCCD322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DED37AC-42E8-46C6-91EC-A5EBB97F2D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C6BC2AE-0E0C-4C9C-B9AD-84C935BF23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CBF0FD5-7580-4B76-AC38-667918945B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3DF6A8C-9C03-4683-998F-1FEFCE1928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7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E5B387A-64F7-4864-91E0-5AD71FF39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543587E-6A90-4387-8760-1E78BEC964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5C462FE-718F-4974-90D1-816FDB3F79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E829D2A-54CB-4893-A666-495FCBD0F8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C91EFCE-10FA-450E-B77B-13439646B9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0ECA9CF-8E8D-46E0-8F6F-643368FDEF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6C31C2F-C50F-4841-84E7-29F378C8D7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320AF3A-87E1-4A1E-A83A-66557220ECA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F82A24B-8242-4E4D-BC60-412F0EEE63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E8096F3-3DBF-4D17-974E-900BEA0EE0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66E8597-7B58-4489-AF93-7EEF78F0FD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CB5AB10-BC79-420B-B812-254AD0C7FC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39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0301741-38F3-4CBD-8D88-DDD0449921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2F784E5-B5B4-406C-96B6-174373AB30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C447552-5983-421C-97C8-93002FBF84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337CC4-A678-403E-ABBF-BD877FD351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C45CDAB-9D9F-42E0-9DAC-2722DDB103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Layouts/slideLayout40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4124059-2CE0-4BF0-B3AC-21C1F546AD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BBD5C88-C613-4B19-97BC-31A7793940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C354A1C-026E-4DDA-B8A3-608CD06161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81BFE97-E519-45A5-842D-ECB1325969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3E6B94E-04FB-427B-B94A-EDCAF856BC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b0165688304049" /><Relationship Type="http://schemas.openxmlformats.org/officeDocument/2006/relationships/slideLayout" Target="/ppt/slideLayouts/slideLayout1.xml" Id="Ref6f5f6ef46840a1" /><Relationship Type="http://schemas.openxmlformats.org/officeDocument/2006/relationships/slideLayout" Target="/ppt/slideLayouts/slideLayout2.xml" Id="Re03eb9d9a14e429f" /><Relationship Type="http://schemas.openxmlformats.org/officeDocument/2006/relationships/slideLayout" Target="/ppt/slideLayouts/slideLayout3.xml" Id="R2246724159ac409e" /><Relationship Type="http://schemas.openxmlformats.org/officeDocument/2006/relationships/slideLayout" Target="/ppt/slideLayouts/slideLayout4.xml" Id="R063c602188b94294" /><Relationship Type="http://schemas.openxmlformats.org/officeDocument/2006/relationships/slideLayout" Target="/ppt/slideLayouts/slideLayout5.xml" Id="R908592c382e84aca" /><Relationship Type="http://schemas.openxmlformats.org/officeDocument/2006/relationships/slideLayout" Target="/ppt/slideLayouts/slideLayout6.xml" Id="Rc25a0db8b7634c37" /><Relationship Type="http://schemas.openxmlformats.org/officeDocument/2006/relationships/slideLayout" Target="/ppt/slideLayouts/slideLayout7.xml" Id="Re43493be6cba4e8d" /><Relationship Type="http://schemas.openxmlformats.org/officeDocument/2006/relationships/slideLayout" Target="/ppt/slideLayouts/slideLayout8.xml" Id="R7aa7ae7688d8469a" /><Relationship Type="http://schemas.openxmlformats.org/officeDocument/2006/relationships/slideLayout" Target="/ppt/slideLayouts/slideLayout9.xml" Id="R547f5ddf939a4ac1" /><Relationship Type="http://schemas.openxmlformats.org/officeDocument/2006/relationships/slideLayout" Target="/ppt/slideLayouts/slideLayout10.xml" Id="R8bf617ca285f40a0" /><Relationship Type="http://schemas.openxmlformats.org/officeDocument/2006/relationships/slideLayout" Target="/ppt/slideLayouts/slideLayout11.xml" Id="R37058d8098a94aba" /><Relationship Type="http://schemas.openxmlformats.org/officeDocument/2006/relationships/slideLayout" Target="/ppt/slideLayouts/slideLayout12.xml" Id="Rb0154dfb498045c2" /><Relationship Type="http://schemas.openxmlformats.org/officeDocument/2006/relationships/slideLayout" Target="/ppt/slideLayouts/slideLayout13.xml" Id="Rb694a1506ebf405a" /><Relationship Type="http://schemas.openxmlformats.org/officeDocument/2006/relationships/slideLayout" Target="/ppt/slideLayouts/slideLayout14.xml" Id="R62972c478c0c45d0" /><Relationship Type="http://schemas.openxmlformats.org/officeDocument/2006/relationships/slideLayout" Target="/ppt/slideLayouts/slideLayout15.xml" Id="Rc86adc5222d34fb6" /><Relationship Type="http://schemas.openxmlformats.org/officeDocument/2006/relationships/slideLayout" Target="/ppt/slideLayouts/slideLayout16.xml" Id="Rb1aef65fadff46c8" /><Relationship Type="http://schemas.openxmlformats.org/officeDocument/2006/relationships/slideLayout" Target="/ppt/slideLayouts/slideLayout17.xml" Id="Rc421a530bc234bb4" /><Relationship Type="http://schemas.openxmlformats.org/officeDocument/2006/relationships/slideLayout" Target="/ppt/slideLayouts/slideLayout18.xml" Id="R7825b88f716747f9" /><Relationship Type="http://schemas.openxmlformats.org/officeDocument/2006/relationships/slideLayout" Target="/ppt/slideLayouts/slideLayout19.xml" Id="Rf8718888cc8d4687" /><Relationship Type="http://schemas.openxmlformats.org/officeDocument/2006/relationships/slideLayout" Target="/ppt/slideLayouts/slideLayout20.xml" Id="R7a4c0de3ab7f4083" /><Relationship Type="http://schemas.openxmlformats.org/officeDocument/2006/relationships/slideLayout" Target="/ppt/slideLayouts/slideLayout21.xml" Id="R7b0b299fcadc451b" /><Relationship Type="http://schemas.openxmlformats.org/officeDocument/2006/relationships/slideLayout" Target="/ppt/slideLayouts/slideLayout22.xml" Id="R58a56eea4d8c4b73" /><Relationship Type="http://schemas.openxmlformats.org/officeDocument/2006/relationships/slideLayout" Target="/ppt/slideLayouts/slideLayout23.xml" Id="R4348f4c804ac4c22" /><Relationship Type="http://schemas.openxmlformats.org/officeDocument/2006/relationships/slideLayout" Target="/ppt/slideLayouts/slideLayout24.xml" Id="R0cd1b25c468e4bff" /><Relationship Type="http://schemas.openxmlformats.org/officeDocument/2006/relationships/slideLayout" Target="/ppt/slideLayouts/slideLayout25.xml" Id="R555a75aae02f451c" /><Relationship Type="http://schemas.openxmlformats.org/officeDocument/2006/relationships/slideLayout" Target="/ppt/slideLayouts/slideLayout26.xml" Id="R2f321db807c94369" /><Relationship Type="http://schemas.openxmlformats.org/officeDocument/2006/relationships/slideLayout" Target="/ppt/slideLayouts/slideLayout27.xml" Id="R189d4a5023e14dd9" /><Relationship Type="http://schemas.openxmlformats.org/officeDocument/2006/relationships/slideLayout" Target="/ppt/slideLayouts/slideLayout28.xml" Id="R1f6e6aeb87f944c4" /><Relationship Type="http://schemas.openxmlformats.org/officeDocument/2006/relationships/slideLayout" Target="/ppt/slideLayouts/slideLayout29.xml" Id="Rd840fb441cf6448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cfd29c7b428482c" /><Relationship Type="http://schemas.openxmlformats.org/officeDocument/2006/relationships/slideLayout" Target="/ppt/slideLayouts/slideLayout30.xml" Id="Rb674262f3edc493e" /><Relationship Type="http://schemas.openxmlformats.org/officeDocument/2006/relationships/slideLayout" Target="/ppt/slideLayouts/slideLayout31.xml" Id="Rbcc2e6586c2e416e" /><Relationship Type="http://schemas.openxmlformats.org/officeDocument/2006/relationships/slideLayout" Target="/ppt/slideLayouts/slideLayout32.xml" Id="R0d94ce192beb4210" /><Relationship Type="http://schemas.openxmlformats.org/officeDocument/2006/relationships/slideLayout" Target="/ppt/slideLayouts/slideLayout33.xml" Id="Rdaebda4df8c740ff" /><Relationship Type="http://schemas.openxmlformats.org/officeDocument/2006/relationships/slideLayout" Target="/ppt/slideLayouts/slideLayout34.xml" Id="R3235d84923d44a3a" /><Relationship Type="http://schemas.openxmlformats.org/officeDocument/2006/relationships/slideLayout" Target="/ppt/slideLayouts/slideLayout35.xml" Id="Rf8795c26c6d84771" /><Relationship Type="http://schemas.openxmlformats.org/officeDocument/2006/relationships/slideLayout" Target="/ppt/slideLayouts/slideLayout36.xml" Id="R0748e19de6bf4fed" /><Relationship Type="http://schemas.openxmlformats.org/officeDocument/2006/relationships/slideLayout" Target="/ppt/slideLayouts/slideLayout37.xml" Id="R7548c78c1b0d4453" /><Relationship Type="http://schemas.openxmlformats.org/officeDocument/2006/relationships/slideLayout" Target="/ppt/slideLayouts/slideLayout38.xml" Id="R144ead044d224f3f" /><Relationship Type="http://schemas.openxmlformats.org/officeDocument/2006/relationships/slideLayout" Target="/ppt/slideLayouts/slideLayout39.xml" Id="R30034b90ac4746b3" /><Relationship Type="http://schemas.openxmlformats.org/officeDocument/2006/relationships/slideLayout" Target="/ppt/slideLayouts/slideLayout40.xml" Id="Rec7ee0228b63405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4A55321-13F4-4556-B60D-0AB1962841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3AEC199-DFAB-404A-AF96-F128E96161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728F848-6EB6-4B34-86AC-901E07CCEFF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0B66BAA-D0EE-4F96-A0E3-4264D19F83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84B4D8D-6925-4483-A62E-57FB43836E3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6f5f6ef46840a1"/>
    <p:sldLayoutId xmlns:r="http://schemas.openxmlformats.org/officeDocument/2006/relationships" id="2147483650" r:id="Re03eb9d9a14e429f"/>
    <p:sldLayoutId xmlns:r="http://schemas.openxmlformats.org/officeDocument/2006/relationships" id="2147483651" r:id="R2246724159ac409e"/>
    <p:sldLayoutId xmlns:r="http://schemas.openxmlformats.org/officeDocument/2006/relationships" id="2147483652" r:id="R063c602188b94294"/>
    <p:sldLayoutId xmlns:r="http://schemas.openxmlformats.org/officeDocument/2006/relationships" id="2147483653" r:id="R908592c382e84aca"/>
    <p:sldLayoutId xmlns:r="http://schemas.openxmlformats.org/officeDocument/2006/relationships" id="2147483654" r:id="Rc25a0db8b7634c37"/>
    <p:sldLayoutId xmlns:r="http://schemas.openxmlformats.org/officeDocument/2006/relationships" id="2147483655" r:id="Re43493be6cba4e8d"/>
    <p:sldLayoutId xmlns:r="http://schemas.openxmlformats.org/officeDocument/2006/relationships" id="2147483656" r:id="R7aa7ae7688d8469a"/>
    <p:sldLayoutId xmlns:r="http://schemas.openxmlformats.org/officeDocument/2006/relationships" id="2147483657" r:id="R547f5ddf939a4ac1"/>
    <p:sldLayoutId xmlns:r="http://schemas.openxmlformats.org/officeDocument/2006/relationships" id="2147483658" r:id="R8bf617ca285f40a0"/>
    <p:sldLayoutId xmlns:r="http://schemas.openxmlformats.org/officeDocument/2006/relationships" id="2147483659" r:id="R37058d8098a94aba"/>
    <p:sldLayoutId xmlns:r="http://schemas.openxmlformats.org/officeDocument/2006/relationships" id="2147483660" r:id="Rb0154dfb498045c2"/>
    <p:sldLayoutId xmlns:r="http://schemas.openxmlformats.org/officeDocument/2006/relationships" id="2147483661" r:id="Rb694a1506ebf405a"/>
    <p:sldLayoutId xmlns:r="http://schemas.openxmlformats.org/officeDocument/2006/relationships" id="2147483662" r:id="R62972c478c0c45d0"/>
    <p:sldLayoutId xmlns:r="http://schemas.openxmlformats.org/officeDocument/2006/relationships" id="2147483663" r:id="Rc86adc5222d34fb6"/>
    <p:sldLayoutId xmlns:r="http://schemas.openxmlformats.org/officeDocument/2006/relationships" id="2147483664" r:id="Rb1aef65fadff46c8"/>
    <p:sldLayoutId xmlns:r="http://schemas.openxmlformats.org/officeDocument/2006/relationships" id="2147483665" r:id="Rc421a530bc234bb4"/>
    <p:sldLayoutId xmlns:r="http://schemas.openxmlformats.org/officeDocument/2006/relationships" id="2147483666" r:id="R7825b88f716747f9"/>
    <p:sldLayoutId xmlns:r="http://schemas.openxmlformats.org/officeDocument/2006/relationships" id="2147483667" r:id="Rf8718888cc8d4687"/>
    <p:sldLayoutId xmlns:r="http://schemas.openxmlformats.org/officeDocument/2006/relationships" id="2147483668" r:id="R7a4c0de3ab7f4083"/>
    <p:sldLayoutId xmlns:r="http://schemas.openxmlformats.org/officeDocument/2006/relationships" id="2147483669" r:id="R7b0b299fcadc451b"/>
    <p:sldLayoutId xmlns:r="http://schemas.openxmlformats.org/officeDocument/2006/relationships" id="2147483670" r:id="R58a56eea4d8c4b73"/>
    <p:sldLayoutId xmlns:r="http://schemas.openxmlformats.org/officeDocument/2006/relationships" id="2147483671" r:id="R4348f4c804ac4c22"/>
    <p:sldLayoutId xmlns:r="http://schemas.openxmlformats.org/officeDocument/2006/relationships" id="2147483672" r:id="R0cd1b25c468e4bff"/>
    <p:sldLayoutId xmlns:r="http://schemas.openxmlformats.org/officeDocument/2006/relationships" id="2147483673" r:id="R555a75aae02f451c"/>
    <p:sldLayoutId xmlns:r="http://schemas.openxmlformats.org/officeDocument/2006/relationships" id="2147483674" r:id="R2f321db807c94369"/>
    <p:sldLayoutId xmlns:r="http://schemas.openxmlformats.org/officeDocument/2006/relationships" id="2147483675" r:id="R189d4a5023e14dd9"/>
    <p:sldLayoutId xmlns:r="http://schemas.openxmlformats.org/officeDocument/2006/relationships" id="2147483676" r:id="R1f6e6aeb87f944c4"/>
    <p:sldLayoutId xmlns:r="http://schemas.openxmlformats.org/officeDocument/2006/relationships" id="2147483677" r:id="Rd840fb441cf6448a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557DE59-1964-40FB-BF37-5EF0927743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03B5B41-7F29-44FF-94D9-1C423CE38D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FDEB982-7A2D-4FF5-9D78-6A2C923B302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8F66212-03B5-4A0D-BBE6-4C2E156AB6E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CCF@U第1244场，西北大学，2025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98A3DB-587C-411F-96CF-24BA2C5EA82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9" r:id="Rb674262f3edc493e"/>
    <p:sldLayoutId xmlns:r="http://schemas.openxmlformats.org/officeDocument/2006/relationships" id="2147483680" r:id="Rbcc2e6586c2e416e"/>
    <p:sldLayoutId xmlns:r="http://schemas.openxmlformats.org/officeDocument/2006/relationships" id="2147483681" r:id="R0d94ce192beb4210"/>
    <p:sldLayoutId xmlns:r="http://schemas.openxmlformats.org/officeDocument/2006/relationships" id="2147483682" r:id="Rdaebda4df8c740ff"/>
    <p:sldLayoutId xmlns:r="http://schemas.openxmlformats.org/officeDocument/2006/relationships" id="2147483683" r:id="R3235d84923d44a3a"/>
    <p:sldLayoutId xmlns:r="http://schemas.openxmlformats.org/officeDocument/2006/relationships" id="2147483684" r:id="Rf8795c26c6d84771"/>
    <p:sldLayoutId xmlns:r="http://schemas.openxmlformats.org/officeDocument/2006/relationships" id="2147483685" r:id="R0748e19de6bf4fed"/>
    <p:sldLayoutId xmlns:r="http://schemas.openxmlformats.org/officeDocument/2006/relationships" id="2147483686" r:id="R7548c78c1b0d4453"/>
    <p:sldLayoutId xmlns:r="http://schemas.openxmlformats.org/officeDocument/2006/relationships" id="2147483687" r:id="R144ead044d224f3f"/>
    <p:sldLayoutId xmlns:r="http://schemas.openxmlformats.org/officeDocument/2006/relationships" id="2147483688" r:id="R30034b90ac4746b3"/>
    <p:sldLayoutId xmlns:r="http://schemas.openxmlformats.org/officeDocument/2006/relationships" id="2147483689" r:id="Rec7ee0228b63405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主题1">
  <a:themeElements>
    <a:clrScheme name="自定义 1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6362"/>
      </a:accent1>
      <a:accent2>
        <a:srgbClr val="B64645"/>
      </a:accent2>
      <a:accent3>
        <a:srgbClr val="414A59"/>
      </a:accent3>
      <a:accent4>
        <a:srgbClr val="7FB541"/>
      </a:accent4>
      <a:accent5>
        <a:srgbClr val="4472C4"/>
      </a:accent5>
      <a:accent6>
        <a:srgbClr val="244956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自定义 10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9efc632d81ea453a" /><Relationship Type="http://schemas.openxmlformats.org/officeDocument/2006/relationships/notesSlide" Target="/ppt/notesSlides/notesSlide1.xml" Id="R2b8c94116edd48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3c7b29c9903b4d9f" /><Relationship Type="http://schemas.openxmlformats.org/officeDocument/2006/relationships/notesSlide" Target="/ppt/notesSlides/notesSlide2.xml" Id="R6c72f9a3c85d46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f2fe62b6dc2a4948" /><Relationship Type="http://schemas.openxmlformats.org/officeDocument/2006/relationships/image" Target="/ppt/media/image.png" Id="R95d4bd9e66374d23" /><Relationship Type="http://schemas.openxmlformats.org/officeDocument/2006/relationships/notesSlide" Target="/ppt/notesSlides/notesSlide3.xml" Id="R2b1cbb9c541242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f69d66de06af4af5" /><Relationship Type="http://schemas.openxmlformats.org/officeDocument/2006/relationships/notesSlide" Target="/ppt/notesSlides/notesSlide4.xml" Id="R713a3e48cef34a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387162484fc147bd" /><Relationship Type="http://schemas.openxmlformats.org/officeDocument/2006/relationships/image" Target="/ppt/media/image2.png" Id="R4f0d06fccdf546f4" /><Relationship Type="http://schemas.openxmlformats.org/officeDocument/2006/relationships/notesSlide" Target="/ppt/notesSlides/notesSlide5.xml" Id="Rd46076f0af844e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5fa267684b4f4682" /><Relationship Type="http://schemas.openxmlformats.org/officeDocument/2006/relationships/notesSlide" Target="/ppt/notesSlides/notesSlide6.xml" Id="R6ae6a6e9092245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0d091fb3c8844277" /><Relationship Type="http://schemas.openxmlformats.org/officeDocument/2006/relationships/notesSlide" Target="/ppt/notesSlides/notesSlide7.xml" Id="Rf1f516f386b44f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f3b145a9c2ad4b70" /><Relationship Type="http://schemas.openxmlformats.org/officeDocument/2006/relationships/notesSlide" Target="/ppt/notesSlides/notesSlide8.xml" Id="R92167e1ec68645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4520d62aecb14122" /><Relationship Type="http://schemas.openxmlformats.org/officeDocument/2006/relationships/notesSlide" Target="/ppt/notesSlides/notesSlide9.xml" Id="R35a3367c695740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6d5d53c25be54d58" /><Relationship Type="http://schemas.openxmlformats.org/officeDocument/2006/relationships/image" Target="/ppt/media/image.jpeg" Id="R020baf762055494b" /><Relationship Type="http://schemas.openxmlformats.org/officeDocument/2006/relationships/notesSlide" Target="/ppt/notesSlides/notesSlide10.xml" Id="R8d644858650d47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8F10D83-F6B2-49E8-90F0-05BABE8A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57" y="175260"/>
            <a:ext cx="11289665" cy="638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buNone/>
            </a:pPr>
            <a:r>
              <a:rPr sz="54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【7/10–7/23】科研进展汇报</a:t>
            </a:r>
          </a:p>
          <a:p xmlns:a="http://schemas.openxmlformats.org/drawingml/2006/main">
            <a:pPr algn="ctr">
              <a:spcBef>
                <a:spcPct val="0"/>
              </a:spcBef>
              <a:buNone/>
            </a:pPr>
          </a:p>
          <a:p xmlns:a="http://schemas.openxmlformats.org/drawingml/2006/main">
            <a:pPr algn="ctr">
              <a:spcBef>
                <a:spcPct val="0"/>
              </a:spcBef>
              <a:buNone/>
            </a:pPr>
            <a:r>
              <a:rPr sz="3200" b="1">
                <a:solidFill>
                  <a:schemeClr val="tx1"/>
                </a:solidFill>
              </a:rPr>
              <a:t>杨</a:t>
            </a:r>
            <a:r>
              <a:rPr sz="3200" b="1">
                <a:solidFill>
                  <a:schemeClr val="tx1"/>
                </a:solidFill>
              </a:rPr>
              <a:t>帆</a:t>
            </a:r>
          </a:p>
        </p:txBody>
      </p:sp>
    </p:spTree>
    <p:extLst>
      <p:ext uri="{BB962C8B-B14F-4D97-AF65-F5344CB8AC3E}">
        <p14:creationId xmlns:p14="http://schemas.microsoft.com/office/powerpoint/2010/main" val="5867621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C66A9A1-733E-4055-9EAD-AF9F4F6E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091" y="115130"/>
            <a:ext cx="262382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48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主要任务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D84B632-E6B2-43BE-8F34-6604670C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" y="1188280"/>
            <a:ext cx="11485245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rgbClr val="0E3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5495A007-F89C-4441-9DC7-E026EA8D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538605"/>
            <a:ext cx="10276205" cy="464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40000"/>
              </a:lnSpc>
              <a:buClrTx/>
              <a:buSzTx/>
              <a:buFont typeface="Wingdings"/>
              <a:buChar char="p"/>
            </a:pPr>
            <a:r>
              <a:rPr sz="2800" b="1">
                <a:solidFill>
                  <a:srgbClr val="C00000"/>
                </a:solidFill>
              </a:rPr>
              <a:t>中长期目标</a:t>
            </a:r>
            <a:r>
              <a:rPr sz="2800"/>
              <a:t>：</a:t>
            </a:r>
            <a:r>
              <a:rPr sz="2800"/>
              <a:t>围绕 L2 Rollup 跨层 MEV 防御，研究如何在无需可信第三方的前提下，通过密码学机制限制 Sequencer 的排序操纵。</a:t>
            </a:r>
          </a:p>
          <a:p xmlns:a="http://schemas.openxmlformats.org/drawingml/2006/main">
            <a:pPr marL="342900" indent="-342900" algn="l">
              <a:lnSpc>
                <a:spcPct val="140000"/>
              </a:lnSpc>
              <a:buFont typeface="Wingdings"/>
              <a:buChar char="p"/>
            </a:pPr>
            <a:r>
              <a:rPr sz="2800" b="1">
                <a:solidFill>
                  <a:srgbClr val="C00000"/>
                </a:solidFill>
              </a:rPr>
              <a:t>本周拟完成的任务</a:t>
            </a:r>
            <a:r>
              <a:rPr sz="2800"/>
              <a:t>：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2800"/>
              <a:t>1 </a:t>
            </a:r>
            <a:r>
              <a:rPr sz="2800"/>
              <a:t>把“跨层窗口”拆成可核验的对象与阶段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2800"/>
              <a:t>2</a:t>
            </a:r>
            <a:r>
              <a:rPr sz="2800"/>
              <a:t>. 进一步</a:t>
            </a:r>
            <a:r>
              <a:rPr sz="2800"/>
              <a:t>细化</a:t>
            </a:r>
            <a:r>
              <a:rPr sz="2800"/>
              <a:t>研究问题、威胁模型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2800"/>
              <a:t>3 </a:t>
            </a:r>
            <a:r>
              <a:rPr sz="2800"/>
              <a:t>阅读论文</a:t>
            </a:r>
            <a:r>
              <a:rPr sz="2800"/>
              <a:t>The Evolution of MEV, From Miners to Cross-Chain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sz="2800"/>
              <a:t>Mancino &amp; Sevim</a:t>
            </a:r>
          </a:p>
        </p:txBody>
      </p:sp>
    </p:spTree>
    <p:extLst>
      <p:ext uri="{BB962C8B-B14F-4D97-AF65-F5344CB8AC3E}">
        <p14:creationId xmlns:p14="http://schemas.microsoft.com/office/powerpoint/2010/main" val="7048732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6292472-4C2D-40EE-B9B6-EBE22320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628775"/>
            <a:ext cx="10276205" cy="4386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40000"/>
              </a:lnSpc>
              <a:buFont typeface="Wingdings"/>
              <a:buChar char="p"/>
            </a:p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796D4158-0AED-42A0-89F1-1A9128EE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538605"/>
            <a:ext cx="10276205" cy="464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accent1"/>
                </a:solidFill>
              </a:rPr>
              <a:t>进展一</a:t>
            </a:r>
            <a:r>
              <a:rPr sz="2400">
                <a:solidFill>
                  <a:schemeClr val="accent1"/>
                </a:solidFill>
              </a:rPr>
              <a:t> </a:t>
            </a:r>
            <a:r>
              <a:rPr sz="2400">
                <a:solidFill>
                  <a:schemeClr val="accent1"/>
                </a:solidFill>
              </a:rPr>
              <a:t>研究对象是 </a:t>
            </a:r>
            <a:r>
              <a:rPr sz="2400">
                <a:solidFill>
                  <a:schemeClr val="accent1"/>
                </a:solidFill>
              </a:rPr>
              <a:t>L1→L2 </a:t>
            </a:r>
            <a:r>
              <a:rPr sz="2400">
                <a:solidFill>
                  <a:schemeClr val="accent1"/>
                </a:solidFill>
              </a:rPr>
              <a:t>消息在排序前的可见性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研究收缩：从宽泛的“跨层 </a:t>
            </a:r>
            <a:r>
              <a:rPr>
                <a:solidFill>
                  <a:schemeClr val="tx1"/>
                </a:solidFill>
              </a:rPr>
              <a:t>MEV </a:t>
            </a:r>
            <a:r>
              <a:rPr>
                <a:solidFill>
                  <a:schemeClr val="tx1"/>
                </a:solidFill>
              </a:rPr>
              <a:t>防御”，转向单 </a:t>
            </a:r>
            <a:r>
              <a:rPr>
                <a:solidFill>
                  <a:schemeClr val="tx1"/>
                </a:solidFill>
              </a:rPr>
              <a:t>Sequencer </a:t>
            </a:r>
            <a:r>
              <a:rPr>
                <a:solidFill>
                  <a:schemeClr val="tx1"/>
                </a:solidFill>
              </a:rPr>
              <a:t>的信息可见性与排序操纵面。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本周完成：明确主研究对象及其生命周期，区分“公开可验证”与“待 </a:t>
            </a:r>
            <a:r>
              <a:rPr>
                <a:solidFill>
                  <a:schemeClr val="tx1"/>
                </a:solidFill>
              </a:rPr>
              <a:t>V0 </a:t>
            </a:r>
            <a:r>
              <a:rPr>
                <a:solidFill>
                  <a:schemeClr val="tx1"/>
                </a:solidFill>
              </a:rPr>
              <a:t>核验”的阶段。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核心待验：</a:t>
            </a:r>
            <a:r>
              <a:rPr>
                <a:solidFill>
                  <a:schemeClr val="tx1"/>
                </a:solidFill>
              </a:rPr>
              <a:t>Sequencer </a:t>
            </a:r>
            <a:r>
              <a:rPr>
                <a:solidFill>
                  <a:schemeClr val="tx1"/>
                </a:solidFill>
              </a:rPr>
              <a:t>在承诺顺序前能够看到什么，以及能否影响相关对象的纳入和相对</a:t>
            </a:r>
            <a:r>
              <a:rPr sz="1800"/>
              <a:t>位置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6D37C77-EA91-4647-90FF-EE64DD76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" y="1188280"/>
            <a:ext cx="11485245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rgbClr val="0E3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251981A-C343-4B47-BF98-57171471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" y="1539240"/>
            <a:ext cx="11235055" cy="2676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3123B5A8-D512-4889-84C8-B154D0C555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147810" y="6445885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0108C50-860E-4E10-80A2-E0308313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621" y="115130"/>
            <a:ext cx="506476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48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科研工作进展情况</a:t>
            </a:r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4bd9e66374d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" y="3159125"/>
            <a:ext cx="7949565" cy="29800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4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6ED6DD45-8929-4617-B9A8-46F03B50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" y="1188280"/>
            <a:ext cx="11485245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rgbClr val="0E3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BCA6DD4-951B-408B-B91C-D688D95EFD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147810" y="6445885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025D163-1F79-44D5-B35B-00532146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538605"/>
            <a:ext cx="10276205" cy="464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accent1"/>
                </a:solidFill>
              </a:rPr>
              <a:t>进展二｜建立“可见性—行动能力—收益”的分层判定框架</a:t>
            </a:r>
          </a:p>
          <a:p xmlns:a="http://schemas.openxmlformats.org/drawingml/2006/main"/>
          <a:p xmlns:a="http://schemas.openxmlformats.org/drawingml/2006/main">
            <a:r>
              <a:rPr sz="1800" b="1">
                <a:solidFill>
                  <a:schemeClr val="tx1"/>
                </a:solidFill>
              </a:rPr>
              <a:t>信息可见不等于拥有排序权，拥有排序权也不等于能够获得正收益。</a:t>
            </a:r>
          </a:p>
          <a:p xmlns:a="http://schemas.openxmlformats.org/drawingml/2006/main">
            <a:r>
              <a:t>RQ1 可见性：</a:t>
            </a:r>
            <a:r>
              <a:t>信息在什么阶段、对哪些角色、以何种粒度可见？</a:t>
            </a:r>
          </a:p>
          <a:p xmlns:a="http://schemas.openxmlformats.org/drawingml/2006/main">
            <a:r>
              <a:t>RQ2 可利用性：</a:t>
            </a:r>
            <a:r>
              <a:t>角色能否改变相对排序，并满足前置状态与成本条件？</a:t>
            </a:r>
          </a:p>
          <a:p xmlns:a="http://schemas.openxmlformats.org/drawingml/2006/main">
            <a:r>
              <a:t>RQ3 约束设计：</a:t>
            </a:r>
            <a:r>
              <a:t>最小机制应隐藏什么、保留什么，又会引入哪些代价？</a:t>
            </a:r>
          </a:p>
          <a:p xmlns:a="http://schemas.openxmlformats.org/drawingml/2006/main"/>
          <a:p xmlns:a="http://schemas.openxmlformats.org/drawingml/2006/main">
            <a:r>
              <a:rPr b="1"/>
              <a:t>角色能力边界</a:t>
            </a:r>
          </a:p>
          <a:p xmlns:a="http://schemas.openxmlformats.org/drawingml/2006/main">
            <a:r>
              <a:t>Sequencer： </a:t>
            </a:r>
            <a:r>
              <a:t>可纳入、延迟交易并影响相对顺序；不预设恶意、自营或共谋。</a:t>
            </a:r>
          </a:p>
          <a:p xmlns:a="http://schemas.openxmlformats.org/drawingml/2006/main">
            <a:r>
              <a:t>Searcher： </a:t>
            </a:r>
            <a:r>
              <a:t>仅观察公开信息并提交自身交易；不假设能够访问私有队列或重排他人交易。</a:t>
            </a:r>
          </a:p>
          <a:p xmlns:a="http://schemas.openxmlformats.org/drawingml/2006/main">
            <a:r>
              <a:t>普通用户： 仅掌握自身 </a:t>
            </a:r>
            <a:r>
              <a:t>payload </a:t>
            </a:r>
            <a:r>
              <a:t>与公共状态；不假设具备搜索、持续监控或排序干预能力。</a:t>
            </a:r>
          </a:p>
          <a:p xmlns:a="http://schemas.openxmlformats.org/drawingml/2006/main"/>
          <a:p xmlns:a="http://schemas.openxmlformats.org/drawingml/2006/main"/>
          <a:p xmlns:a="http://schemas.openxmlformats.org/drawingml/2006/main"/>
          <a:p xmlns:a="http://schemas.openxmlformats.org/drawingml/2006/main">
            <a:r>
              <a:t>准入条件：仅当“排序前可见”与“可改变相对顺序”同时成立时，才进入反事实净收益验证。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8027B2D-7839-4D3E-B1F8-F2527617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403860"/>
            <a:ext cx="6599555" cy="387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800" b="1">
                <a:latin typeface="+mj-ea"/>
                <a:ea typeface="+mj-ea"/>
                <a:cs typeface="+mj-ea"/>
              </a:rPr>
              <a:t>科研工作进展情况</a:t>
            </a:r>
          </a:p>
        </p:txBody>
      </p:sp>
    </p:spTree>
    <p:extLst>
      <p:ext uri="{BB962C8B-B14F-4D97-AF65-F5344CB8AC3E}">
        <p14:creationId xmlns:p14="http://schemas.microsoft.com/office/powerpoint/2010/main" val="17189820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957504D-C826-4BB2-AE92-A9BE6C9A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628775"/>
            <a:ext cx="10276205" cy="4386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40000"/>
              </a:lnSpc>
              <a:buFont typeface="Wingdings"/>
              <a:buChar char="p"/>
            </a:p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B8824A4E-91EA-4A54-BDF1-59153EA6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538605"/>
            <a:ext cx="10276205" cy="464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003D7E82-1186-4234-9365-07D6BCFE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" y="1188280"/>
            <a:ext cx="11485245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rgbClr val="0E3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CEC4BC1-1A61-4973-8C0D-40BB8415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" y="1539240"/>
            <a:ext cx="11235055" cy="2676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  <a:p xmlns:a="http://schemas.openxmlformats.org/drawingml/2006/main">
            <a:pPr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/>
              <a:buNone/>
            </a:pPr>
          </a:p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91A99E85-DD25-4A18-96EE-D8F5B9A38D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147810" y="6445885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28A22EB-65DD-41C0-8213-DC7C70DB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221" y="99255"/>
            <a:ext cx="909320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48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科研工作进展情况【不超过3页】</a:t>
            </a:r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d06fccdf546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76095" y="2439035"/>
            <a:ext cx="7886700" cy="4267200"/>
          </a:xfrm>
          <a:prstGeom xmlns:a="http://schemas.openxmlformats.org/drawingml/2006/main" prst="rect">
            <a:avLst/>
          </a:prstGeom>
        </p:spPr>
      </p:pic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24862BC-9994-4C14-8622-46ACF119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860" y="1718945"/>
            <a:ext cx="6274435" cy="3117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accent1"/>
                </a:solidFill>
              </a:rPr>
              <a:t>进展三｜每项研究主张都绑定后续证据门槛</a:t>
            </a:r>
          </a:p>
        </p:txBody>
      </p:sp>
    </p:spTree>
    <p:extLst>
      <p:ext uri="{BB962C8B-B14F-4D97-AF65-F5344CB8AC3E}">
        <p14:creationId xmlns:p14="http://schemas.microsoft.com/office/powerpoint/2010/main" val="10243349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D45809FE-119B-4AA1-9881-2D71E1F0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3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论文阅读｜MEV 的三阶段演化与两维分类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481FE86-4E9A-419B-A9F6-2CCBA621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" y="1188280"/>
            <a:ext cx="11485245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rgbClr val="0E3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64A4D4F-521E-45D5-BB73-8A2E445337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147810" y="6445885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  <p:sp>
        <p:nvSpPr>
          <p:cNvPr id="9" name="s6-subtitle">
            <a:extLst xmlns:a="http://schemas.openxmlformats.org/drawingml/2006/main">
              <a:ext uri="{FF2B5EF4-FFF2-40B4-BE49-F238E27FC236}">
                <a16:creationId xmlns:a16="http://schemas.microsoft.com/office/drawing/2014/main" id="{94571E75-9AEC-4705-82F7-0BFAB836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SoK: The Evolution of Maximal Extractable Value, From Miners to Cross-Chain</a:t>
            </a:r>
          </a:p>
        </p:txBody>
      </p:sp>
      <p:sp>
        <p:nvSpPr>
          <p:cNvPr id="10" name="s6-paper-info">
            <a:extLst xmlns:a="http://schemas.openxmlformats.org/drawingml/2006/main">
              <a:ext uri="{FF2B5EF4-FFF2-40B4-BE49-F238E27FC236}">
                <a16:creationId xmlns:a16="http://schemas.microsoft.com/office/drawing/2014/main" id="{D5995875-810D-4C42-96A1-71DCFC7C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24025"/>
            <a:ext cx="7410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9DBBFF"/>
            </a:solidFill>
            <a:prstDash val="solid"/>
          </a:ln>
        </p:spPr>
        <p:txBody>
          <a:bodyPr xmlns:a="http://schemas.openxmlformats.org/drawingml/2006/main" wrap="square" lIns="133350" tIns="85725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3"/>
              </a:spcAft>
              <a:buNone/>
              <a:def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论文类型：</a:t>
            </a:r>
            <a:r>
              <a: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Systematization of Knowledge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3"/>
              </a:spcAft>
              <a:buNone/>
              <a:def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作者：</a:t>
            </a:r>
            <a:r>
              <a: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Davide Mancino &amp; Hasret Ozan Sevim，2026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  <a:def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核心目标：</a:t>
            </a:r>
            <a:r>
              <a: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统一 MEV 术语、历史演化、分类体系与开放问题</a:t>
            </a:r>
          </a:p>
        </p:txBody>
      </p:sp>
      <p:sp>
        <p:nvSpPr>
          <p:cNvPr id="11" name="s6-timeline-label">
            <a:extLst xmlns:a="http://schemas.openxmlformats.org/drawingml/2006/main">
              <a:ext uri="{FF2B5EF4-FFF2-40B4-BE49-F238E27FC236}">
                <a16:creationId xmlns:a16="http://schemas.microsoft.com/office/drawing/2014/main" id="{48F182B4-2B56-4FF1-B50D-B9E147DC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3A7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三阶段演化（论文 Figure 1）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0BF48-9D24-4175-93CE-0ACE8CE0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133850"/>
            <a:ext cx="133350" cy="209550"/>
          </a:xfrm>
          <a:prstGeom xmlns:a="http://schemas.openxmlformats.org/drawingml/2006/main" prst="rightArrow">
            <a:avLst>
              <a:gd name="adj1" fmla="val 4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0A3F2-31DF-4CA0-AF04-9F4B196B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33850"/>
            <a:ext cx="133350" cy="209550"/>
          </a:xfrm>
          <a:prstGeom xmlns:a="http://schemas.openxmlformats.org/drawingml/2006/main" prst="rightArrow">
            <a:avLst>
              <a:gd name="adj1" fmla="val 4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6-era-1">
            <a:extLst xmlns:a="http://schemas.openxmlformats.org/drawingml/2006/main">
              <a:ext uri="{FF2B5EF4-FFF2-40B4-BE49-F238E27FC236}">
                <a16:creationId xmlns:a16="http://schemas.microsoft.com/office/drawing/2014/main" id="{194C10D1-7DD6-4F50-88A6-A8B424FC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2305050" cy="2657475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FC2E9"/>
            </a:solidFill>
            <a:prstDash val="solid"/>
          </a:ln>
        </p:spPr>
      </p:sp>
      <p:sp>
        <p:nvSpPr>
          <p:cNvPr id="15" name="s6-era-1-era">
            <a:extLst xmlns:a="http://schemas.openxmlformats.org/drawingml/2006/main">
              <a:ext uri="{FF2B5EF4-FFF2-40B4-BE49-F238E27FC236}">
                <a16:creationId xmlns:a16="http://schemas.microsoft.com/office/drawing/2014/main" id="{C74A967F-0725-4BDC-8BF0-DF4F8B31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895350" cy="295275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AFC2E9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Era I</a:t>
            </a:r>
          </a:p>
        </p:txBody>
      </p:sp>
      <p:sp>
        <p:nvSpPr>
          <p:cNvPr id="16" name="s6-era-1-date">
            <a:extLst xmlns:a="http://schemas.openxmlformats.org/drawingml/2006/main">
              <a:ext uri="{FF2B5EF4-FFF2-40B4-BE49-F238E27FC236}">
                <a16:creationId xmlns:a16="http://schemas.microsoft.com/office/drawing/2014/main" id="{A7097375-EF7B-4873-820A-0E5EAB44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0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173A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A7A"/>
                </a:solidFill>
                <a:latin typeface="Arial"/>
                <a:ea typeface="Arial"/>
                <a:cs typeface="Arial"/>
              </a:rPr>
              <a:t>2014–2020</a:t>
            </a:r>
          </a:p>
        </p:txBody>
      </p:sp>
      <p:sp>
        <p:nvSpPr>
          <p:cNvPr id="17" name="s6-era-1-name">
            <a:extLst xmlns:a="http://schemas.openxmlformats.org/drawingml/2006/main">
              <a:ext uri="{FF2B5EF4-FFF2-40B4-BE49-F238E27FC236}">
                <a16:creationId xmlns:a16="http://schemas.microsoft.com/office/drawing/2014/main" id="{C19E2EAD-95A1-4213-888C-D0825675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00450"/>
            <a:ext cx="2076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Miner Extractable Value</a:t>
            </a:r>
          </a:p>
        </p:txBody>
      </p:sp>
      <p:sp>
        <p:nvSpPr>
          <p:cNvPr id="18" name="s6-era-1-keywords">
            <a:extLst xmlns:a="http://schemas.openxmlformats.org/drawingml/2006/main">
              <a:ext uri="{FF2B5EF4-FFF2-40B4-BE49-F238E27FC236}">
                <a16:creationId xmlns:a16="http://schemas.microsoft.com/office/drawing/2014/main" id="{CD7DC256-333E-4379-A2CB-C77C162E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PoW · mempool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PGA · front-running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共识风险</a:t>
            </a:r>
          </a:p>
        </p:txBody>
      </p:sp>
      <p:sp>
        <p:nvSpPr>
          <p:cNvPr id="19" name="s6-era-1-sentence">
            <a:extLst xmlns:a="http://schemas.openxmlformats.org/drawingml/2006/main">
              <a:ext uri="{FF2B5EF4-FFF2-40B4-BE49-F238E27FC236}">
                <a16:creationId xmlns:a16="http://schemas.microsoft.com/office/drawing/2014/main" id="{115300AB-AF13-4513-BDAF-3D27EB18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53025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公开池排序价值＝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矿工潜在收益</a:t>
            </a:r>
          </a:p>
        </p:txBody>
      </p:sp>
      <p:sp>
        <p:nvSpPr>
          <p:cNvPr id="20" name="s6-era-1-divider">
            <a:extLst xmlns:a="http://schemas.openxmlformats.org/drawingml/2006/main">
              <a:ext uri="{FF2B5EF4-FFF2-40B4-BE49-F238E27FC236}">
                <a16:creationId xmlns:a16="http://schemas.microsoft.com/office/drawing/2014/main" id="{D3F273F1-0D71-47FC-AE21-F714CC5C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76825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2E9"/>
            </a:solidFill>
            <a:prstDash val="solid"/>
          </a:ln>
        </p:spPr>
      </p:sp>
      <p:sp>
        <p:nvSpPr>
          <p:cNvPr id="21" name="s6-era-2">
            <a:extLst xmlns:a="http://schemas.openxmlformats.org/drawingml/2006/main">
              <a:ext uri="{FF2B5EF4-FFF2-40B4-BE49-F238E27FC236}">
                <a16:creationId xmlns:a16="http://schemas.microsoft.com/office/drawing/2014/main" id="{CDEB552B-B616-4F0B-9970-FBB71D49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2305050" cy="2657475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8A1F2"/>
            </a:solidFill>
            <a:prstDash val="solid"/>
          </a:ln>
        </p:spPr>
      </p:sp>
      <p:sp>
        <p:nvSpPr>
          <p:cNvPr id="22" name="s6-era-2-era">
            <a:extLst xmlns:a="http://schemas.openxmlformats.org/drawingml/2006/main">
              <a:ext uri="{FF2B5EF4-FFF2-40B4-BE49-F238E27FC236}">
                <a16:creationId xmlns:a16="http://schemas.microsoft.com/office/drawing/2014/main" id="{84C4405E-CB13-4816-8947-A61371D9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19450"/>
            <a:ext cx="895350" cy="295275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78A1F2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Era II</a:t>
            </a:r>
          </a:p>
        </p:txBody>
      </p:sp>
      <p:sp>
        <p:nvSpPr>
          <p:cNvPr id="23" name="s6-era-2-date">
            <a:extLst xmlns:a="http://schemas.openxmlformats.org/drawingml/2006/main">
              <a:ext uri="{FF2B5EF4-FFF2-40B4-BE49-F238E27FC236}">
                <a16:creationId xmlns:a16="http://schemas.microsoft.com/office/drawing/2014/main" id="{8DF5A24E-D0B7-48C9-8436-84EB8D37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38500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173A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A7A"/>
                </a:solidFill>
                <a:latin typeface="Arial"/>
                <a:ea typeface="Arial"/>
                <a:cs typeface="Arial"/>
              </a:rPr>
              <a:t>2020–2024</a:t>
            </a:r>
          </a:p>
        </p:txBody>
      </p:sp>
      <p:sp>
        <p:nvSpPr>
          <p:cNvPr id="24" name="s6-era-2-name">
            <a:extLst xmlns:a="http://schemas.openxmlformats.org/drawingml/2006/main">
              <a:ext uri="{FF2B5EF4-FFF2-40B4-BE49-F238E27FC236}">
                <a16:creationId xmlns:a16="http://schemas.microsoft.com/office/drawing/2014/main" id="{5369A301-E5BB-4BE9-9C41-42487723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00450"/>
            <a:ext cx="2076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Maximal Extractable Value</a:t>
            </a:r>
          </a:p>
        </p:txBody>
      </p:sp>
      <p:sp>
        <p:nvSpPr>
          <p:cNvPr id="25" name="s6-era-2-keywords">
            <a:extLst xmlns:a="http://schemas.openxmlformats.org/drawingml/2006/main">
              <a:ext uri="{FF2B5EF4-FFF2-40B4-BE49-F238E27FC236}">
                <a16:creationId xmlns:a16="http://schemas.microsoft.com/office/drawing/2014/main" id="{E3B68F73-3A54-4E1A-9132-274A6387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62425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Flashbots · REV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PBS · MEV-Boost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builder / validator</a:t>
            </a:r>
          </a:p>
        </p:txBody>
      </p:sp>
      <p:sp>
        <p:nvSpPr>
          <p:cNvPr id="26" name="s6-era-2-sentence">
            <a:extLst xmlns:a="http://schemas.openxmlformats.org/drawingml/2006/main">
              <a:ext uri="{FF2B5EF4-FFF2-40B4-BE49-F238E27FC236}">
                <a16:creationId xmlns:a16="http://schemas.microsoft.com/office/drawing/2014/main" id="{D37FA4B8-BE4E-457F-9678-09FC8265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53025"/>
            <a:ext cx="2076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MEV 产业化：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排序控制者的结构能力</a:t>
            </a:r>
          </a:p>
        </p:txBody>
      </p:sp>
      <p:sp>
        <p:nvSpPr>
          <p:cNvPr id="27" name="s6-era-2-divider">
            <a:extLst xmlns:a="http://schemas.openxmlformats.org/drawingml/2006/main">
              <a:ext uri="{FF2B5EF4-FFF2-40B4-BE49-F238E27FC236}">
                <a16:creationId xmlns:a16="http://schemas.microsoft.com/office/drawing/2014/main" id="{E6FB6233-721A-427F-8E23-D987A070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76825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8A1F2"/>
            </a:solidFill>
            <a:prstDash val="solid"/>
          </a:ln>
        </p:spPr>
      </p:sp>
      <p:sp>
        <p:nvSpPr>
          <p:cNvPr id="28" name="s6-era-3">
            <a:extLst xmlns:a="http://schemas.openxmlformats.org/drawingml/2006/main">
              <a:ext uri="{FF2B5EF4-FFF2-40B4-BE49-F238E27FC236}">
                <a16:creationId xmlns:a16="http://schemas.microsoft.com/office/drawing/2014/main" id="{35E8AB1D-627F-4422-9F1C-E0CEA03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105150"/>
            <a:ext cx="2438400" cy="2657475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9" name="s6-era-3-era">
            <a:extLst xmlns:a="http://schemas.openxmlformats.org/drawingml/2006/main">
              <a:ext uri="{FF2B5EF4-FFF2-40B4-BE49-F238E27FC236}">
                <a16:creationId xmlns:a16="http://schemas.microsoft.com/office/drawing/2014/main" id="{63C914A1-0C2B-4E61-8847-71D3FF3F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219450"/>
            <a:ext cx="895350" cy="295275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B45E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B45E5"/>
                </a:solidFill>
                <a:latin typeface="微软雅黑"/>
                <a:ea typeface="微软雅黑"/>
                <a:cs typeface="微软雅黑"/>
              </a:rPr>
              <a:t>Era III</a:t>
            </a:r>
          </a:p>
        </p:txBody>
      </p:sp>
      <p:sp>
        <p:nvSpPr>
          <p:cNvPr id="30" name="s6-era-3-date">
            <a:extLst xmlns:a="http://schemas.openxmlformats.org/drawingml/2006/main">
              <a:ext uri="{FF2B5EF4-FFF2-40B4-BE49-F238E27FC236}">
                <a16:creationId xmlns:a16="http://schemas.microsoft.com/office/drawing/2014/main" id="{6F194EE4-E3C6-4AA6-82D2-9E4D387C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238500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0B45E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45E5"/>
                </a:solidFill>
                <a:latin typeface="Arial"/>
                <a:ea typeface="Arial"/>
                <a:cs typeface="Arial"/>
              </a:rPr>
              <a:t>2024–至今</a:t>
            </a:r>
          </a:p>
        </p:txBody>
      </p:sp>
      <p:sp>
        <p:nvSpPr>
          <p:cNvPr id="31" name="s6-era-3-name">
            <a:extLst xmlns:a="http://schemas.openxmlformats.org/drawingml/2006/main">
              <a:ext uri="{FF2B5EF4-FFF2-40B4-BE49-F238E27FC236}">
                <a16:creationId xmlns:a16="http://schemas.microsoft.com/office/drawing/2014/main" id="{84E2774B-E3D5-4D42-A816-0092E9A6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00450"/>
            <a:ext cx="2209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Cross-Chain MEV</a:t>
            </a:r>
          </a:p>
        </p:txBody>
      </p:sp>
      <p:sp>
        <p:nvSpPr>
          <p:cNvPr id="32" name="s6-era-3-keywords">
            <a:extLst xmlns:a="http://schemas.openxmlformats.org/drawingml/2006/main">
              <a:ext uri="{FF2B5EF4-FFF2-40B4-BE49-F238E27FC236}">
                <a16:creationId xmlns:a16="http://schemas.microsoft.com/office/drawing/2014/main" id="{EA4BC62D-92B6-49C8-BDA2-56540419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62425"/>
            <a:ext cx="220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73A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Sequencer · bridge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73A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多域 ordering domain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73A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协调 · 难测量</a:t>
            </a:r>
          </a:p>
        </p:txBody>
      </p:sp>
      <p:sp>
        <p:nvSpPr>
          <p:cNvPr id="33" name="s6-era-3-sentence">
            <a:extLst xmlns:a="http://schemas.openxmlformats.org/drawingml/2006/main">
              <a:ext uri="{FF2B5EF4-FFF2-40B4-BE49-F238E27FC236}">
                <a16:creationId xmlns:a16="http://schemas.microsoft.com/office/drawing/2014/main" id="{838B7817-0293-4572-B878-37978ABD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153025"/>
            <a:ext cx="2209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价值提取依赖多链与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排序域协调</a:t>
            </a:r>
          </a:p>
        </p:txBody>
      </p:sp>
      <p:sp>
        <p:nvSpPr>
          <p:cNvPr id="34" name="s6-era-3-divider">
            <a:extLst xmlns:a="http://schemas.openxmlformats.org/drawingml/2006/main">
              <a:ext uri="{FF2B5EF4-FFF2-40B4-BE49-F238E27FC236}">
                <a16:creationId xmlns:a16="http://schemas.microsoft.com/office/drawing/2014/main" id="{14627645-339D-496F-A3E4-7478CB40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07682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5" name="s6-quadrant-label">
            <a:extLst xmlns:a="http://schemas.openxmlformats.org/drawingml/2006/main">
              <a:ext uri="{FF2B5EF4-FFF2-40B4-BE49-F238E27FC236}">
                <a16:creationId xmlns:a16="http://schemas.microsoft.com/office/drawing/2014/main" id="{A7B41DEA-38C3-44EE-B6AE-08E04E3B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335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73A7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二维分类（两条概念轴的组合）</a:t>
            </a:r>
          </a:p>
        </p:txBody>
      </p:sp>
      <p:sp>
        <p:nvSpPr>
          <p:cNvPr id="36" name="s6-x-axis-single">
            <a:extLst xmlns:a="http://schemas.openxmlformats.org/drawingml/2006/main">
              <a:ext uri="{FF2B5EF4-FFF2-40B4-BE49-F238E27FC236}">
                <a16:creationId xmlns:a16="http://schemas.microsoft.com/office/drawing/2014/main" id="{F1384AFE-AB8B-4B6F-BED3-54E3C31B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Single-domain</a:t>
            </a:r>
          </a:p>
        </p:txBody>
      </p:sp>
      <p:sp>
        <p:nvSpPr>
          <p:cNvPr id="37" name="s6-x-axis-cross">
            <a:extLst xmlns:a="http://schemas.openxmlformats.org/drawingml/2006/main">
              <a:ext uri="{FF2B5EF4-FFF2-40B4-BE49-F238E27FC236}">
                <a16:creationId xmlns:a16="http://schemas.microsoft.com/office/drawing/2014/main" id="{6547BB54-6031-48CE-880A-39A01D07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47875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Cross-domain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37A13E-6A04-45A8-9A2D-F2F2CD74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95500"/>
            <a:ext cx="171450" cy="142875"/>
          </a:xfrm>
          <a:prstGeom xmlns:a="http://schemas.openxmlformats.org/drawingml/2006/main" prst="rightArrow">
            <a:avLst>
              <a:gd name="adj1" fmla="val 4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6-y-axis-arrow">
            <a:extLst xmlns:a="http://schemas.openxmlformats.org/drawingml/2006/main">
              <a:ext uri="{FF2B5EF4-FFF2-40B4-BE49-F238E27FC236}">
                <a16:creationId xmlns:a16="http://schemas.microsoft.com/office/drawing/2014/main" id="{696071AD-9383-4CBE-953F-1CBA4CEE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190500" cy="2324100"/>
          </a:xfrm>
          <a:prstGeom xmlns:a="http://schemas.openxmlformats.org/drawingml/2006/main" prst="downArrow">
            <a:avLst>
              <a:gd name="adj1" fmla="val 4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6-y-potential">
            <a:extLst xmlns:a="http://schemas.openxmlformats.org/drawingml/2006/main">
              <a:ext uri="{FF2B5EF4-FFF2-40B4-BE49-F238E27FC236}">
                <a16:creationId xmlns:a16="http://schemas.microsoft.com/office/drawing/2014/main" id="{4530F4CE-E084-478D-8F79-615772C6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526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Potential</a:t>
            </a:r>
          </a:p>
        </p:txBody>
      </p:sp>
      <p:sp>
        <p:nvSpPr>
          <p:cNvPr id="41" name="s6-y-realized">
            <a:extLst xmlns:a="http://schemas.openxmlformats.org/drawingml/2006/main">
              <a:ext uri="{FF2B5EF4-FFF2-40B4-BE49-F238E27FC236}">
                <a16:creationId xmlns:a16="http://schemas.microsoft.com/office/drawing/2014/main" id="{D0B58143-4098-4F9B-B7E3-D49124D7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530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Realized</a:t>
            </a:r>
          </a:p>
        </p:txBody>
      </p:sp>
      <p:sp>
        <p:nvSpPr>
          <p:cNvPr id="42" name="s6-q1">
            <a:extLst xmlns:a="http://schemas.openxmlformats.org/drawingml/2006/main">
              <a:ext uri="{FF2B5EF4-FFF2-40B4-BE49-F238E27FC236}">
                <a16:creationId xmlns:a16="http://schemas.microsoft.com/office/drawing/2014/main" id="{03A8DCBB-AFEB-40D7-83CA-D0C5DAB4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1666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6"/>
              </a:spcAft>
              <a:buNone/>
              <a:def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P × S</a:t>
            </a:r>
          </a:p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  <a:def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单一排序域中的
理论最大价值</a:t>
            </a:r>
          </a:p>
        </p:txBody>
      </p:sp>
      <p:sp>
        <p:nvSpPr>
          <p:cNvPr id="43" name="s6-q2">
            <a:extLst xmlns:a="http://schemas.openxmlformats.org/drawingml/2006/main">
              <a:ext uri="{FF2B5EF4-FFF2-40B4-BE49-F238E27FC236}">
                <a16:creationId xmlns:a16="http://schemas.microsoft.com/office/drawing/2014/main" id="{81A0AA73-4E6F-44F1-9318-CE7BF1C5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09850"/>
            <a:ext cx="1666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11430">
            <a:solidFill>
              <a:srgbClr val="AFC2E9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6"/>
              </a:spcAft>
              <a:buNone/>
              <a:def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P × C</a:t>
            </a:r>
          </a:p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  <a:def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多排序域联合控制下的
理论价值</a:t>
            </a:r>
          </a:p>
        </p:txBody>
      </p:sp>
      <p:sp>
        <p:nvSpPr>
          <p:cNvPr id="44" name="s6-q3">
            <a:extLst xmlns:a="http://schemas.openxmlformats.org/drawingml/2006/main">
              <a:ext uri="{FF2B5EF4-FFF2-40B4-BE49-F238E27FC236}">
                <a16:creationId xmlns:a16="http://schemas.microsoft.com/office/drawing/2014/main" id="{921D3F44-934B-4D12-B705-43517EBE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86200"/>
            <a:ext cx="1666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6"/>
              </a:spcAft>
              <a:buNone/>
              <a:def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R × S</a:t>
            </a:r>
          </a:p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  <a:def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实际发生并被捕获的
单域收益</a:t>
            </a:r>
          </a:p>
        </p:txBody>
      </p:sp>
      <p:sp>
        <p:nvSpPr>
          <p:cNvPr id="45" name="s6-q4">
            <a:extLst xmlns:a="http://schemas.openxmlformats.org/drawingml/2006/main">
              <a:ext uri="{FF2B5EF4-FFF2-40B4-BE49-F238E27FC236}">
                <a16:creationId xmlns:a16="http://schemas.microsoft.com/office/drawing/2014/main" id="{750E5667-6BA1-431A-A8B5-66A363FC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86200"/>
            <a:ext cx="1666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9050">
            <a:solidFill>
              <a:srgbClr val="C6282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6"/>
              </a:spcAft>
              <a:buNone/>
              <a:def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R × C</a:t>
            </a:r>
          </a:p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  <a:def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实际测得的
跨域收益</a:t>
            </a:r>
          </a:p>
        </p:txBody>
      </p:sp>
      <p:sp>
        <p:nvSpPr>
          <p:cNvPr id="46" name="s6-conclusion">
            <a:extLst xmlns:a="http://schemas.openxmlformats.org/drawingml/2006/main">
              <a:ext uri="{FF2B5EF4-FFF2-40B4-BE49-F238E27FC236}">
                <a16:creationId xmlns:a16="http://schemas.microsoft.com/office/drawing/2014/main" id="{BEF6C210-2814-4BCA-90B5-F28DD22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110871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9DBBFF"/>
            </a:solidFill>
            <a:prstDash val="solid"/>
          </a:ln>
        </p:spPr>
        <p:txBody>
          <a:bodyPr xmlns:a="http://schemas.openxmlformats.org/drawingml/2006/main" wrap="square" lIns="114300" tIns="38100" rIns="1143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结论｜论文提供 MEV 的历史时间轴与概念坐标系，但不直接证明特定 Rollup 中已经发生收益提取。</a:t>
            </a:r>
          </a:p>
        </p:txBody>
      </p:sp>
    </p:spTree>
    <p:extLst>
      <p:ext uri="{BB962C8B-B14F-4D97-AF65-F5344CB8AC3E}">
        <p14:creationId xmlns:p14="http://schemas.microsoft.com/office/powerpoint/2010/main" val="4849074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69CC6268-78E1-4907-9F6C-FA16A972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" y="1188280"/>
            <a:ext cx="11485245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rgbClr val="0E3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E624F871-F111-489E-8741-1DD40C63C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147810" y="6445885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2928EFC-3A0E-4FB2-B747-C97523B7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  <a:defRPr sz="33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3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论文参考意义｜从“观察时间差”转向“验证完整可利用性”</a:t>
            </a:r>
          </a:p>
        </p:txBody>
      </p:sp>
      <p:sp>
        <p:nvSpPr>
          <p:cNvPr id="11" name="s7-header-1">
            <a:extLst xmlns:a="http://schemas.openxmlformats.org/drawingml/2006/main">
              <a:ext uri="{FF2B5EF4-FFF2-40B4-BE49-F238E27FC236}">
                <a16:creationId xmlns:a16="http://schemas.microsoft.com/office/drawing/2014/main" id="{93EF0925-2877-442B-A617-48FA81AB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5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论文概念</a:t>
            </a:r>
          </a:p>
        </p:txBody>
      </p:sp>
      <p:sp>
        <p:nvSpPr>
          <p:cNvPr id="12" name="s7-header-2">
            <a:extLst xmlns:a="http://schemas.openxmlformats.org/drawingml/2006/main">
              <a:ext uri="{FF2B5EF4-FFF2-40B4-BE49-F238E27FC236}">
                <a16:creationId xmlns:a16="http://schemas.microsoft.com/office/drawing/2014/main" id="{05DD9BAB-81DC-4300-9542-10922AAD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38275"/>
            <a:ext cx="4238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5E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对本项目的调整</a:t>
            </a:r>
          </a:p>
        </p:txBody>
      </p:sp>
      <p:sp>
        <p:nvSpPr>
          <p:cNvPr id="13" name="s7-header-3">
            <a:extLst xmlns:a="http://schemas.openxmlformats.org/drawingml/2006/main">
              <a:ext uri="{FF2B5EF4-FFF2-40B4-BE49-F238E27FC236}">
                <a16:creationId xmlns:a16="http://schemas.microsoft.com/office/drawing/2014/main" id="{3743F1E6-1503-48DD-B4E6-547EA8D0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38275"/>
            <a:ext cx="3705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7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当前证据边界</a:t>
            </a:r>
          </a:p>
        </p:txBody>
      </p:sp>
      <p:sp>
        <p:nvSpPr>
          <p:cNvPr id="14" name="s7-cell-1-1">
            <a:extLst xmlns:a="http://schemas.openxmlformats.org/drawingml/2006/main">
              <a:ext uri="{FF2B5EF4-FFF2-40B4-BE49-F238E27FC236}">
                <a16:creationId xmlns:a16="http://schemas.microsoft.com/office/drawing/2014/main" id="{18D37567-E948-4443-B161-D150A91C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31432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Ordering domain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由特定 Sequencer 控制状态变更顺序的系统</a:t>
            </a:r>
          </a:p>
        </p:txBody>
      </p:sp>
      <p:sp>
        <p:nvSpPr>
          <p:cNvPr id="15" name="s7-cell-1-2">
            <a:extLst xmlns:a="http://schemas.openxmlformats.org/drawingml/2006/main">
              <a:ext uri="{FF2B5EF4-FFF2-40B4-BE49-F238E27FC236}">
                <a16:creationId xmlns:a16="http://schemas.microsoft.com/office/drawing/2014/main" id="{247DD1B3-5E26-4A57-992C-7AE52679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47850"/>
            <a:ext cx="42386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先确定对象在哪里创建、由谁排序、在哪里执行</a:t>
            </a:r>
          </a:p>
        </p:txBody>
      </p:sp>
      <p:sp>
        <p:nvSpPr>
          <p:cNvPr id="16" name="s7-cell-1-3">
            <a:extLst xmlns:a="http://schemas.openxmlformats.org/drawingml/2006/main">
              <a:ext uri="{FF2B5EF4-FFF2-40B4-BE49-F238E27FC236}">
                <a16:creationId xmlns:a16="http://schemas.microsoft.com/office/drawing/2014/main" id="{5F71DDEA-08D6-4F64-AB53-D4DEDD7E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37052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跨越 L1/L2 本身不自动构成 cross-domain MEV</a:t>
            </a:r>
          </a:p>
        </p:txBody>
      </p:sp>
      <p:sp>
        <p:nvSpPr>
          <p:cNvPr id="17" name="s7-cell-2-1">
            <a:extLst xmlns:a="http://schemas.openxmlformats.org/drawingml/2006/main">
              <a:ext uri="{FF2B5EF4-FFF2-40B4-BE49-F238E27FC236}">
                <a16:creationId xmlns:a16="http://schemas.microsoft.com/office/drawing/2014/main" id="{F27CE9DE-DD3B-46C3-8DD3-953A6801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9875"/>
            <a:ext cx="31432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Potential ≠ Realized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理论可提取价值不等于实际收益</a:t>
            </a:r>
          </a:p>
        </p:txBody>
      </p:sp>
      <p:sp>
        <p:nvSpPr>
          <p:cNvPr id="18" name="s7-cell-2-2">
            <a:extLst xmlns:a="http://schemas.openxmlformats.org/drawingml/2006/main">
              <a:ext uri="{FF2B5EF4-FFF2-40B4-BE49-F238E27FC236}">
                <a16:creationId xmlns:a16="http://schemas.microsoft.com/office/drawing/2014/main" id="{839C7F0D-E0A2-4FE8-9B8D-3CF9267D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9875"/>
            <a:ext cx="42386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不再由时间差直接推断 MEV，需要继续验证行动能力、反事实顺序与净收益</a:t>
            </a:r>
          </a:p>
        </p:txBody>
      </p:sp>
      <p:sp>
        <p:nvSpPr>
          <p:cNvPr id="19" name="s7-cell-2-3">
            <a:extLst xmlns:a="http://schemas.openxmlformats.org/drawingml/2006/main">
              <a:ext uri="{FF2B5EF4-FFF2-40B4-BE49-F238E27FC236}">
                <a16:creationId xmlns:a16="http://schemas.microsoft.com/office/drawing/2014/main" id="{5C23A011-D48E-40AF-B225-B3A87ABA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9875"/>
            <a:ext cx="37052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>
                <a:solidFill>
                  <a:srgbClr val="C628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C62828"/>
                </a:solidFill>
                <a:latin typeface="微软雅黑"/>
                <a:ea typeface="微软雅黑"/>
                <a:cs typeface="微软雅黑"/>
              </a:rPr>
              <a:t>当前只定义潜在排序操纵面，尚无 realized MEV 证据</a:t>
            </a:r>
          </a:p>
        </p:txBody>
      </p:sp>
      <p:sp>
        <p:nvSpPr>
          <p:cNvPr id="20" name="s7-cell-3-1">
            <a:extLst xmlns:a="http://schemas.openxmlformats.org/drawingml/2006/main">
              <a:ext uri="{FF2B5EF4-FFF2-40B4-BE49-F238E27FC236}">
                <a16:creationId xmlns:a16="http://schemas.microsoft.com/office/drawing/2014/main" id="{EB90A739-722D-4785-A0C8-9EFCD560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71900"/>
            <a:ext cx="31432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Cross-domain detection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跨域检测需要关联异构数据</a:t>
            </a:r>
          </a:p>
        </p:txBody>
      </p:sp>
      <p:sp>
        <p:nvSpPr>
          <p:cNvPr id="21" name="s7-cell-3-2">
            <a:extLst xmlns:a="http://schemas.openxmlformats.org/drawingml/2006/main">
              <a:ext uri="{FF2B5EF4-FFF2-40B4-BE49-F238E27FC236}">
                <a16:creationId xmlns:a16="http://schemas.microsoft.com/office/drawing/2014/main" id="{CBD3F0C5-DBE9-4DB2-AD33-A9B14870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71900"/>
            <a:ext cx="42386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先完成唯一对象映射和可复现数据链路，再分析行为与收益</a:t>
            </a:r>
          </a:p>
        </p:txBody>
      </p:sp>
      <p:sp>
        <p:nvSpPr>
          <p:cNvPr id="22" name="s7-cell-3-3">
            <a:extLst xmlns:a="http://schemas.openxmlformats.org/drawingml/2006/main">
              <a:ext uri="{FF2B5EF4-FFF2-40B4-BE49-F238E27FC236}">
                <a16:creationId xmlns:a16="http://schemas.microsoft.com/office/drawing/2014/main" id="{535080E9-9158-4C67-BF44-5E7F025E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37052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14300" tIns="66675" rIns="11430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>
                <a:solidFill>
                  <a:srgbClr val="C628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C62828"/>
                </a:solidFill>
                <a:latin typeface="微软雅黑"/>
                <a:ea typeface="微软雅黑"/>
                <a:cs typeface="微软雅黑"/>
              </a:rPr>
              <a:t>暂无 Sequencer 私有 first-seen、主动重排与收益重放证据</a:t>
            </a:r>
          </a:p>
        </p:txBody>
      </p:sp>
      <p:sp>
        <p:nvSpPr>
          <p:cNvPr id="23" name="s7-chain-label">
            <a:extLst xmlns:a="http://schemas.openxmlformats.org/drawingml/2006/main">
              <a:ext uri="{FF2B5EF4-FFF2-40B4-BE49-F238E27FC236}">
                <a16:creationId xmlns:a16="http://schemas.microsoft.com/office/drawing/2014/main" id="{510F792E-C036-45E7-830A-5243ED59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19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3A7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可利用性证据链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1837C-32AA-4628-837F-CD6BE952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48275"/>
            <a:ext cx="361950" cy="190500"/>
          </a:xfrm>
          <a:prstGeom xmlns:a="http://schemas.openxmlformats.org/drawingml/2006/main" prst="rightArrow">
            <a:avLst>
              <a:gd name="adj1" fmla="val 4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A377CE-5548-4393-ABBA-6FF1B0AA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48275"/>
            <a:ext cx="361950" cy="190500"/>
          </a:xfrm>
          <a:prstGeom xmlns:a="http://schemas.openxmlformats.org/drawingml/2006/main" prst="rightArrow">
            <a:avLst>
              <a:gd name="adj1" fmla="val 4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AFCC36-1ABC-4578-9445-5CC58FD4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48275"/>
            <a:ext cx="361950" cy="190500"/>
          </a:xfrm>
          <a:prstGeom xmlns:a="http://schemas.openxmlformats.org/drawingml/2006/main" prst="rightArrow">
            <a:avLst>
              <a:gd name="adj1" fmla="val 4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3A421B-6474-4E3E-B0B7-E22960C9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48275"/>
            <a:ext cx="361950" cy="190500"/>
          </a:xfrm>
          <a:prstGeom xmlns:a="http://schemas.openxmlformats.org/drawingml/2006/main" prst="rightArrow">
            <a:avLst>
              <a:gd name="adj1" fmla="val 4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7-chain-node-1">
            <a:extLst xmlns:a="http://schemas.openxmlformats.org/drawingml/2006/main">
              <a:ext uri="{FF2B5EF4-FFF2-40B4-BE49-F238E27FC236}">
                <a16:creationId xmlns:a16="http://schemas.microsoft.com/office/drawing/2014/main" id="{DDE6B5F4-FF1E-4FA7-8096-5E484ABA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1762125" cy="409575"/>
          </a:xfrm>
          <a:prstGeom xmlns:a="http://schemas.openxmlformats.org/drawingml/2006/main" prst="roundRect">
            <a:avLst>
              <a:gd name="adj" fmla="val 46512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4288">
            <a:solidFill>
              <a:srgbClr val="8FB1F5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排序前可见</a:t>
            </a:r>
          </a:p>
        </p:txBody>
      </p:sp>
      <p:sp>
        <p:nvSpPr>
          <p:cNvPr id="29" name="s7-chain-node-2">
            <a:extLst xmlns:a="http://schemas.openxmlformats.org/drawingml/2006/main">
              <a:ext uri="{FF2B5EF4-FFF2-40B4-BE49-F238E27FC236}">
                <a16:creationId xmlns:a16="http://schemas.microsoft.com/office/drawing/2014/main" id="{52286D4A-36C5-40EC-B84C-64222349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43500"/>
            <a:ext cx="1762125" cy="409575"/>
          </a:xfrm>
          <a:prstGeom xmlns:a="http://schemas.openxmlformats.org/drawingml/2006/main" prst="roundRect">
            <a:avLst>
              <a:gd name="adj" fmla="val 46512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4288">
            <a:solidFill>
              <a:srgbClr val="8FB1F5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具备行动能力</a:t>
            </a:r>
          </a:p>
        </p:txBody>
      </p:sp>
      <p:sp>
        <p:nvSpPr>
          <p:cNvPr id="30" name="s7-chain-node-3">
            <a:extLst xmlns:a="http://schemas.openxmlformats.org/drawingml/2006/main">
              <a:ext uri="{FF2B5EF4-FFF2-40B4-BE49-F238E27FC236}">
                <a16:creationId xmlns:a16="http://schemas.microsoft.com/office/drawing/2014/main" id="{5F3525E6-2A55-48D7-B49F-95529625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143500"/>
            <a:ext cx="1762125" cy="409575"/>
          </a:xfrm>
          <a:prstGeom xmlns:a="http://schemas.openxmlformats.org/drawingml/2006/main" prst="roundRect">
            <a:avLst>
              <a:gd name="adj" fmla="val 46512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4288">
            <a:solidFill>
              <a:srgbClr val="8FB1F5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可改变相对顺序</a:t>
            </a:r>
          </a:p>
        </p:txBody>
      </p:sp>
      <p:sp>
        <p:nvSpPr>
          <p:cNvPr id="31" name="s7-chain-node-4">
            <a:extLst xmlns:a="http://schemas.openxmlformats.org/drawingml/2006/main">
              <a:ext uri="{FF2B5EF4-FFF2-40B4-BE49-F238E27FC236}">
                <a16:creationId xmlns:a16="http://schemas.microsoft.com/office/drawing/2014/main" id="{BE96AE82-A45A-4F38-B642-56AFA56D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43500"/>
            <a:ext cx="1762125" cy="409575"/>
          </a:xfrm>
          <a:prstGeom xmlns:a="http://schemas.openxmlformats.org/drawingml/2006/main" prst="roundRect">
            <a:avLst>
              <a:gd name="adj" fmla="val 46512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4288">
            <a:solidFill>
              <a:srgbClr val="8FB1F5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3A7A"/>
                </a:solidFill>
                <a:latin typeface="微软雅黑"/>
                <a:ea typeface="微软雅黑"/>
                <a:cs typeface="微软雅黑"/>
              </a:rPr>
              <a:t>反事实可执行</a:t>
            </a:r>
          </a:p>
        </p:txBody>
      </p:sp>
      <p:sp>
        <p:nvSpPr>
          <p:cNvPr id="32" name="s7-chain-node-5">
            <a:extLst xmlns:a="http://schemas.openxmlformats.org/drawingml/2006/main">
              <a:ext uri="{FF2B5EF4-FFF2-40B4-BE49-F238E27FC236}">
                <a16:creationId xmlns:a16="http://schemas.microsoft.com/office/drawing/2014/main" id="{057BE69F-2697-42EC-B143-58286B0A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143500"/>
            <a:ext cx="1762125" cy="409575"/>
          </a:xfrm>
          <a:prstGeom xmlns:a="http://schemas.openxmlformats.org/drawingml/2006/main" prst="roundRect">
            <a:avLst>
              <a:gd name="adj" fmla="val 46512"/>
            </a:avLst>
          </a:prstGeom>
          <a:solidFill xmlns:a="http://schemas.openxmlformats.org/drawingml/2006/main">
            <a:srgbClr val="0B45E5"/>
          </a:solidFill>
          <a:ln xmlns:a="http://schemas.openxmlformats.org/drawingml/2006/main" w="14288">
            <a:solidFill>
              <a:srgbClr val="0B45E5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净收益为正</a:t>
            </a:r>
          </a:p>
        </p:txBody>
      </p:sp>
      <p:sp>
        <p:nvSpPr>
          <p:cNvPr id="33" name="s7-risk-boundary">
            <a:extLst xmlns:a="http://schemas.openxmlformats.org/drawingml/2006/main">
              <a:ext uri="{FF2B5EF4-FFF2-40B4-BE49-F238E27FC236}">
                <a16:creationId xmlns:a16="http://schemas.microsoft.com/office/drawing/2014/main" id="{9D3573F9-5122-4938-8D6D-82A593AA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914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F3B7B7"/>
            </a:solidFill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C628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62828"/>
                </a:solidFill>
                <a:latin typeface="微软雅黑"/>
                <a:ea typeface="微软雅黑"/>
                <a:cs typeface="微软雅黑"/>
              </a:rPr>
              <a:t>任一环缺失，只能称为“待验证风险”，不能称为 realized MEV。</a:t>
            </a:r>
          </a:p>
        </p:txBody>
      </p:sp>
      <p:sp>
        <p:nvSpPr>
          <p:cNvPr id="34" name="s7-project-note">
            <a:extLst xmlns:a="http://schemas.openxmlformats.org/drawingml/2006/main">
              <a:ext uri="{FF2B5EF4-FFF2-40B4-BE49-F238E27FC236}">
                <a16:creationId xmlns:a16="http://schemas.microsoft.com/office/drawing/2014/main" id="{6F6B6B1D-98E7-42E6-AE07-040FD4F9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76950"/>
            <a:ext cx="1108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注：该证据链是基于论文概念形成的本项目判定链，并非论文原文直接提出的模型。</a:t>
            </a:r>
          </a:p>
        </p:txBody>
      </p:sp>
    </p:spTree>
    <p:extLst>
      <p:ext uri="{BB962C8B-B14F-4D97-AF65-F5344CB8AC3E}">
        <p14:creationId xmlns:p14="http://schemas.microsoft.com/office/powerpoint/2010/main" val="3362105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DB287A98-563E-44E7-9B9B-1B7CBBC6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1" y="115130"/>
            <a:ext cx="447294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本周学习体会【限1页】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6028C7E-4210-4023-88BA-FAD1DF5B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" y="1188280"/>
            <a:ext cx="11485245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rgbClr val="0E3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BE71520-02F4-45D9-91E8-71A52EA4E5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147810" y="6445885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FDD8971-F409-47A6-A82D-BD00F123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538605"/>
            <a:ext cx="10276205" cy="464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1. 对象先于指标</a:t>
            </a:r>
          </a:p>
          <a:p xmlns:a="http://schemas.openxmlformats.org/drawingml/2006/main">
            <a:r>
              <a:t>message visibility ≠ batch publication lag</a:t>
            </a:r>
          </a:p>
          <a:p xmlns:a="http://schemas.openxmlformats.org/drawingml/2006/main">
            <a:r>
              <a:t>两者方向、生命周期与研究意义不同。</a:t>
            </a:r>
          </a:p>
          <a:p xmlns:a="http://schemas.openxmlformats.org/drawingml/2006/main">
            <a:r>
              <a:t>2. 能力先于归因</a:t>
            </a:r>
          </a:p>
          <a:p xmlns:a="http://schemas.openxmlformats.org/drawingml/2006/main">
            <a:r>
              <a:t>信息可见 ≠ 拥有排序控制；拥有排序控制 ≠ 获得正收益。</a:t>
            </a:r>
          </a:p>
          <a:p xmlns:a="http://schemas.openxmlformats.org/drawingml/2006/main">
            <a:r>
              <a:t>不能把 Sequencer 的能力默认赋予外部 searcher。</a:t>
            </a:r>
          </a:p>
          <a:p xmlns:a="http://schemas.openxmlformats.org/drawingml/2006/main">
            <a:r>
              <a:t>3. 证据先于机制</a:t>
            </a:r>
          </a:p>
          <a:p xmlns:a="http://schemas.openxmlformats.org/drawingml/2006/main">
            <a:r>
              <a:t>Commit-Reveal 是排序前可见性的待验证约束，不是完整 MEV 防御。</a:t>
            </a:r>
          </a:p>
          <a:p xmlns:a="http://schemas.openxmlformats.org/drawingml/2006/main">
            <a:r>
              <a:t>它不能自动解决审查、强制纳入、元数据泄漏或 reveal 后重排。</a:t>
            </a:r>
          </a:p>
          <a:p xmlns:a="http://schemas.openxmlformats.org/drawingml/2006/main">
            <a:r>
              <a:t>本周最重要的进展：把宽泛选题改写成可由 V0–V4 逐级证伪的问题。</a:t>
            </a:r>
          </a:p>
        </p:txBody>
      </p:sp>
    </p:spTree>
    <p:extLst>
      <p:ext uri="{BB962C8B-B14F-4D97-AF65-F5344CB8AC3E}">
        <p14:creationId xmlns:p14="http://schemas.microsoft.com/office/powerpoint/2010/main" val="10808252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F457E692-2BF3-4173-B369-9B11B822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1" y="115130"/>
            <a:ext cx="543560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下周科研计划【限1页】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223E71A-9A5E-45FC-A2E1-296125C4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" y="1188280"/>
            <a:ext cx="11485245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rgbClr val="0E34D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2DC5CD6-F891-4CAE-8139-E9CFF2277C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147810" y="6445885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D96F11F-AC8F-49E6-AEF6-94F307A7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" y="1538605"/>
            <a:ext cx="10276205" cy="4647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下周进入 V0/V1：先核验对象语义，再验证小样本链路</a:t>
            </a:r>
          </a:p>
          <a:p xmlns:a="http://schemas.openxmlformats.org/drawingml/2006/main">
            <a:r>
              <a:t>V0｜对象语义核验</a:t>
            </a:r>
          </a:p>
          <a:p xmlns:a="http://schemas.openxmlformats.org/drawingml/2006/main">
            <a:r>
              <a:t>• 核验 Arbitrum message、ticket、L2 创建/执行与 batch 的官方语义</a:t>
            </a:r>
          </a:p>
          <a:p xmlns:a="http://schemas.openxmlformats.org/drawingml/2006/main">
            <a:r>
              <a:t>• 确定唯一标识、事件关联与时间锚点</a:t>
            </a:r>
          </a:p>
          <a:p xmlns:a="http://schemas.openxmlformats.org/drawingml/2006/main">
            <a:r>
              <a:t>• 明确哪些阶段可由历史数据验证，哪些仍是系统假设</a:t>
            </a:r>
          </a:p>
          <a:p xmlns:a="http://schemas.openxmlformats.org/drawingml/2006/main">
            <a:r>
              <a:t>准入：对象映射不依赖“时间最近”；batch 与 message 不混用。</a:t>
            </a:r>
          </a:p>
          <a:p xmlns:a="http://schemas.openxmlformats.org/drawingml/2006/main">
            <a:r>
              <a:t>V1｜小样本链路验证</a:t>
            </a:r>
          </a:p>
          <a:p xmlns:a="http://schemas.openxmlformats.org/drawingml/2006/main">
            <a:r>
              <a:t>• 选择 20–30 条具有唯一关联规则的 eligible message</a:t>
            </a:r>
          </a:p>
          <a:p xmlns:a="http://schemas.openxmlformats.org/drawingml/2006/main">
            <a:r>
              <a:t>• 30–50 个 batch 仅辅助验证 L2→L1 publication</a:t>
            </a:r>
          </a:p>
          <a:p xmlns:a="http://schemas.openxmlformats.org/drawingml/2006/main">
            <a:r>
              <a:t>• 保存 raw/processed 数据、映射状态与失败原因</a:t>
            </a:r>
          </a:p>
          <a:p xmlns:a="http://schemas.openxmlformats.org/drawingml/2006/main">
            <a:r>
              <a:t>准入：原始记录可保存，映射规则可复现，失败对象可解释。</a:t>
            </a:r>
          </a:p>
          <a:p xmlns:a="http://schemas.openxmlformats.org/drawingml/2006/main">
            <a:r>
              <a:t>通过准入 → V2 描述性统计；未通过 → 修正语义、替换对象或收缩问题。</a:t>
            </a:r>
          </a:p>
          <a:p xmlns:a="http://schemas.openxmlformats.org/drawingml/2006/main">
            <a:r>
              <a:t>边界：下周仍不报告攻击频率、收益归因或协议性能。</a:t>
            </a:r>
          </a:p>
        </p:txBody>
      </p:sp>
    </p:spTree>
    <p:extLst>
      <p:ext uri="{BB962C8B-B14F-4D97-AF65-F5344CB8AC3E}">
        <p14:creationId xmlns:p14="http://schemas.microsoft.com/office/powerpoint/2010/main" val="4118027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baf76205549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91175" y="2941110"/>
            <a:ext cx="1009651" cy="2305049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4" name="标题 6">
            <a:extLst xmlns:a="http://schemas.openxmlformats.org/drawingml/2006/main">
              <a:ext uri="{FF2B5EF4-FFF2-40B4-BE49-F238E27FC236}">
                <a16:creationId xmlns:a16="http://schemas.microsoft.com/office/drawing/2014/main" id="{940205B0-5873-4F1E-A4EA-EC3C5D20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755" y="253154"/>
            <a:ext cx="10363200" cy="19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None/>
            </a:pPr>
            <a:r>
              <a:rPr sz="5335" b="1">
                <a:effectLst>
                  <a:outerShdw blurRad="38100" dist="38100" dir="2700000">
                    <a:srgbClr val="C0C0C0"/>
                  </a:outerShdw>
                </a:effectLst>
                <a:latin typeface="微软雅黑"/>
                <a:ea typeface="微软雅黑"/>
                <a:cs typeface="微软雅黑"/>
              </a:rPr>
              <a:t>谢谢，敬请批评指正！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704250593"/>
      </p:ext>
    </p:extLst>
  </p:cSld>
</p:sld>
</file>

<file path=ppt/theme/theme1.xml><?xml version="1.0" encoding="utf-8"?>
<a:theme xmlns:a="http://schemas.openxmlformats.org/drawingml/2006/main" name="主题1">
  <a:themeElements>
    <a:clrScheme name="自定义 1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6362"/>
      </a:accent1>
      <a:accent2>
        <a:srgbClr val="B64645"/>
      </a:accent2>
      <a:accent3>
        <a:srgbClr val="414A59"/>
      </a:accent3>
      <a:accent4>
        <a:srgbClr val="7FB541"/>
      </a:accent4>
      <a:accent5>
        <a:srgbClr val="4472C4"/>
      </a:accent5>
      <a:accent6>
        <a:srgbClr val="244956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自定义 10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2026-07-23T11:18:27.5270000Z</dcterms:created>
  <dcterms:modified xsi:type="dcterms:W3CDTF">2026-07-23T11:18:27.5270000Z</dcterms:modified>
</coreProperties>
</file>