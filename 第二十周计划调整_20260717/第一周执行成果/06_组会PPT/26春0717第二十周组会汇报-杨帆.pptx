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8946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9000" y="9000"/>
            <a:ext cx="12171600" cy="702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9000" y="6219000"/>
            <a:ext cx="12171600" cy="621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00" y="729000"/>
            <a:ext cx="162000" cy="5499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40000" y="108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第二十周组会汇报</a:t>
            </a:r>
            <a:endParaRPr sz="3400"/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40000" y="2880000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/>
              <a:t>汇报人：杨帆</a:t>
            </a:r>
            <a:endParaRPr sz="2400"/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540000" y="3311999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/>
              <a:t>日期：2026.07.</a:t>
            </a:r>
            <a:r>
              <a:rPr lang="en-US" sz="2400"/>
              <a:t>23</a:t>
            </a:r>
            <a:endParaRPr lang="en-US" sz="2400"/>
          </a:p>
          <a:p>
            <a:endParaRPr lang="en-US" sz="2400"/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跨层可见性与排序操纵面</a:t>
            </a:r>
            <a:endParaRPr sz="2000">
              <a:solidFill>
                <a:srgbClr val="FFFFFF"/>
              </a:solidFill>
            </a:endParaRPr>
          </a:p>
          <a:p>
            <a:r>
              <a:rPr sz="2000">
                <a:solidFill>
                  <a:srgbClr val="FFFFFF"/>
                </a:solidFill>
              </a:rPr>
              <a:t>问题定义、威胁模型与验证路线设计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2 页</a:t>
            </a:r>
            <a:endParaRPr sz="10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500"/>
              <a:t>本周工作严格对齐上周计划</a:t>
            </a:r>
            <a:endParaRPr sz="35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2400" b="1">
                <a:solidFill>
                  <a:srgbClr val="FFFFFF"/>
                </a:solidFill>
              </a:rPr>
              <a:t>本周定位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20000" y="1584000"/>
            <a:ext cx="10440000" cy="576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/>
              <a:t>理论与方案定义周：先压实问题、假设与证据门槛；</a:t>
            </a:r>
            <a:endParaRPr sz="2200"/>
          </a:p>
          <a:p>
            <a:r>
              <a:rPr sz="2200"/>
              <a:t>不以数据抓取、实验或协议编码充当本周成果。</a:t>
            </a:r>
            <a:endParaRPr sz="2200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0000" y="2321975"/>
            <a:ext cx="10440000" cy="30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2400" b="1">
                <a:solidFill>
                  <a:srgbClr val="FFFFFF"/>
                </a:solidFill>
              </a:rPr>
              <a:t>实际完成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20000" y="2628000"/>
            <a:ext cx="10440000" cy="14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1. 收缩题目：从“跨层 MEV 防御”到“可见性与排序操纵面”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2. 完成系统模型、RQ1–RQ3 与三角色威胁模型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3. 完成 V0–V4 验证路线、字段/失败设计与最小机制草案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sz="1900"/>
              <a:t>4. 关键纠偏：batch publication lag 不是 L1→L2 主窗口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3 页</a:t>
            </a:r>
            <a:endParaRPr sz="10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300"/>
              <a:t>研究对象必须先分清，窗口长度不是起点</a:t>
            </a:r>
            <a:endParaRPr sz="33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20000" y="1188000"/>
            <a:ext cx="10080000" cy="2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/>
              <a:t>主问题：谁在何阶段看见什么、能做什么；不是先问“窗口有多长”。</a:t>
            </a:r>
            <a:endParaRPr sz="2000"/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0000" y="1548000"/>
            <a:ext cx="4320000" cy="684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主对象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220000" y="1548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/>
              <a:t>L1 发起、在 L2 创建或执行的</a:t>
            </a:r>
            <a:endParaRPr sz="2000"/>
          </a:p>
          <a:p>
            <a:r>
              <a:rPr sz="2000"/>
              <a:t>message / transaction object</a:t>
            </a:r>
            <a:endParaRPr sz="2000"/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20000" y="2411999"/>
            <a:ext cx="4320000" cy="684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对照对象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5220000" y="2411999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L2 直接提交交易：</a:t>
            </a:r>
            <a:endParaRPr sz="1800"/>
          </a:p>
          <a:p>
            <a:r>
              <a:rPr sz="1800"/>
              <a:t>用于区分直接排序与跨层生命周期</a:t>
            </a:r>
            <a:endParaRPr sz="1800"/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20000" y="3276000"/>
            <a:ext cx="4320000" cy="684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辅助对象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5220000" y="3276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L2 batch 向 L1 发布：</a:t>
            </a:r>
            <a:endParaRPr sz="1800"/>
          </a:p>
          <a:p>
            <a:r>
              <a:rPr sz="1800"/>
              <a:t>仅解释 L2→L1 publication</a:t>
            </a:r>
            <a:endParaRPr sz="1800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20000" y="4140000"/>
            <a:ext cx="4320000" cy="684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</a:rPr>
              <a:t>结论边界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5220000" y="4140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窗口存在 ≠ 存在可利用 MEV；</a:t>
            </a:r>
            <a:endParaRPr sz="1800"/>
          </a:p>
          <a:p>
            <a:r>
              <a:rPr sz="1800"/>
              <a:t>私有队列与 first-seen 仍待 V0 核验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4 页</a:t>
            </a:r>
            <a:endParaRPr sz="10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角色不同，信息与排序能力不能混用</a:t>
            </a:r>
            <a:endParaRPr sz="34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48000" y="1152000"/>
            <a:ext cx="10440000" cy="2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900"/>
              <a:t>可利用性还缺：前置状态、有效反事实顺序与成本扣除后的净收益</a:t>
            </a:r>
            <a:endParaRPr sz="1900"/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6000" y="1548000"/>
            <a:ext cx="2700000" cy="2700000"/>
          </a:xfrm>
          <a:prstGeom prst="rect">
            <a:avLst/>
          </a:prstGeom>
          <a:solidFill>
            <a:srgbClr val="F4D9D9"/>
          </a:solidFill>
          <a:ln w="1524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76000" y="1548000"/>
            <a:ext cx="2700000" cy="39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1800" b="1">
                <a:solidFill>
                  <a:srgbClr val="FFFFFF"/>
                </a:solidFill>
              </a:rPr>
              <a:t>🟠  Sequencer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4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800"/>
              <a:t>可：纳入 / 延迟 / 相对排序</a:t>
            </a:r>
            <a:endParaRPr sz="1800"/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800"/>
              <a:t>待核验：排序前额外可见范围</a:t>
            </a:r>
            <a:endParaRPr sz="1800"/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800"/>
              <a:t>不默认：恶意、自营或共谋</a:t>
            </a:r>
            <a:endParaRPr sz="1800"/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456000" y="1548000"/>
            <a:ext cx="2700000" cy="2700000"/>
          </a:xfrm>
          <a:prstGeom prst="rect">
            <a:avLst/>
          </a:prstGeom>
          <a:solidFill>
            <a:srgbClr val="F8ECD7"/>
          </a:solidFill>
          <a:ln w="15240">
            <a:solidFill>
              <a:srgbClr val="A8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456000" y="1548000"/>
            <a:ext cx="2700000" cy="396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1800" b="1">
                <a:solidFill>
                  <a:srgbClr val="FFFFFF"/>
                </a:solidFill>
              </a:rPr>
              <a:t>🟡  外部 searcher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527999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可：基于公开信息提交自身交易</a:t>
            </a:r>
            <a:endParaRPr sz="1800"/>
          </a:p>
          <a:p>
            <a:r>
              <a:t>不可：看私有队列、重排他人</a:t>
            </a:r>
          </a:p>
          <a:p>
            <a:r>
              <a:rPr sz="1800"/>
              <a:t>仍需资金、时效与执行条件</a:t>
            </a:r>
            <a:endParaRPr sz="1800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336000" y="1548000"/>
            <a:ext cx="2700000" cy="2700000"/>
          </a:xfrm>
          <a:prstGeom prst="rect">
            <a:avLst/>
          </a:prstGeom>
          <a:solidFill>
            <a:srgbClr val="FBF3D0"/>
          </a:solidFill>
          <a:ln w="15240">
            <a:solidFill>
              <a:srgbClr val="C0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336000" y="1548000"/>
            <a:ext cx="2700000" cy="396000"/>
          </a:xfrm>
          <a:prstGeom prst="rect">
            <a:avLst/>
          </a:prstGeom>
          <a:solidFill>
            <a:srgbClr val="C0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1800" b="1">
                <a:solidFill>
                  <a:srgbClr val="FFFFFF"/>
                </a:solidFill>
              </a:rPr>
              <a:t>🔵  普通用户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0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可：提交自己的跨层对象</a:t>
            </a:r>
            <a:endParaRPr sz="1800"/>
          </a:p>
          <a:p>
            <a:r>
              <a:rPr sz="1800"/>
              <a:t>可能受排序影响</a:t>
            </a:r>
            <a:endParaRPr sz="1800"/>
          </a:p>
          <a:p>
            <a:r>
              <a:rPr sz="1800"/>
              <a:t>不具备 searcher / Sequencer 控制能力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5 页</a:t>
            </a:r>
            <a:endParaRPr sz="10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300"/>
              <a:t>贡献要以证据条件成立；机制只是待验证方向</a:t>
            </a:r>
            <a:endParaRPr sz="33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0000" y="1872000"/>
            <a:ext cx="3420000" cy="360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概念与模型贡献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2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900"/>
              <a:t>区分 message visibility</a:t>
            </a:r>
            <a:endParaRPr sz="1900"/>
          </a:p>
          <a:p>
            <a:r>
              <a:rPr sz="1900"/>
              <a:t>与 batch publication lag</a:t>
            </a:r>
            <a:endParaRPr sz="1900"/>
          </a:p>
          <a:p>
            <a:r>
              <a:rPr sz="1900"/>
              <a:t>并分开赋予三角色能力</a:t>
            </a:r>
            <a:endParaRPr sz="1900"/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500000" y="1872000"/>
            <a:ext cx="3420000" cy="360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方法贡献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50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V0 语义核对 → V1 链路验证</a:t>
            </a:r>
            <a:endParaRPr sz="1600"/>
          </a:p>
          <a:p>
            <a:r>
              <a:rPr sz="1600"/>
              <a:t>→ V2 描述事实 → V3 反事实收益</a:t>
            </a:r>
            <a:endParaRPr sz="1600"/>
          </a:p>
          <a:p>
            <a:r>
              <a:rPr sz="1600"/>
              <a:t>→ V4 机制评估</a:t>
            </a:r>
            <a:endParaRPr sz="1600"/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280000" y="1872000"/>
            <a:ext cx="3420000" cy="360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最小机制（待验证）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28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700"/>
              <a:t>commit = H(domain || payload || salt)</a:t>
            </a:r>
            <a:endParaRPr sz="1700"/>
          </a:p>
          <a:p>
            <a:r>
              <a:rPr sz="1700"/>
              <a:t>目标：隐藏排序前完整 payload</a:t>
            </a:r>
            <a:endParaRPr sz="1700"/>
          </a:p>
          <a:p>
            <a:r>
              <a:rPr sz="1700"/>
              <a:t>风险：元数据、超时、审查、强制纳入</a:t>
            </a:r>
            <a:endParaRPr sz="1700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20000" y="3960000"/>
            <a:ext cx="10620000" cy="720000"/>
          </a:xfrm>
          <a:prstGeom prst="rect">
            <a:avLst/>
          </a:prstGeom>
          <a:solidFill>
            <a:srgbClr val="F4D9D9"/>
          </a:solidFill>
          <a:ln w="1905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27999" y="3996000"/>
            <a:ext cx="10440000" cy="64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/>
              <a:t>Commit-Reveal 不宣称已安全、低 Gas、已部署或已降低 MEV；它只提供 RQ3 的最小可检验起点。</a:t>
            </a:r>
            <a:endParaRPr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第 6 页</a:t>
            </a:r>
            <a:endParaRPr sz="10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下周先 V0/V1；准入不过就收缩问题</a:t>
            </a:r>
            <a:endParaRPr sz="34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2400" b="1">
                <a:solidFill>
                  <a:srgbClr val="FFFFFF"/>
                </a:solidFill>
              </a:rPr>
              <a:t>V0：对象语义核对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20000" y="1536192"/>
            <a:ext cx="104400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t>1. 核对官方 message、创建/执行、batch 的对象语义</a:t>
            </a:r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2. 固定可验证时间锚点与角色信息边界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3. 若无法形成唯一/区间关系，缩小对象类型</a:t>
            </a:r>
            <a:endParaRPr sz="1800"/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0000" y="3931920"/>
            <a:ext cx="10440000" cy="306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sz="2400" b="1">
                <a:solidFill>
                  <a:srgbClr val="FFFFFF"/>
                </a:solidFill>
              </a:rPr>
              <a:t>V1：小样本链路验证准备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20000" y="4297680"/>
            <a:ext cx="104400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1. 优先唯一 ID 或官方事件关联；禁止时间最近配对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2. 设计字段、raw/processed、失败分类与 golden set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1800"/>
              <a:t>3. 20–30 条 message、30–50 个 batch 是下周建议，不是本周数据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WPS 表格</Application>
  <PresentationFormat>Converted Presentation</PresentationFormat>
  <Paragraphs>117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shanse</cp:lastModifiedBy>
  <cp:revision>1</cp:revision>
  <dcterms:created xsi:type="dcterms:W3CDTF">2026-07-23T09:23:40Z</dcterms:created>
  <dcterms:modified xsi:type="dcterms:W3CDTF">2026-07-23T09:23:40Z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49D45C57738EBE099CDD616A5B8F28DD_42</vt:lpwstr>
  </property>
  <property fmtid="{D5CDD505-2E9C-101B-9397-08002B2CF9AE}" pid="3" name="KSOProductBuildVer">
    <vt:lpwstr>2052-12.1.26026.26026</vt:lpwstr>
  </property>
</Properties>
</file>